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3" r:id="rId1"/>
  </p:sldMasterIdLst>
  <p:notesMasterIdLst>
    <p:notesMasterId r:id="rId29"/>
  </p:notesMasterIdLst>
  <p:handoutMasterIdLst>
    <p:handoutMasterId r:id="rId30"/>
  </p:handoutMasterIdLst>
  <p:sldIdLst>
    <p:sldId id="282" r:id="rId2"/>
    <p:sldId id="284" r:id="rId3"/>
    <p:sldId id="274" r:id="rId4"/>
    <p:sldId id="290" r:id="rId5"/>
    <p:sldId id="288" r:id="rId6"/>
    <p:sldId id="291" r:id="rId7"/>
    <p:sldId id="289" r:id="rId8"/>
    <p:sldId id="292" r:id="rId9"/>
    <p:sldId id="293" r:id="rId10"/>
    <p:sldId id="297" r:id="rId11"/>
    <p:sldId id="294" r:id="rId12"/>
    <p:sldId id="298" r:id="rId13"/>
    <p:sldId id="295" r:id="rId14"/>
    <p:sldId id="299" r:id="rId15"/>
    <p:sldId id="296" r:id="rId16"/>
    <p:sldId id="301" r:id="rId17"/>
    <p:sldId id="302" r:id="rId18"/>
    <p:sldId id="303" r:id="rId19"/>
    <p:sldId id="308" r:id="rId20"/>
    <p:sldId id="304" r:id="rId21"/>
    <p:sldId id="305" r:id="rId22"/>
    <p:sldId id="309" r:id="rId23"/>
    <p:sldId id="306" r:id="rId24"/>
    <p:sldId id="307" r:id="rId25"/>
    <p:sldId id="310" r:id="rId26"/>
    <p:sldId id="283" r:id="rId27"/>
    <p:sldId id="300" r:id="rId28"/>
  </p:sldIdLst>
  <p:sldSz cx="9144000" cy="6858000" type="screen4x3"/>
  <p:notesSz cx="9926638" cy="14355763"/>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5">
          <p15:clr>
            <a:srgbClr val="A4A3A4"/>
          </p15:clr>
        </p15:guide>
        <p15:guide id="2" orient="horz" pos="3793">
          <p15:clr>
            <a:srgbClr val="A4A3A4"/>
          </p15:clr>
        </p15:guide>
        <p15:guide id="3" orient="horz" pos="186">
          <p15:clr>
            <a:srgbClr val="A4A3A4"/>
          </p15:clr>
        </p15:guide>
        <p15:guide id="4" pos="5498">
          <p15:clr>
            <a:srgbClr val="A4A3A4"/>
          </p15:clr>
        </p15:guide>
        <p15:guide id="5" pos="264">
          <p15:clr>
            <a:srgbClr val="A4A3A4"/>
          </p15:clr>
        </p15:guide>
        <p15:guide id="6" pos="2826">
          <p15:clr>
            <a:srgbClr val="A4A3A4"/>
          </p15:clr>
        </p15:guide>
        <p15:guide id="7" pos="2935">
          <p15:clr>
            <a:srgbClr val="A4A3A4"/>
          </p15:clr>
        </p15:guide>
      </p15:sldGuideLst>
    </p:ext>
    <p:ext uri="{2D200454-40CA-4A62-9FC3-DE9A4176ACB9}">
      <p15:notesGuideLst xmlns:p15="http://schemas.microsoft.com/office/powerpoint/2012/main">
        <p15:guide id="1" orient="horz" pos="4521">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0B0F0"/>
    <a:srgbClr val="E2C90E"/>
    <a:srgbClr val="ED6703"/>
    <a:srgbClr val="E60A11"/>
    <a:srgbClr val="F8E9E3"/>
    <a:srgbClr val="AF000F"/>
    <a:srgbClr val="EE00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F60837-75E6-43E0-B006-D9458DB0A0CA}" v="2" dt="2025-05-03T07:38:27.311"/>
  </p1510:revLst>
</p1510:revInfo>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21" autoAdjust="0"/>
    <p:restoredTop sz="94673" autoAdjust="0"/>
  </p:normalViewPr>
  <p:slideViewPr>
    <p:cSldViewPr snapToGrid="0">
      <p:cViewPr varScale="1">
        <p:scale>
          <a:sx n="75" d="100"/>
          <a:sy n="75" d="100"/>
        </p:scale>
        <p:origin x="1862" y="58"/>
      </p:cViewPr>
      <p:guideLst>
        <p:guide orient="horz" pos="845"/>
        <p:guide orient="horz" pos="3793"/>
        <p:guide orient="horz" pos="186"/>
        <p:guide pos="5498"/>
        <p:guide pos="264"/>
        <p:guide pos="2826"/>
        <p:guide pos="2935"/>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38" d="100"/>
          <a:sy n="38" d="100"/>
        </p:scale>
        <p:origin x="-1752" y="-62"/>
      </p:cViewPr>
      <p:guideLst>
        <p:guide orient="horz" pos="4521"/>
        <p:guide pos="31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1543" cy="717788"/>
          </a:xfrm>
          <a:prstGeom prst="rect">
            <a:avLst/>
          </a:prstGeom>
        </p:spPr>
        <p:txBody>
          <a:bodyPr vert="horz" lIns="138751" tIns="69376" rIns="138751" bIns="69376" rtlCol="0"/>
          <a:lstStyle>
            <a:lvl1pPr algn="l">
              <a:defRPr sz="1800"/>
            </a:lvl1pPr>
          </a:lstStyle>
          <a:p>
            <a:endParaRPr lang="en-GB" dirty="0"/>
          </a:p>
        </p:txBody>
      </p:sp>
      <p:sp>
        <p:nvSpPr>
          <p:cNvPr id="4" name="Footer Placeholder 3"/>
          <p:cNvSpPr>
            <a:spLocks noGrp="1"/>
          </p:cNvSpPr>
          <p:nvPr>
            <p:ph type="ftr" sz="quarter" idx="2"/>
          </p:nvPr>
        </p:nvSpPr>
        <p:spPr>
          <a:xfrm>
            <a:off x="0" y="13635483"/>
            <a:ext cx="4301543" cy="717788"/>
          </a:xfrm>
          <a:prstGeom prst="rect">
            <a:avLst/>
          </a:prstGeom>
        </p:spPr>
        <p:txBody>
          <a:bodyPr vert="horz" lIns="138751" tIns="69376" rIns="138751" bIns="69376" rtlCol="0" anchor="b"/>
          <a:lstStyle>
            <a:lvl1pPr algn="l">
              <a:defRPr sz="1800"/>
            </a:lvl1pPr>
          </a:lstStyle>
          <a:p>
            <a:endParaRPr lang="en-GB" dirty="0"/>
          </a:p>
        </p:txBody>
      </p:sp>
      <p:sp>
        <p:nvSpPr>
          <p:cNvPr id="5" name="Slide Number Placeholder 4"/>
          <p:cNvSpPr>
            <a:spLocks noGrp="1"/>
          </p:cNvSpPr>
          <p:nvPr>
            <p:ph type="sldNum" sz="quarter" idx="3"/>
          </p:nvPr>
        </p:nvSpPr>
        <p:spPr>
          <a:xfrm>
            <a:off x="5622798" y="13635483"/>
            <a:ext cx="4301543" cy="717788"/>
          </a:xfrm>
          <a:prstGeom prst="rect">
            <a:avLst/>
          </a:prstGeom>
        </p:spPr>
        <p:txBody>
          <a:bodyPr vert="horz" lIns="138751" tIns="69376" rIns="138751" bIns="69376" rtlCol="0" anchor="b"/>
          <a:lstStyle>
            <a:lvl1pPr algn="r">
              <a:defRPr sz="1800"/>
            </a:lvl1pPr>
          </a:lstStyle>
          <a:p>
            <a:fld id="{D5083773-A06C-4709-B30E-A3920CD1815C}" type="slidenum">
              <a:rPr lang="en-GB" smtClean="0"/>
              <a:t>‹#›</a:t>
            </a:fld>
            <a:endParaRPr lang="en-GB" dirty="0"/>
          </a:p>
        </p:txBody>
      </p:sp>
    </p:spTree>
    <p:extLst>
      <p:ext uri="{BB962C8B-B14F-4D97-AF65-F5344CB8AC3E}">
        <p14:creationId xmlns:p14="http://schemas.microsoft.com/office/powerpoint/2010/main" val="35251824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1543" cy="717788"/>
          </a:xfrm>
          <a:prstGeom prst="rect">
            <a:avLst/>
          </a:prstGeom>
        </p:spPr>
        <p:txBody>
          <a:bodyPr vert="horz" lIns="138751" tIns="69376" rIns="138751" bIns="69376" rtlCol="0"/>
          <a:lstStyle>
            <a:lvl1pPr algn="l">
              <a:defRPr sz="1800"/>
            </a:lvl1pPr>
          </a:lstStyle>
          <a:p>
            <a:endParaRPr lang="en-GB" dirty="0"/>
          </a:p>
        </p:txBody>
      </p:sp>
      <p:sp>
        <p:nvSpPr>
          <p:cNvPr id="4" name="Slide Image Placeholder 3"/>
          <p:cNvSpPr>
            <a:spLocks noGrp="1" noRot="1" noChangeAspect="1"/>
          </p:cNvSpPr>
          <p:nvPr>
            <p:ph type="sldImg" idx="2"/>
          </p:nvPr>
        </p:nvSpPr>
        <p:spPr>
          <a:xfrm>
            <a:off x="1374775" y="1076325"/>
            <a:ext cx="7177088" cy="5383213"/>
          </a:xfrm>
          <a:prstGeom prst="rect">
            <a:avLst/>
          </a:prstGeom>
          <a:noFill/>
          <a:ln w="12700">
            <a:solidFill>
              <a:prstClr val="black"/>
            </a:solidFill>
          </a:ln>
        </p:spPr>
        <p:txBody>
          <a:bodyPr vert="horz" lIns="138751" tIns="69376" rIns="138751" bIns="69376" rtlCol="0" anchor="ctr"/>
          <a:lstStyle/>
          <a:p>
            <a:endParaRPr lang="en-US" dirty="0"/>
          </a:p>
        </p:txBody>
      </p:sp>
      <p:sp>
        <p:nvSpPr>
          <p:cNvPr id="5" name="Notes Placeholder 4"/>
          <p:cNvSpPr>
            <a:spLocks noGrp="1"/>
          </p:cNvSpPr>
          <p:nvPr>
            <p:ph type="body" sz="quarter" idx="3"/>
          </p:nvPr>
        </p:nvSpPr>
        <p:spPr>
          <a:xfrm>
            <a:off x="992664" y="6818988"/>
            <a:ext cx="7941310" cy="6460093"/>
          </a:xfrm>
          <a:prstGeom prst="rect">
            <a:avLst/>
          </a:prstGeom>
        </p:spPr>
        <p:txBody>
          <a:bodyPr vert="horz" lIns="138751" tIns="69376" rIns="138751" bIns="69376"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13635483"/>
            <a:ext cx="4301543" cy="717788"/>
          </a:xfrm>
          <a:prstGeom prst="rect">
            <a:avLst/>
          </a:prstGeom>
        </p:spPr>
        <p:txBody>
          <a:bodyPr vert="horz" lIns="138751" tIns="69376" rIns="138751" bIns="69376" rtlCol="0" anchor="b"/>
          <a:lstStyle>
            <a:lvl1pPr algn="l">
              <a:defRPr sz="1800"/>
            </a:lvl1pPr>
          </a:lstStyle>
          <a:p>
            <a:endParaRPr lang="en-GB" dirty="0"/>
          </a:p>
        </p:txBody>
      </p:sp>
      <p:sp>
        <p:nvSpPr>
          <p:cNvPr id="7" name="Slide Number Placeholder 6"/>
          <p:cNvSpPr>
            <a:spLocks noGrp="1"/>
          </p:cNvSpPr>
          <p:nvPr>
            <p:ph type="sldNum" sz="quarter" idx="5"/>
          </p:nvPr>
        </p:nvSpPr>
        <p:spPr>
          <a:xfrm>
            <a:off x="5622798" y="13635483"/>
            <a:ext cx="4301543" cy="717788"/>
          </a:xfrm>
          <a:prstGeom prst="rect">
            <a:avLst/>
          </a:prstGeom>
        </p:spPr>
        <p:txBody>
          <a:bodyPr vert="horz" lIns="138751" tIns="69376" rIns="138751" bIns="69376" rtlCol="0" anchor="b"/>
          <a:lstStyle>
            <a:lvl1pPr algn="r">
              <a:defRPr sz="1800"/>
            </a:lvl1pPr>
          </a:lstStyle>
          <a:p>
            <a:fld id="{95EEA1EF-E049-411F-95E8-50B58FEF4D87}" type="slidenum">
              <a:rPr lang="en-GB" smtClean="0"/>
              <a:t>‹#›</a:t>
            </a:fld>
            <a:endParaRPr lang="en-GB" dirty="0"/>
          </a:p>
        </p:txBody>
      </p:sp>
    </p:spTree>
    <p:extLst>
      <p:ext uri="{BB962C8B-B14F-4D97-AF65-F5344CB8AC3E}">
        <p14:creationId xmlns:p14="http://schemas.microsoft.com/office/powerpoint/2010/main" val="311953285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I">
    <p:spTree>
      <p:nvGrpSpPr>
        <p:cNvPr id="1" name=""/>
        <p:cNvGrpSpPr/>
        <p:nvPr/>
      </p:nvGrpSpPr>
      <p:grpSpPr>
        <a:xfrm>
          <a:off x="0" y="0"/>
          <a:ext cx="0" cy="0"/>
          <a:chOff x="0" y="0"/>
          <a:chExt cx="0" cy="0"/>
        </a:xfrm>
      </p:grpSpPr>
      <p:sp>
        <p:nvSpPr>
          <p:cNvPr id="11" name="Rektangel 10"/>
          <p:cNvSpPr/>
          <p:nvPr userDrawn="1"/>
        </p:nvSpPr>
        <p:spPr>
          <a:xfrm>
            <a:off x="0" y="0"/>
            <a:ext cx="9144000"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Pladsholder til billede 14"/>
          <p:cNvSpPr>
            <a:spLocks noGrp="1"/>
          </p:cNvSpPr>
          <p:nvPr>
            <p:ph type="pic" sz="quarter" idx="13"/>
          </p:nvPr>
        </p:nvSpPr>
        <p:spPr>
          <a:xfrm>
            <a:off x="0" y="0"/>
            <a:ext cx="9144000" cy="6858000"/>
          </a:xfrm>
        </p:spPr>
        <p:txBody>
          <a:bodyPr tIns="4320000"/>
          <a:lstStyle>
            <a:lvl1pPr marL="0" indent="0" algn="ctr">
              <a:buNone/>
              <a:defRPr sz="1400"/>
            </a:lvl1pPr>
          </a:lstStyle>
          <a:p>
            <a:r>
              <a:rPr lang="en-US"/>
              <a:t>Click icon to add picture</a:t>
            </a:r>
            <a:endParaRPr lang="en-US" dirty="0"/>
          </a:p>
        </p:txBody>
      </p:sp>
      <p:sp>
        <p:nvSpPr>
          <p:cNvPr id="5" name="Backdrop single"/>
          <p:cNvSpPr>
            <a:spLocks noGrp="1"/>
          </p:cNvSpPr>
          <p:nvPr>
            <p:ph type="body" sz="quarter" idx="10" hasCustomPrompt="1"/>
          </p:nvPr>
        </p:nvSpPr>
        <p:spPr>
          <a:xfrm>
            <a:off x="0" y="0"/>
            <a:ext cx="9144000" cy="1159200"/>
          </a:xfrm>
          <a:blipFill>
            <a:blip r:embed="rId2"/>
            <a:stretch>
              <a:fillRect/>
            </a:stretch>
          </a:blipFill>
        </p:spPr>
        <p:txBody>
          <a:bodyPr/>
          <a:lstStyle>
            <a:lvl1pPr marL="0" indent="0">
              <a:buFontTx/>
              <a:buNone/>
              <a:defRPr sz="100"/>
            </a:lvl1pPr>
          </a:lstStyle>
          <a:p>
            <a:pPr lvl="0"/>
            <a:r>
              <a:rPr lang="en-GB" dirty="0"/>
              <a:t>.</a:t>
            </a:r>
          </a:p>
        </p:txBody>
      </p:sp>
      <p:sp>
        <p:nvSpPr>
          <p:cNvPr id="7" name="Logo top"/>
          <p:cNvSpPr>
            <a:spLocks noGrp="1"/>
          </p:cNvSpPr>
          <p:nvPr>
            <p:ph type="body" sz="quarter" idx="11" hasCustomPrompt="1"/>
          </p:nvPr>
        </p:nvSpPr>
        <p:spPr>
          <a:xfrm>
            <a:off x="6465600" y="381600"/>
            <a:ext cx="2289600" cy="586800"/>
          </a:xfrm>
          <a:blipFill>
            <a:blip r:embed="rId3"/>
            <a:stretch>
              <a:fillRect/>
            </a:stretch>
          </a:blipFill>
        </p:spPr>
        <p:txBody>
          <a:bodyPr/>
          <a:lstStyle>
            <a:lvl1pPr marL="0" indent="0">
              <a:buNone/>
              <a:defRPr sz="100"/>
            </a:lvl1pPr>
          </a:lstStyle>
          <a:p>
            <a:pPr lvl="0"/>
            <a:r>
              <a:rPr lang="en-GB" dirty="0"/>
              <a:t>.</a:t>
            </a:r>
          </a:p>
        </p:txBody>
      </p:sp>
      <p:sp>
        <p:nvSpPr>
          <p:cNvPr id="10" name="Title 7"/>
          <p:cNvSpPr>
            <a:spLocks noGrp="1"/>
          </p:cNvSpPr>
          <p:nvPr>
            <p:ph type="ctrTitle" hasCustomPrompt="1"/>
          </p:nvPr>
        </p:nvSpPr>
        <p:spPr>
          <a:xfrm>
            <a:off x="420687" y="1341438"/>
            <a:ext cx="8307388" cy="1157378"/>
          </a:xfrm>
        </p:spPr>
        <p:txBody>
          <a:bodyPr anchor="b" anchorCtr="0"/>
          <a:lstStyle/>
          <a:p>
            <a:r>
              <a:rPr lang="en-US" noProof="0" dirty="0"/>
              <a:t>Click to insert Presentation title in</a:t>
            </a:r>
            <a:br>
              <a:rPr lang="en-US" noProof="0" dirty="0"/>
            </a:br>
            <a:r>
              <a:rPr lang="en-US" b="1" noProof="0" dirty="0"/>
              <a:t>Verdana Bold </a:t>
            </a:r>
            <a:r>
              <a:rPr lang="en-US" noProof="0" dirty="0"/>
              <a:t>and Verdana Regular</a:t>
            </a:r>
          </a:p>
        </p:txBody>
      </p:sp>
      <p:sp>
        <p:nvSpPr>
          <p:cNvPr id="12" name="Subtitle 8"/>
          <p:cNvSpPr>
            <a:spLocks noGrp="1"/>
          </p:cNvSpPr>
          <p:nvPr>
            <p:ph type="subTitle" idx="1" hasCustomPrompt="1"/>
          </p:nvPr>
        </p:nvSpPr>
        <p:spPr>
          <a:xfrm>
            <a:off x="419099" y="2682581"/>
            <a:ext cx="8308975" cy="389093"/>
          </a:xfrm>
        </p:spPr>
        <p:txBody>
          <a:bodyPr/>
          <a:lstStyle>
            <a:lvl1pPr marL="0" marR="0" indent="0" algn="l" defTabSz="914400" rtl="0" eaLnBrk="1" fontAlgn="auto" latinLnBrk="0" hangingPunct="1">
              <a:lnSpc>
                <a:spcPct val="100000"/>
              </a:lnSpc>
              <a:spcBef>
                <a:spcPts val="0"/>
              </a:spcBef>
              <a:spcAft>
                <a:spcPts val="600"/>
              </a:spcAft>
              <a:buClr>
                <a:schemeClr val="tx1">
                  <a:lumMod val="50000"/>
                  <a:lumOff val="50000"/>
                </a:schemeClr>
              </a:buClr>
              <a:buSzTx/>
              <a:buFont typeface="Verdana" panose="020B0604030504040204" pitchFamily="34" charset="0"/>
              <a:buNone/>
              <a:tabLst/>
              <a:defRPr sz="1400"/>
            </a:lvl1pPr>
          </a:lstStyle>
          <a:p>
            <a:r>
              <a:rPr lang="en-GB" dirty="0"/>
              <a:t>Click to </a:t>
            </a:r>
            <a:r>
              <a:rPr lang="en-US" noProof="0" dirty="0"/>
              <a:t>insert</a:t>
            </a:r>
            <a:r>
              <a:rPr lang="en-GB" dirty="0"/>
              <a:t> name </a:t>
            </a:r>
            <a:r>
              <a:rPr lang="en-US" noProof="0" dirty="0"/>
              <a:t>and</a:t>
            </a:r>
            <a:r>
              <a:rPr lang="en-GB" dirty="0"/>
              <a:t> title of presenter</a:t>
            </a:r>
          </a:p>
          <a:p>
            <a:endParaRPr lang="en-GB" dirty="0"/>
          </a:p>
        </p:txBody>
      </p:sp>
    </p:spTree>
    <p:extLst>
      <p:ext uri="{BB962C8B-B14F-4D97-AF65-F5344CB8AC3E}">
        <p14:creationId xmlns:p14="http://schemas.microsoft.com/office/powerpoint/2010/main" val="2106615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hite">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a:xfrm>
            <a:off x="419100" y="1341438"/>
            <a:ext cx="8308975" cy="46609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307580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I">
    <p:spTree>
      <p:nvGrpSpPr>
        <p:cNvPr id="1" name=""/>
        <p:cNvGrpSpPr/>
        <p:nvPr/>
      </p:nvGrpSpPr>
      <p:grpSpPr>
        <a:xfrm>
          <a:off x="0" y="0"/>
          <a:ext cx="0" cy="0"/>
          <a:chOff x="0" y="0"/>
          <a:chExt cx="0" cy="0"/>
        </a:xfrm>
      </p:grpSpPr>
      <p:sp>
        <p:nvSpPr>
          <p:cNvPr id="11" name="Rektangel 10"/>
          <p:cNvSpPr/>
          <p:nvPr userDrawn="1"/>
        </p:nvSpPr>
        <p:spPr>
          <a:xfrm>
            <a:off x="0" y="0"/>
            <a:ext cx="9144000"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Pladsholder til billede 14"/>
          <p:cNvSpPr>
            <a:spLocks noGrp="1"/>
          </p:cNvSpPr>
          <p:nvPr>
            <p:ph type="pic" sz="quarter" idx="13" hasCustomPrompt="1"/>
          </p:nvPr>
        </p:nvSpPr>
        <p:spPr>
          <a:xfrm>
            <a:off x="0" y="0"/>
            <a:ext cx="9144000" cy="6858000"/>
          </a:xfrm>
        </p:spPr>
        <p:txBody>
          <a:bodyPr tIns="720000" anchor="ctr" anchorCtr="0"/>
          <a:lstStyle>
            <a:lvl1pPr marL="0" indent="0" algn="ctr">
              <a:buNone/>
              <a:defRPr sz="1400"/>
            </a:lvl1pPr>
          </a:lstStyle>
          <a:p>
            <a:r>
              <a:rPr lang="da-DK" dirty="0" err="1"/>
              <a:t>Click</a:t>
            </a:r>
            <a:r>
              <a:rPr lang="da-DK" dirty="0"/>
              <a:t> </a:t>
            </a:r>
            <a:r>
              <a:rPr lang="da-DK" dirty="0" err="1"/>
              <a:t>icon</a:t>
            </a:r>
            <a:r>
              <a:rPr lang="da-DK" dirty="0"/>
              <a:t> to </a:t>
            </a:r>
            <a:br>
              <a:rPr lang="da-DK" dirty="0"/>
            </a:br>
            <a:r>
              <a:rPr lang="da-DK" dirty="0" err="1"/>
              <a:t>add</a:t>
            </a:r>
            <a:r>
              <a:rPr lang="da-DK" dirty="0"/>
              <a:t> </a:t>
            </a:r>
            <a:r>
              <a:rPr lang="da-DK" dirty="0" err="1"/>
              <a:t>picture</a:t>
            </a:r>
            <a:endParaRPr lang="en-US" dirty="0"/>
          </a:p>
        </p:txBody>
      </p:sp>
      <p:sp>
        <p:nvSpPr>
          <p:cNvPr id="5" name="Backdrop single"/>
          <p:cNvSpPr>
            <a:spLocks noGrp="1"/>
          </p:cNvSpPr>
          <p:nvPr>
            <p:ph type="body" sz="quarter" idx="10" hasCustomPrompt="1"/>
          </p:nvPr>
        </p:nvSpPr>
        <p:spPr>
          <a:xfrm>
            <a:off x="0" y="7200"/>
            <a:ext cx="9144000" cy="3092400"/>
          </a:xfrm>
          <a:blipFill>
            <a:blip r:embed="rId2"/>
            <a:stretch>
              <a:fillRect/>
            </a:stretch>
          </a:blipFill>
        </p:spPr>
        <p:txBody>
          <a:bodyPr/>
          <a:lstStyle>
            <a:lvl1pPr marL="0" indent="0">
              <a:buFontTx/>
              <a:buNone/>
              <a:defRPr sz="100"/>
            </a:lvl1pPr>
          </a:lstStyle>
          <a:p>
            <a:pPr lvl="0"/>
            <a:r>
              <a:rPr lang="en-GB" dirty="0"/>
              <a:t>.</a:t>
            </a:r>
          </a:p>
        </p:txBody>
      </p:sp>
      <p:sp>
        <p:nvSpPr>
          <p:cNvPr id="2" name="Title 1"/>
          <p:cNvSpPr>
            <a:spLocks noGrp="1"/>
          </p:cNvSpPr>
          <p:nvPr>
            <p:ph type="ctrTitle" hasCustomPrompt="1"/>
          </p:nvPr>
        </p:nvSpPr>
        <p:spPr>
          <a:xfrm>
            <a:off x="420687" y="1341438"/>
            <a:ext cx="8307388" cy="1157378"/>
          </a:xfrm>
        </p:spPr>
        <p:txBody>
          <a:bodyPr anchor="b" anchorCtr="0"/>
          <a:lstStyle>
            <a:lvl1pPr>
              <a:defRPr>
                <a:solidFill>
                  <a:schemeClr val="bg1"/>
                </a:solidFill>
              </a:defRPr>
            </a:lvl1pPr>
          </a:lstStyle>
          <a:p>
            <a:r>
              <a:rPr lang="en-GB" dirty="0"/>
              <a:t>Click to insert Presentation title in</a:t>
            </a:r>
            <a:br>
              <a:rPr lang="en-GB" dirty="0"/>
            </a:br>
            <a:r>
              <a:rPr lang="en-GB" b="1" dirty="0"/>
              <a:t>Verdana </a:t>
            </a:r>
            <a:r>
              <a:rPr lang="en-US" b="1" noProof="0" dirty="0"/>
              <a:t>Bold</a:t>
            </a:r>
            <a:r>
              <a:rPr lang="en-GB" b="1" dirty="0"/>
              <a:t> </a:t>
            </a:r>
            <a:r>
              <a:rPr lang="en-GB" dirty="0"/>
              <a:t>and Verdana Regular</a:t>
            </a:r>
          </a:p>
        </p:txBody>
      </p:sp>
      <p:sp>
        <p:nvSpPr>
          <p:cNvPr id="3" name="Subtitle 2"/>
          <p:cNvSpPr>
            <a:spLocks noGrp="1"/>
          </p:cNvSpPr>
          <p:nvPr>
            <p:ph type="subTitle" idx="1" hasCustomPrompt="1"/>
          </p:nvPr>
        </p:nvSpPr>
        <p:spPr>
          <a:xfrm>
            <a:off x="419099" y="2682581"/>
            <a:ext cx="8308975" cy="389093"/>
          </a:xfrm>
        </p:spPr>
        <p:txBody>
          <a:bodyPr/>
          <a:lstStyle>
            <a:lvl1pPr marL="0" indent="0" algn="l">
              <a:buNone/>
              <a:defRPr sz="1400"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a:t>
            </a:r>
            <a:r>
              <a:rPr lang="en-GB" dirty="0"/>
              <a:t> to insert name and title of presenter</a:t>
            </a:r>
          </a:p>
        </p:txBody>
      </p:sp>
      <p:sp>
        <p:nvSpPr>
          <p:cNvPr id="13" name="Logo top"/>
          <p:cNvSpPr>
            <a:spLocks noGrp="1"/>
          </p:cNvSpPr>
          <p:nvPr>
            <p:ph type="body" sz="quarter" idx="11" hasCustomPrompt="1"/>
          </p:nvPr>
        </p:nvSpPr>
        <p:spPr>
          <a:xfrm>
            <a:off x="6465600" y="381600"/>
            <a:ext cx="2289600" cy="586800"/>
          </a:xfrm>
          <a:blipFill>
            <a:blip r:embed="rId3"/>
            <a:stretch>
              <a:fillRect/>
            </a:stretch>
          </a:blipFill>
        </p:spPr>
        <p:txBody>
          <a:bodyPr/>
          <a:lstStyle>
            <a:lvl1pPr marL="0" indent="0">
              <a:buNone/>
              <a:defRPr sz="100"/>
            </a:lvl1pPr>
          </a:lstStyle>
          <a:p>
            <a:pPr lvl="0"/>
            <a:r>
              <a:rPr lang="en-GB" dirty="0"/>
              <a:t>.</a:t>
            </a:r>
          </a:p>
        </p:txBody>
      </p:sp>
    </p:spTree>
    <p:extLst>
      <p:ext uri="{BB962C8B-B14F-4D97-AF65-F5344CB8AC3E}">
        <p14:creationId xmlns:p14="http://schemas.microsoft.com/office/powerpoint/2010/main" val="1085671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r>
              <a:rPr lang="en-US"/>
              <a:t>Click to edit Master title style</a:t>
            </a:r>
            <a:endParaRPr lang="en-GB" dirty="0"/>
          </a:p>
        </p:txBody>
      </p:sp>
      <p:sp>
        <p:nvSpPr>
          <p:cNvPr id="7" name="Content Placeholder 2"/>
          <p:cNvSpPr>
            <a:spLocks noGrp="1"/>
          </p:cNvSpPr>
          <p:nvPr>
            <p:ph sz="quarter" idx="14"/>
          </p:nvPr>
        </p:nvSpPr>
        <p:spPr>
          <a:xfrm>
            <a:off x="419100" y="1341438"/>
            <a:ext cx="4067175" cy="4679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3"/>
          <p:cNvSpPr>
            <a:spLocks noGrp="1"/>
          </p:cNvSpPr>
          <p:nvPr>
            <p:ph sz="quarter" idx="15"/>
          </p:nvPr>
        </p:nvSpPr>
        <p:spPr>
          <a:xfrm>
            <a:off x="4659313" y="1341438"/>
            <a:ext cx="4068761" cy="4679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466720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medium picture, white">
    <p:spTree>
      <p:nvGrpSpPr>
        <p:cNvPr id="1" name=""/>
        <p:cNvGrpSpPr/>
        <p:nvPr/>
      </p:nvGrpSpPr>
      <p:grpSpPr>
        <a:xfrm>
          <a:off x="0" y="0"/>
          <a:ext cx="0" cy="0"/>
          <a:chOff x="0" y="0"/>
          <a:chExt cx="0" cy="0"/>
        </a:xfrm>
      </p:grpSpPr>
      <p:sp>
        <p:nvSpPr>
          <p:cNvPr id="4" name="Title 1"/>
          <p:cNvSpPr>
            <a:spLocks noGrp="1"/>
          </p:cNvSpPr>
          <p:nvPr>
            <p:ph type="title"/>
          </p:nvPr>
        </p:nvSpPr>
        <p:spPr>
          <a:xfrm>
            <a:off x="419100" y="295275"/>
            <a:ext cx="4067176" cy="936000"/>
          </a:xfrm>
        </p:spPr>
        <p:txBody>
          <a:bodyPr/>
          <a:lstStyle/>
          <a:p>
            <a:r>
              <a:rPr lang="en-US"/>
              <a:t>Click to edit Master title style</a:t>
            </a:r>
            <a:endParaRPr lang="en-GB" dirty="0"/>
          </a:p>
        </p:txBody>
      </p:sp>
      <p:sp>
        <p:nvSpPr>
          <p:cNvPr id="8" name="Text Placeholder 2"/>
          <p:cNvSpPr>
            <a:spLocks noGrp="1"/>
          </p:cNvSpPr>
          <p:nvPr>
            <p:ph type="body" sz="quarter" idx="13"/>
          </p:nvPr>
        </p:nvSpPr>
        <p:spPr>
          <a:xfrm>
            <a:off x="419100" y="1341438"/>
            <a:ext cx="4067175" cy="467994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3"/>
          <p:cNvSpPr>
            <a:spLocks noGrp="1"/>
          </p:cNvSpPr>
          <p:nvPr>
            <p:ph type="pic" sz="quarter" idx="12" hasCustomPrompt="1"/>
          </p:nvPr>
        </p:nvSpPr>
        <p:spPr>
          <a:xfrm>
            <a:off x="4659313" y="0"/>
            <a:ext cx="4484686" cy="6392863"/>
          </a:xfrm>
        </p:spPr>
        <p:txBody>
          <a:bodyPr tIns="900000" anchor="ctr" anchorCtr="0"/>
          <a:lstStyle>
            <a:lvl1pPr marL="0" indent="0" algn="ctr">
              <a:buNone/>
              <a:defRPr sz="1400"/>
            </a:lvl1pPr>
          </a:lstStyle>
          <a:p>
            <a:r>
              <a:rPr lang="da-DK" dirty="0" err="1"/>
              <a:t>Click</a:t>
            </a:r>
            <a:r>
              <a:rPr lang="da-DK" dirty="0"/>
              <a:t> </a:t>
            </a:r>
            <a:r>
              <a:rPr lang="da-DK" dirty="0" err="1"/>
              <a:t>icon</a:t>
            </a:r>
            <a:r>
              <a:rPr lang="da-DK" dirty="0"/>
              <a:t> to </a:t>
            </a:r>
            <a:br>
              <a:rPr lang="da-DK" dirty="0"/>
            </a:br>
            <a:r>
              <a:rPr lang="da-DK" dirty="0" err="1"/>
              <a:t>add</a:t>
            </a:r>
            <a:r>
              <a:rPr lang="da-DK" dirty="0"/>
              <a:t> </a:t>
            </a:r>
            <a:r>
              <a:rPr lang="da-DK" dirty="0" err="1"/>
              <a:t>picture</a:t>
            </a:r>
            <a:endParaRPr lang="en-US" dirty="0"/>
          </a:p>
        </p:txBody>
      </p:sp>
    </p:spTree>
    <p:extLst>
      <p:ext uri="{BB962C8B-B14F-4D97-AF65-F5344CB8AC3E}">
        <p14:creationId xmlns:p14="http://schemas.microsoft.com/office/powerpoint/2010/main" val="3437596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edium picture and text, white">
    <p:spTree>
      <p:nvGrpSpPr>
        <p:cNvPr id="1" name=""/>
        <p:cNvGrpSpPr/>
        <p:nvPr/>
      </p:nvGrpSpPr>
      <p:grpSpPr>
        <a:xfrm>
          <a:off x="0" y="0"/>
          <a:ext cx="0" cy="0"/>
          <a:chOff x="0" y="0"/>
          <a:chExt cx="0" cy="0"/>
        </a:xfrm>
      </p:grpSpPr>
      <p:sp>
        <p:nvSpPr>
          <p:cNvPr id="3" name="Title 1"/>
          <p:cNvSpPr>
            <a:spLocks noGrp="1"/>
          </p:cNvSpPr>
          <p:nvPr>
            <p:ph type="title"/>
          </p:nvPr>
        </p:nvSpPr>
        <p:spPr>
          <a:xfrm>
            <a:off x="4659313" y="295275"/>
            <a:ext cx="4068761" cy="936000"/>
          </a:xfrm>
        </p:spPr>
        <p:txBody>
          <a:bodyPr/>
          <a:lstStyle/>
          <a:p>
            <a:r>
              <a:rPr lang="en-US"/>
              <a:t>Click to edit Master title style</a:t>
            </a:r>
            <a:endParaRPr lang="en-GB" dirty="0"/>
          </a:p>
        </p:txBody>
      </p:sp>
      <p:sp>
        <p:nvSpPr>
          <p:cNvPr id="10" name="Text Placeholder 2"/>
          <p:cNvSpPr>
            <a:spLocks noGrp="1"/>
          </p:cNvSpPr>
          <p:nvPr>
            <p:ph type="body" sz="quarter" idx="14"/>
          </p:nvPr>
        </p:nvSpPr>
        <p:spPr>
          <a:xfrm>
            <a:off x="4653870" y="1341438"/>
            <a:ext cx="4067855" cy="4679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Picture Placeholder 3"/>
          <p:cNvSpPr>
            <a:spLocks noGrp="1"/>
          </p:cNvSpPr>
          <p:nvPr>
            <p:ph type="pic" sz="quarter" idx="12" hasCustomPrompt="1"/>
          </p:nvPr>
        </p:nvSpPr>
        <p:spPr>
          <a:xfrm>
            <a:off x="0" y="0"/>
            <a:ext cx="4486275" cy="6392863"/>
          </a:xfrm>
        </p:spPr>
        <p:txBody>
          <a:bodyPr tIns="900000" anchor="ctr" anchorCtr="0"/>
          <a:lstStyle>
            <a:lvl1pPr marL="0" indent="0" algn="ctr">
              <a:buNone/>
              <a:defRPr sz="1400"/>
            </a:lvl1pPr>
          </a:lstStyle>
          <a:p>
            <a:r>
              <a:rPr lang="en-US" dirty="0"/>
              <a:t>Click icon to </a:t>
            </a:r>
            <a:br>
              <a:rPr lang="en-US" dirty="0"/>
            </a:br>
            <a:r>
              <a:rPr lang="en-US" dirty="0"/>
              <a:t>add picture</a:t>
            </a:r>
          </a:p>
        </p:txBody>
      </p:sp>
    </p:spTree>
    <p:extLst>
      <p:ext uri="{BB962C8B-B14F-4D97-AF65-F5344CB8AC3E}">
        <p14:creationId xmlns:p14="http://schemas.microsoft.com/office/powerpoint/2010/main" val="618286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small picture, white">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r>
              <a:rPr lang="en-US"/>
              <a:t>Click to edit Master title style</a:t>
            </a:r>
            <a:endParaRPr lang="en-GB" dirty="0"/>
          </a:p>
        </p:txBody>
      </p:sp>
      <p:sp>
        <p:nvSpPr>
          <p:cNvPr id="8" name="Text Placeholder 2"/>
          <p:cNvSpPr>
            <a:spLocks noGrp="1"/>
          </p:cNvSpPr>
          <p:nvPr>
            <p:ph type="body" sz="quarter" idx="13"/>
          </p:nvPr>
        </p:nvSpPr>
        <p:spPr>
          <a:xfrm>
            <a:off x="419100" y="1341438"/>
            <a:ext cx="5160962" cy="4679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Picture Placeholder 3"/>
          <p:cNvSpPr>
            <a:spLocks noGrp="1"/>
          </p:cNvSpPr>
          <p:nvPr>
            <p:ph type="pic" sz="quarter" idx="12" hasCustomPrompt="1"/>
          </p:nvPr>
        </p:nvSpPr>
        <p:spPr>
          <a:xfrm>
            <a:off x="5747275" y="1341439"/>
            <a:ext cx="2980800" cy="4679950"/>
          </a:xfrm>
        </p:spPr>
        <p:txBody>
          <a:bodyPr tIns="900000" anchor="ctr" anchorCtr="0"/>
          <a:lstStyle>
            <a:lvl1pPr marL="0" indent="0" algn="ctr">
              <a:buNone/>
              <a:defRPr sz="1400"/>
            </a:lvl1pPr>
          </a:lstStyle>
          <a:p>
            <a:r>
              <a:rPr lang="en-US" dirty="0"/>
              <a:t>Click icon to </a:t>
            </a:r>
            <a:br>
              <a:rPr lang="en-US" dirty="0"/>
            </a:br>
            <a:r>
              <a:rPr lang="en-US" dirty="0"/>
              <a:t>add picture</a:t>
            </a:r>
          </a:p>
        </p:txBody>
      </p:sp>
    </p:spTree>
    <p:extLst>
      <p:ext uri="{BB962C8B-B14F-4D97-AF65-F5344CB8AC3E}">
        <p14:creationId xmlns:p14="http://schemas.microsoft.com/office/powerpoint/2010/main" val="3899454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mall picture and tex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8" name="Text Placeholder 2"/>
          <p:cNvSpPr>
            <a:spLocks noGrp="1"/>
          </p:cNvSpPr>
          <p:nvPr>
            <p:ph type="body" sz="quarter" idx="13"/>
          </p:nvPr>
        </p:nvSpPr>
        <p:spPr>
          <a:xfrm>
            <a:off x="3567600" y="1341438"/>
            <a:ext cx="5160475" cy="4679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Picture Placeholder 3"/>
          <p:cNvSpPr>
            <a:spLocks noGrp="1"/>
          </p:cNvSpPr>
          <p:nvPr>
            <p:ph type="pic" sz="quarter" idx="12" hasCustomPrompt="1"/>
          </p:nvPr>
        </p:nvSpPr>
        <p:spPr>
          <a:xfrm>
            <a:off x="419100" y="1341439"/>
            <a:ext cx="2980800" cy="4679950"/>
          </a:xfrm>
        </p:spPr>
        <p:txBody>
          <a:bodyPr tIns="900000" anchor="ctr" anchorCtr="0"/>
          <a:lstStyle>
            <a:lvl1pPr marL="0" indent="0" algn="ctr">
              <a:buNone/>
              <a:defRPr sz="1400"/>
            </a:lvl1pPr>
          </a:lstStyle>
          <a:p>
            <a:r>
              <a:rPr lang="en-US" dirty="0"/>
              <a:t>Click icon to </a:t>
            </a:r>
            <a:br>
              <a:rPr lang="en-US" dirty="0"/>
            </a:br>
            <a:r>
              <a:rPr lang="en-US" dirty="0"/>
              <a:t>add picture</a:t>
            </a:r>
          </a:p>
        </p:txBody>
      </p:sp>
    </p:spTree>
    <p:extLst>
      <p:ext uri="{BB962C8B-B14F-4D97-AF65-F5344CB8AC3E}">
        <p14:creationId xmlns:p14="http://schemas.microsoft.com/office/powerpoint/2010/main" val="393973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content, white">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a:xfrm>
            <a:off x="420688" y="1341438"/>
            <a:ext cx="8301037" cy="5182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Page#"/>
          <p:cNvSpPr txBox="1">
            <a:spLocks noChangeArrowheads="1"/>
          </p:cNvSpPr>
          <p:nvPr userDrawn="1"/>
        </p:nvSpPr>
        <p:spPr bwMode="auto">
          <a:xfrm>
            <a:off x="64431" y="6621841"/>
            <a:ext cx="381042" cy="122400"/>
          </a:xfrm>
          <a:prstGeom prst="rect">
            <a:avLst/>
          </a:prstGeom>
          <a:noFill/>
          <a:ln w="6350" algn="ctr">
            <a:noFill/>
            <a:miter lim="800000"/>
            <a:headEnd/>
            <a:tailEnd/>
          </a:ln>
          <a:effectLst/>
        </p:spPr>
        <p:txBody>
          <a:bodyPr lIns="0" tIns="0" rIns="0" bIns="0" anchor="b" anchorCtr="0"/>
          <a:lstStyle/>
          <a:p>
            <a:pPr algn="r" fontAlgn="base">
              <a:spcBef>
                <a:spcPct val="20000"/>
              </a:spcBef>
              <a:spcAft>
                <a:spcPct val="0"/>
              </a:spcAft>
              <a:buClr>
                <a:srgbClr val="808080"/>
              </a:buClr>
            </a:pPr>
            <a:fld id="{21B19618-E8F0-4C5A-87AE-B0CCB4D6BB5E}" type="slidenum">
              <a:rPr lang="en-GB" sz="800" b="1" smtClean="0">
                <a:solidFill>
                  <a:schemeClr val="tx1"/>
                </a:solidFill>
                <a:ea typeface="SimHei"/>
                <a:cs typeface="Arial" charset="0"/>
              </a:rPr>
              <a:pPr algn="r" fontAlgn="base">
                <a:spcBef>
                  <a:spcPct val="20000"/>
                </a:spcBef>
                <a:spcAft>
                  <a:spcPct val="0"/>
                </a:spcAft>
                <a:buClr>
                  <a:srgbClr val="808080"/>
                </a:buClr>
              </a:pPr>
              <a:t>‹#›</a:t>
            </a:fld>
            <a:r>
              <a:rPr lang="en-GB" sz="800" dirty="0">
                <a:solidFill>
                  <a:schemeClr val="tx1"/>
                </a:solidFill>
                <a:ea typeface="SimHei"/>
                <a:cs typeface="Arial" charset="0"/>
              </a:rPr>
              <a:t> |</a:t>
            </a:r>
          </a:p>
        </p:txBody>
      </p:sp>
    </p:spTree>
    <p:extLst>
      <p:ext uri="{BB962C8B-B14F-4D97-AF65-F5344CB8AC3E}">
        <p14:creationId xmlns:p14="http://schemas.microsoft.com/office/powerpoint/2010/main" val="355837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grey">
    <p:spTree>
      <p:nvGrpSpPr>
        <p:cNvPr id="1" name=""/>
        <p:cNvGrpSpPr/>
        <p:nvPr/>
      </p:nvGrpSpPr>
      <p:grpSpPr>
        <a:xfrm>
          <a:off x="0" y="0"/>
          <a:ext cx="0" cy="0"/>
          <a:chOff x="0" y="0"/>
          <a:chExt cx="0" cy="0"/>
        </a:xfrm>
      </p:grpSpPr>
      <p:sp>
        <p:nvSpPr>
          <p:cNvPr id="4" name="Rectangle 3"/>
          <p:cNvSpPr/>
          <p:nvPr userDrawn="1"/>
        </p:nvSpPr>
        <p:spPr>
          <a:xfrm>
            <a:off x="0" y="0"/>
            <a:ext cx="9144000" cy="6392863"/>
          </a:xfrm>
          <a:prstGeom prst="rect">
            <a:avLst/>
          </a:prstGeom>
          <a:gradFill flip="none" rotWithShape="1">
            <a:gsLst>
              <a:gs pos="0">
                <a:srgbClr val="C7C7C7"/>
              </a:gs>
              <a:gs pos="50000">
                <a:schemeClr val="bg1"/>
              </a:gs>
              <a:gs pos="100000">
                <a:srgbClr val="CDCDC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a:xfrm>
            <a:off x="419100" y="1341438"/>
            <a:ext cx="8308975" cy="467995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564356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grey">
    <p:spTree>
      <p:nvGrpSpPr>
        <p:cNvPr id="1" name=""/>
        <p:cNvGrpSpPr/>
        <p:nvPr/>
      </p:nvGrpSpPr>
      <p:grpSpPr>
        <a:xfrm>
          <a:off x="0" y="0"/>
          <a:ext cx="0" cy="0"/>
          <a:chOff x="0" y="0"/>
          <a:chExt cx="0" cy="0"/>
        </a:xfrm>
      </p:grpSpPr>
      <p:sp>
        <p:nvSpPr>
          <p:cNvPr id="5" name="Rectangle 4"/>
          <p:cNvSpPr/>
          <p:nvPr userDrawn="1"/>
        </p:nvSpPr>
        <p:spPr>
          <a:xfrm>
            <a:off x="0" y="0"/>
            <a:ext cx="9144000" cy="6392863"/>
          </a:xfrm>
          <a:prstGeom prst="rect">
            <a:avLst/>
          </a:prstGeom>
          <a:gradFill flip="none" rotWithShape="1">
            <a:gsLst>
              <a:gs pos="0">
                <a:srgbClr val="C7C7C7"/>
              </a:gs>
              <a:gs pos="50000">
                <a:schemeClr val="bg1"/>
              </a:gs>
              <a:gs pos="100000">
                <a:srgbClr val="CDCDC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le 1"/>
          <p:cNvSpPr>
            <a:spLocks noGrp="1"/>
          </p:cNvSpPr>
          <p:nvPr>
            <p:ph type="title"/>
          </p:nvPr>
        </p:nvSpPr>
        <p:spPr/>
        <p:txBody>
          <a:bodyPr/>
          <a:lstStyle/>
          <a:p>
            <a:r>
              <a:rPr lang="en-US"/>
              <a:t>Click to edit Master title style</a:t>
            </a:r>
            <a:endParaRPr lang="en-GB" dirty="0"/>
          </a:p>
        </p:txBody>
      </p:sp>
      <p:sp>
        <p:nvSpPr>
          <p:cNvPr id="7" name="Content Placeholder 2"/>
          <p:cNvSpPr>
            <a:spLocks noGrp="1"/>
          </p:cNvSpPr>
          <p:nvPr>
            <p:ph sz="quarter" idx="14"/>
          </p:nvPr>
        </p:nvSpPr>
        <p:spPr>
          <a:xfrm>
            <a:off x="419100" y="1341438"/>
            <a:ext cx="4068000" cy="4679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3"/>
          <p:cNvSpPr>
            <a:spLocks noGrp="1"/>
          </p:cNvSpPr>
          <p:nvPr>
            <p:ph sz="quarter" idx="15"/>
          </p:nvPr>
        </p:nvSpPr>
        <p:spPr>
          <a:xfrm>
            <a:off x="4654800" y="1341438"/>
            <a:ext cx="4068000" cy="46799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599384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medium picture, grey">
    <p:spTree>
      <p:nvGrpSpPr>
        <p:cNvPr id="1" name=""/>
        <p:cNvGrpSpPr/>
        <p:nvPr/>
      </p:nvGrpSpPr>
      <p:grpSpPr>
        <a:xfrm>
          <a:off x="0" y="0"/>
          <a:ext cx="0" cy="0"/>
          <a:chOff x="0" y="0"/>
          <a:chExt cx="0" cy="0"/>
        </a:xfrm>
      </p:grpSpPr>
      <p:sp>
        <p:nvSpPr>
          <p:cNvPr id="5" name="Rectangle 4"/>
          <p:cNvSpPr/>
          <p:nvPr userDrawn="1"/>
        </p:nvSpPr>
        <p:spPr>
          <a:xfrm>
            <a:off x="0" y="0"/>
            <a:ext cx="9144000" cy="6392863"/>
          </a:xfrm>
          <a:prstGeom prst="rect">
            <a:avLst/>
          </a:prstGeom>
          <a:gradFill flip="none" rotWithShape="1">
            <a:gsLst>
              <a:gs pos="0">
                <a:srgbClr val="C7C7C7"/>
              </a:gs>
              <a:gs pos="50000">
                <a:schemeClr val="bg1"/>
              </a:gs>
              <a:gs pos="100000">
                <a:srgbClr val="CDCDC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itle 1"/>
          <p:cNvSpPr>
            <a:spLocks noGrp="1"/>
          </p:cNvSpPr>
          <p:nvPr>
            <p:ph type="title"/>
          </p:nvPr>
        </p:nvSpPr>
        <p:spPr>
          <a:xfrm>
            <a:off x="419100" y="295275"/>
            <a:ext cx="4067176" cy="936000"/>
          </a:xfrm>
        </p:spPr>
        <p:txBody>
          <a:bodyPr/>
          <a:lstStyle/>
          <a:p>
            <a:r>
              <a:rPr lang="en-US"/>
              <a:t>Click to edit Master title style</a:t>
            </a:r>
            <a:endParaRPr lang="en-GB" dirty="0"/>
          </a:p>
        </p:txBody>
      </p:sp>
      <p:sp>
        <p:nvSpPr>
          <p:cNvPr id="8" name="Text Placeholder 2"/>
          <p:cNvSpPr>
            <a:spLocks noGrp="1"/>
          </p:cNvSpPr>
          <p:nvPr>
            <p:ph type="body" sz="quarter" idx="13"/>
          </p:nvPr>
        </p:nvSpPr>
        <p:spPr>
          <a:xfrm>
            <a:off x="419100" y="1341438"/>
            <a:ext cx="4067175" cy="467994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3"/>
          <p:cNvSpPr>
            <a:spLocks noGrp="1"/>
          </p:cNvSpPr>
          <p:nvPr>
            <p:ph type="pic" sz="quarter" idx="12" hasCustomPrompt="1"/>
          </p:nvPr>
        </p:nvSpPr>
        <p:spPr>
          <a:xfrm>
            <a:off x="4659313" y="0"/>
            <a:ext cx="4484686" cy="6392863"/>
          </a:xfrm>
          <a:solidFill>
            <a:schemeClr val="bg1"/>
          </a:solidFill>
        </p:spPr>
        <p:txBody>
          <a:bodyPr tIns="900000" anchor="ctr" anchorCtr="0"/>
          <a:lstStyle>
            <a:lvl1pPr marL="0" indent="0" algn="ctr">
              <a:buNone/>
              <a:defRPr sz="1400"/>
            </a:lvl1pPr>
          </a:lstStyle>
          <a:p>
            <a:r>
              <a:rPr lang="en-US" dirty="0"/>
              <a:t>Click icon to </a:t>
            </a:r>
            <a:br>
              <a:rPr lang="en-US" dirty="0"/>
            </a:br>
            <a:r>
              <a:rPr lang="en-US" dirty="0"/>
              <a:t>add picture</a:t>
            </a:r>
          </a:p>
        </p:txBody>
      </p:sp>
    </p:spTree>
    <p:extLst>
      <p:ext uri="{BB962C8B-B14F-4D97-AF65-F5344CB8AC3E}">
        <p14:creationId xmlns:p14="http://schemas.microsoft.com/office/powerpoint/2010/main" val="1957003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dium picture and text, grey">
    <p:spTree>
      <p:nvGrpSpPr>
        <p:cNvPr id="1" name=""/>
        <p:cNvGrpSpPr/>
        <p:nvPr/>
      </p:nvGrpSpPr>
      <p:grpSpPr>
        <a:xfrm>
          <a:off x="0" y="0"/>
          <a:ext cx="0" cy="0"/>
          <a:chOff x="0" y="0"/>
          <a:chExt cx="0" cy="0"/>
        </a:xfrm>
      </p:grpSpPr>
      <p:sp>
        <p:nvSpPr>
          <p:cNvPr id="6" name="Rectangle 5"/>
          <p:cNvSpPr/>
          <p:nvPr userDrawn="1"/>
        </p:nvSpPr>
        <p:spPr>
          <a:xfrm>
            <a:off x="0" y="0"/>
            <a:ext cx="9144000" cy="6392863"/>
          </a:xfrm>
          <a:prstGeom prst="rect">
            <a:avLst/>
          </a:prstGeom>
          <a:gradFill flip="none" rotWithShape="1">
            <a:gsLst>
              <a:gs pos="0">
                <a:srgbClr val="C7C7C7"/>
              </a:gs>
              <a:gs pos="50000">
                <a:schemeClr val="bg1"/>
              </a:gs>
              <a:gs pos="100000">
                <a:srgbClr val="CDCDC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le 1"/>
          <p:cNvSpPr>
            <a:spLocks noGrp="1"/>
          </p:cNvSpPr>
          <p:nvPr>
            <p:ph type="title"/>
          </p:nvPr>
        </p:nvSpPr>
        <p:spPr>
          <a:xfrm>
            <a:off x="4659313" y="295275"/>
            <a:ext cx="4068761" cy="936000"/>
          </a:xfrm>
        </p:spPr>
        <p:txBody>
          <a:bodyPr/>
          <a:lstStyle/>
          <a:p>
            <a:r>
              <a:rPr lang="en-US"/>
              <a:t>Click to edit Master title style</a:t>
            </a:r>
            <a:endParaRPr lang="en-GB" dirty="0"/>
          </a:p>
        </p:txBody>
      </p:sp>
      <p:sp>
        <p:nvSpPr>
          <p:cNvPr id="10" name="Text Placeholder 2"/>
          <p:cNvSpPr>
            <a:spLocks noGrp="1"/>
          </p:cNvSpPr>
          <p:nvPr>
            <p:ph type="body" sz="quarter" idx="14"/>
          </p:nvPr>
        </p:nvSpPr>
        <p:spPr>
          <a:xfrm>
            <a:off x="4653870" y="1341438"/>
            <a:ext cx="4067855" cy="4679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Picture Placeholder 3"/>
          <p:cNvSpPr>
            <a:spLocks noGrp="1"/>
          </p:cNvSpPr>
          <p:nvPr>
            <p:ph type="pic" sz="quarter" idx="12" hasCustomPrompt="1"/>
          </p:nvPr>
        </p:nvSpPr>
        <p:spPr>
          <a:xfrm>
            <a:off x="0" y="0"/>
            <a:ext cx="4486275" cy="6392863"/>
          </a:xfrm>
          <a:solidFill>
            <a:schemeClr val="bg1"/>
          </a:solidFill>
        </p:spPr>
        <p:txBody>
          <a:bodyPr tIns="900000" anchor="ctr" anchorCtr="0"/>
          <a:lstStyle>
            <a:lvl1pPr marL="0" indent="0" algn="ctr">
              <a:buNone/>
              <a:defRPr sz="1400"/>
            </a:lvl1pPr>
          </a:lstStyle>
          <a:p>
            <a:r>
              <a:rPr lang="en-US" dirty="0"/>
              <a:t>Click icon to </a:t>
            </a:r>
            <a:br>
              <a:rPr lang="en-US" dirty="0"/>
            </a:br>
            <a:r>
              <a:rPr lang="en-US" dirty="0"/>
              <a:t>add picture</a:t>
            </a:r>
          </a:p>
        </p:txBody>
      </p:sp>
    </p:spTree>
    <p:extLst>
      <p:ext uri="{BB962C8B-B14F-4D97-AF65-F5344CB8AC3E}">
        <p14:creationId xmlns:p14="http://schemas.microsoft.com/office/powerpoint/2010/main" val="61457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small picture, grey">
    <p:spTree>
      <p:nvGrpSpPr>
        <p:cNvPr id="1" name=""/>
        <p:cNvGrpSpPr/>
        <p:nvPr/>
      </p:nvGrpSpPr>
      <p:grpSpPr>
        <a:xfrm>
          <a:off x="0" y="0"/>
          <a:ext cx="0" cy="0"/>
          <a:chOff x="0" y="0"/>
          <a:chExt cx="0" cy="0"/>
        </a:xfrm>
      </p:grpSpPr>
      <p:sp>
        <p:nvSpPr>
          <p:cNvPr id="6" name="Rectangle 5"/>
          <p:cNvSpPr/>
          <p:nvPr userDrawn="1"/>
        </p:nvSpPr>
        <p:spPr>
          <a:xfrm>
            <a:off x="0" y="0"/>
            <a:ext cx="9144000" cy="6392863"/>
          </a:xfrm>
          <a:prstGeom prst="rect">
            <a:avLst/>
          </a:prstGeom>
          <a:gradFill flip="none" rotWithShape="1">
            <a:gsLst>
              <a:gs pos="0">
                <a:srgbClr val="C7C7C7"/>
              </a:gs>
              <a:gs pos="50000">
                <a:schemeClr val="bg1"/>
              </a:gs>
              <a:gs pos="100000">
                <a:srgbClr val="CDCDC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le 1"/>
          <p:cNvSpPr>
            <a:spLocks noGrp="1"/>
          </p:cNvSpPr>
          <p:nvPr>
            <p:ph type="title"/>
          </p:nvPr>
        </p:nvSpPr>
        <p:spPr/>
        <p:txBody>
          <a:bodyPr/>
          <a:lstStyle/>
          <a:p>
            <a:r>
              <a:rPr lang="en-US"/>
              <a:t>Click to edit Master title style</a:t>
            </a:r>
            <a:endParaRPr lang="en-GB" dirty="0"/>
          </a:p>
        </p:txBody>
      </p:sp>
      <p:sp>
        <p:nvSpPr>
          <p:cNvPr id="8" name="Text Placeholder 2"/>
          <p:cNvSpPr>
            <a:spLocks noGrp="1"/>
          </p:cNvSpPr>
          <p:nvPr>
            <p:ph type="body" sz="quarter" idx="13"/>
          </p:nvPr>
        </p:nvSpPr>
        <p:spPr>
          <a:xfrm>
            <a:off x="419100" y="1341438"/>
            <a:ext cx="5160962" cy="4679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Picture Placeholder 3"/>
          <p:cNvSpPr>
            <a:spLocks noGrp="1"/>
          </p:cNvSpPr>
          <p:nvPr>
            <p:ph type="pic" sz="quarter" idx="12" hasCustomPrompt="1"/>
          </p:nvPr>
        </p:nvSpPr>
        <p:spPr>
          <a:xfrm>
            <a:off x="5747275" y="1341439"/>
            <a:ext cx="2980800" cy="4679950"/>
          </a:xfrm>
          <a:solidFill>
            <a:schemeClr val="bg1"/>
          </a:solidFill>
        </p:spPr>
        <p:txBody>
          <a:bodyPr tIns="900000" anchor="ctr" anchorCtr="0"/>
          <a:lstStyle>
            <a:lvl1pPr marL="0" indent="0" algn="ctr">
              <a:buNone/>
              <a:defRPr sz="1400"/>
            </a:lvl1pPr>
          </a:lstStyle>
          <a:p>
            <a:r>
              <a:rPr lang="en-US" dirty="0"/>
              <a:t>Click icon to </a:t>
            </a:r>
            <a:br>
              <a:rPr lang="en-US" dirty="0"/>
            </a:br>
            <a:r>
              <a:rPr lang="en-US" dirty="0"/>
              <a:t>add picture</a:t>
            </a:r>
          </a:p>
        </p:txBody>
      </p:sp>
    </p:spTree>
    <p:extLst>
      <p:ext uri="{BB962C8B-B14F-4D97-AF65-F5344CB8AC3E}">
        <p14:creationId xmlns:p14="http://schemas.microsoft.com/office/powerpoint/2010/main" val="3801052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ll picture and text, grey">
    <p:spTree>
      <p:nvGrpSpPr>
        <p:cNvPr id="1" name=""/>
        <p:cNvGrpSpPr/>
        <p:nvPr/>
      </p:nvGrpSpPr>
      <p:grpSpPr>
        <a:xfrm>
          <a:off x="0" y="0"/>
          <a:ext cx="0" cy="0"/>
          <a:chOff x="0" y="0"/>
          <a:chExt cx="0" cy="0"/>
        </a:xfrm>
      </p:grpSpPr>
      <p:sp>
        <p:nvSpPr>
          <p:cNvPr id="6" name="Rectangle 5"/>
          <p:cNvSpPr/>
          <p:nvPr userDrawn="1"/>
        </p:nvSpPr>
        <p:spPr>
          <a:xfrm>
            <a:off x="0" y="0"/>
            <a:ext cx="9144000" cy="6392863"/>
          </a:xfrm>
          <a:prstGeom prst="rect">
            <a:avLst/>
          </a:prstGeom>
          <a:gradFill flip="none" rotWithShape="1">
            <a:gsLst>
              <a:gs pos="0">
                <a:srgbClr val="C7C7C7"/>
              </a:gs>
              <a:gs pos="50000">
                <a:schemeClr val="bg1"/>
              </a:gs>
              <a:gs pos="100000">
                <a:srgbClr val="CDCDC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r>
              <a:rPr lang="en-US"/>
              <a:t>Click to edit Master title style</a:t>
            </a:r>
            <a:endParaRPr lang="en-GB" dirty="0"/>
          </a:p>
        </p:txBody>
      </p:sp>
      <p:sp>
        <p:nvSpPr>
          <p:cNvPr id="8" name="Text Placeholder 2"/>
          <p:cNvSpPr>
            <a:spLocks noGrp="1"/>
          </p:cNvSpPr>
          <p:nvPr>
            <p:ph type="body" sz="quarter" idx="13"/>
          </p:nvPr>
        </p:nvSpPr>
        <p:spPr>
          <a:xfrm>
            <a:off x="3567600" y="1341438"/>
            <a:ext cx="5160475" cy="4679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Picture Placeholder 3"/>
          <p:cNvSpPr>
            <a:spLocks noGrp="1"/>
          </p:cNvSpPr>
          <p:nvPr>
            <p:ph type="pic" sz="quarter" idx="12" hasCustomPrompt="1"/>
          </p:nvPr>
        </p:nvSpPr>
        <p:spPr>
          <a:xfrm>
            <a:off x="419100" y="1341439"/>
            <a:ext cx="2980800" cy="4679950"/>
          </a:xfrm>
          <a:solidFill>
            <a:schemeClr val="bg1"/>
          </a:solidFill>
        </p:spPr>
        <p:txBody>
          <a:bodyPr tIns="900000" anchor="ctr" anchorCtr="0"/>
          <a:lstStyle>
            <a:lvl1pPr marL="0" indent="0" algn="ctr">
              <a:buNone/>
              <a:defRPr sz="1400"/>
            </a:lvl1pPr>
          </a:lstStyle>
          <a:p>
            <a:r>
              <a:rPr lang="en-US" dirty="0"/>
              <a:t>Click icon to </a:t>
            </a:r>
            <a:br>
              <a:rPr lang="en-US" dirty="0"/>
            </a:br>
            <a:r>
              <a:rPr lang="en-US" dirty="0"/>
              <a:t>add picture</a:t>
            </a:r>
          </a:p>
        </p:txBody>
      </p:sp>
    </p:spTree>
    <p:extLst>
      <p:ext uri="{BB962C8B-B14F-4D97-AF65-F5344CB8AC3E}">
        <p14:creationId xmlns:p14="http://schemas.microsoft.com/office/powerpoint/2010/main" val="608019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rge content, grey">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gradFill flip="none" rotWithShape="1">
            <a:gsLst>
              <a:gs pos="0">
                <a:srgbClr val="C7C7C7"/>
              </a:gs>
              <a:gs pos="50000">
                <a:schemeClr val="bg1"/>
              </a:gs>
              <a:gs pos="100000">
                <a:srgbClr val="CDCDC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a:xfrm>
            <a:off x="420688" y="1341438"/>
            <a:ext cx="8301037" cy="5182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Page#"/>
          <p:cNvSpPr txBox="1">
            <a:spLocks noChangeArrowheads="1"/>
          </p:cNvSpPr>
          <p:nvPr userDrawn="1"/>
        </p:nvSpPr>
        <p:spPr bwMode="auto">
          <a:xfrm>
            <a:off x="64431" y="6621841"/>
            <a:ext cx="381042" cy="122400"/>
          </a:xfrm>
          <a:prstGeom prst="rect">
            <a:avLst/>
          </a:prstGeom>
          <a:noFill/>
          <a:ln w="6350" algn="ctr">
            <a:noFill/>
            <a:miter lim="800000"/>
            <a:headEnd/>
            <a:tailEnd/>
          </a:ln>
          <a:effectLst/>
        </p:spPr>
        <p:txBody>
          <a:bodyPr lIns="0" tIns="0" rIns="0" bIns="0" anchor="b" anchorCtr="0"/>
          <a:lstStyle/>
          <a:p>
            <a:pPr algn="r" fontAlgn="base">
              <a:spcBef>
                <a:spcPct val="20000"/>
              </a:spcBef>
              <a:spcAft>
                <a:spcPct val="0"/>
              </a:spcAft>
              <a:buClr>
                <a:srgbClr val="808080"/>
              </a:buClr>
            </a:pPr>
            <a:fld id="{21B19618-E8F0-4C5A-87AE-B0CCB4D6BB5E}" type="slidenum">
              <a:rPr lang="en-GB" sz="800" b="1" smtClean="0">
                <a:solidFill>
                  <a:schemeClr val="tx1"/>
                </a:solidFill>
                <a:ea typeface="SimHei"/>
                <a:cs typeface="Arial" charset="0"/>
              </a:rPr>
              <a:pPr algn="r" fontAlgn="base">
                <a:spcBef>
                  <a:spcPct val="20000"/>
                </a:spcBef>
                <a:spcAft>
                  <a:spcPct val="0"/>
                </a:spcAft>
                <a:buClr>
                  <a:srgbClr val="808080"/>
                </a:buClr>
              </a:pPr>
              <a:t>‹#›</a:t>
            </a:fld>
            <a:r>
              <a:rPr lang="en-GB" sz="800" dirty="0">
                <a:solidFill>
                  <a:schemeClr val="tx1"/>
                </a:solidFill>
                <a:ea typeface="SimHei"/>
                <a:cs typeface="Arial" charset="0"/>
              </a:rPr>
              <a:t> |</a:t>
            </a:r>
          </a:p>
        </p:txBody>
      </p:sp>
    </p:spTree>
    <p:extLst>
      <p:ext uri="{BB962C8B-B14F-4D97-AF65-F5344CB8AC3E}">
        <p14:creationId xmlns:p14="http://schemas.microsoft.com/office/powerpoint/2010/main" val="28237990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large picture">
    <p:spTree>
      <p:nvGrpSpPr>
        <p:cNvPr id="1" name=""/>
        <p:cNvGrpSpPr/>
        <p:nvPr/>
      </p:nvGrpSpPr>
      <p:grpSpPr>
        <a:xfrm>
          <a:off x="0" y="0"/>
          <a:ext cx="0" cy="0"/>
          <a:chOff x="0" y="0"/>
          <a:chExt cx="0" cy="0"/>
        </a:xfrm>
      </p:grpSpPr>
      <p:sp>
        <p:nvSpPr>
          <p:cNvPr id="6" name="Picture Placeholder 2"/>
          <p:cNvSpPr>
            <a:spLocks noGrp="1"/>
          </p:cNvSpPr>
          <p:nvPr>
            <p:ph type="pic" sz="quarter" idx="12"/>
          </p:nvPr>
        </p:nvSpPr>
        <p:spPr>
          <a:xfrm>
            <a:off x="0" y="0"/>
            <a:ext cx="9144000" cy="6392863"/>
          </a:xfrm>
        </p:spPr>
        <p:txBody>
          <a:bodyPr tIns="900000" anchor="ctr" anchorCtr="0"/>
          <a:lstStyle>
            <a:lvl1pPr marL="0" indent="0" algn="ctr">
              <a:buNone/>
              <a:defRPr sz="1400"/>
            </a:lvl1pPr>
          </a:lstStyle>
          <a:p>
            <a:r>
              <a:rPr lang="en-US"/>
              <a:t>Click icon to add picture</a:t>
            </a:r>
            <a:endParaRPr lang="en-US" dirty="0"/>
          </a:p>
        </p:txBody>
      </p:sp>
      <p:sp>
        <p:nvSpPr>
          <p:cNvPr id="3"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8259998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p:spTree>
      <p:nvGrpSpPr>
        <p:cNvPr id="1" name=""/>
        <p:cNvGrpSpPr/>
        <p:nvPr/>
      </p:nvGrpSpPr>
      <p:grpSpPr>
        <a:xfrm>
          <a:off x="0" y="0"/>
          <a:ext cx="0" cy="0"/>
          <a:chOff x="0" y="0"/>
          <a:chExt cx="0" cy="0"/>
        </a:xfrm>
      </p:grpSpPr>
      <p:pic>
        <p:nvPicPr>
          <p:cNvPr id="3074" name="Picture 2" descr="U:\Danfoss\Jobs\5123_Hjaelp til PowerPoint skabeloner\Received\Nyeste grafikker\Ny Grafik til SD\Ny Grafik til SD\PPT_frontpage_4-3_full_red_backdrop.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57532" y="188775"/>
            <a:ext cx="2289048" cy="585216"/>
          </a:xfrm>
          <a:prstGeom prst="rect">
            <a:avLst/>
          </a:prstGeom>
        </p:spPr>
      </p:pic>
      <p:sp>
        <p:nvSpPr>
          <p:cNvPr id="6" name="Title 1"/>
          <p:cNvSpPr>
            <a:spLocks noGrp="1"/>
          </p:cNvSpPr>
          <p:nvPr>
            <p:ph type="ctrTitle" hasCustomPrompt="1"/>
          </p:nvPr>
        </p:nvSpPr>
        <p:spPr>
          <a:xfrm>
            <a:off x="420687" y="1341438"/>
            <a:ext cx="8307388" cy="1157378"/>
          </a:xfrm>
        </p:spPr>
        <p:txBody>
          <a:bodyPr anchor="b" anchorCtr="0"/>
          <a:lstStyle>
            <a:lvl1pPr>
              <a:defRPr>
                <a:solidFill>
                  <a:schemeClr val="bg1"/>
                </a:solidFill>
              </a:defRPr>
            </a:lvl1pPr>
          </a:lstStyle>
          <a:p>
            <a:r>
              <a:rPr lang="en-US" noProof="0" dirty="0"/>
              <a:t>Click to insert</a:t>
            </a:r>
            <a:r>
              <a:rPr lang="en-GB" dirty="0"/>
              <a:t> </a:t>
            </a:r>
            <a:r>
              <a:rPr lang="en-US" noProof="0" dirty="0"/>
              <a:t>Presentation</a:t>
            </a:r>
            <a:r>
              <a:rPr lang="en-GB" dirty="0"/>
              <a:t> </a:t>
            </a:r>
            <a:r>
              <a:rPr lang="en-US" noProof="0" dirty="0"/>
              <a:t>title</a:t>
            </a:r>
            <a:r>
              <a:rPr lang="en-GB" dirty="0"/>
              <a:t> </a:t>
            </a:r>
            <a:r>
              <a:rPr lang="en-US" noProof="0" dirty="0"/>
              <a:t>in</a:t>
            </a:r>
            <a:br>
              <a:rPr lang="en-GB" dirty="0"/>
            </a:br>
            <a:r>
              <a:rPr lang="en-US" b="1" noProof="0" dirty="0"/>
              <a:t>Verdana</a:t>
            </a:r>
            <a:r>
              <a:rPr lang="en-GB" b="1" dirty="0"/>
              <a:t> </a:t>
            </a:r>
            <a:r>
              <a:rPr lang="en-US" b="1" noProof="0" dirty="0"/>
              <a:t>Bold</a:t>
            </a:r>
            <a:r>
              <a:rPr lang="en-GB" b="1" dirty="0"/>
              <a:t> </a:t>
            </a:r>
            <a:r>
              <a:rPr lang="en-US" noProof="0" dirty="0"/>
              <a:t>and</a:t>
            </a:r>
            <a:r>
              <a:rPr lang="en-GB" dirty="0"/>
              <a:t> </a:t>
            </a:r>
            <a:r>
              <a:rPr lang="en-US" noProof="0" dirty="0"/>
              <a:t>Verdana</a:t>
            </a:r>
            <a:r>
              <a:rPr lang="en-GB" dirty="0"/>
              <a:t> </a:t>
            </a:r>
            <a:r>
              <a:rPr lang="en-US" noProof="0" dirty="0"/>
              <a:t>Regular</a:t>
            </a:r>
          </a:p>
        </p:txBody>
      </p:sp>
      <p:sp>
        <p:nvSpPr>
          <p:cNvPr id="7" name="Subtitle 2"/>
          <p:cNvSpPr>
            <a:spLocks noGrp="1"/>
          </p:cNvSpPr>
          <p:nvPr>
            <p:ph type="subTitle" idx="1" hasCustomPrompt="1"/>
          </p:nvPr>
        </p:nvSpPr>
        <p:spPr>
          <a:xfrm>
            <a:off x="419099" y="2682581"/>
            <a:ext cx="8308975" cy="389093"/>
          </a:xfrm>
        </p:spPr>
        <p:txBody>
          <a:bodyPr/>
          <a:lstStyle>
            <a:lvl1pPr marL="0" indent="0" algn="l">
              <a:buNone/>
              <a:defRPr sz="1400"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a:t>
            </a:r>
            <a:r>
              <a:rPr lang="en-GB" dirty="0"/>
              <a:t> </a:t>
            </a:r>
            <a:r>
              <a:rPr lang="en-US" noProof="0" dirty="0"/>
              <a:t>to</a:t>
            </a:r>
            <a:r>
              <a:rPr lang="en-GB" dirty="0"/>
              <a:t> </a:t>
            </a:r>
            <a:r>
              <a:rPr lang="en-US" noProof="0" dirty="0"/>
              <a:t>insert</a:t>
            </a:r>
            <a:r>
              <a:rPr lang="en-GB" dirty="0"/>
              <a:t> </a:t>
            </a:r>
            <a:r>
              <a:rPr lang="en-US" noProof="0" dirty="0"/>
              <a:t>name</a:t>
            </a:r>
            <a:r>
              <a:rPr lang="en-GB" dirty="0"/>
              <a:t> </a:t>
            </a:r>
            <a:r>
              <a:rPr lang="en-US" noProof="0" dirty="0"/>
              <a:t>and</a:t>
            </a:r>
            <a:r>
              <a:rPr lang="en-GB" dirty="0"/>
              <a:t> </a:t>
            </a:r>
            <a:r>
              <a:rPr lang="en-US" noProof="0" dirty="0"/>
              <a:t>title</a:t>
            </a:r>
            <a:r>
              <a:rPr lang="en-GB" dirty="0"/>
              <a:t> </a:t>
            </a:r>
            <a:r>
              <a:rPr lang="en-US" noProof="0" dirty="0"/>
              <a:t>of</a:t>
            </a:r>
            <a:r>
              <a:rPr lang="en-GB" dirty="0"/>
              <a:t> </a:t>
            </a:r>
            <a:r>
              <a:rPr lang="en-US" noProof="0" dirty="0"/>
              <a:t>presenter</a:t>
            </a:r>
          </a:p>
        </p:txBody>
      </p:sp>
    </p:spTree>
    <p:extLst>
      <p:ext uri="{BB962C8B-B14F-4D97-AF65-F5344CB8AC3E}">
        <p14:creationId xmlns:p14="http://schemas.microsoft.com/office/powerpoint/2010/main" val="3111870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ndslide">
    <p:spTree>
      <p:nvGrpSpPr>
        <p:cNvPr id="1" name=""/>
        <p:cNvGrpSpPr/>
        <p:nvPr/>
      </p:nvGrpSpPr>
      <p:grpSpPr>
        <a:xfrm>
          <a:off x="0" y="0"/>
          <a:ext cx="0" cy="0"/>
          <a:chOff x="0" y="0"/>
          <a:chExt cx="0" cy="0"/>
        </a:xfrm>
      </p:grpSpPr>
      <p:sp>
        <p:nvSpPr>
          <p:cNvPr id="8" name="White background"/>
          <p:cNvSpPr/>
          <p:nvPr userDrawn="1"/>
        </p:nvSpPr>
        <p:spPr>
          <a:xfrm>
            <a:off x="0" y="0"/>
            <a:ext cx="9144000"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2051" name="Box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09519" y="2189486"/>
            <a:ext cx="3098210" cy="1354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347864" y="3887526"/>
            <a:ext cx="2466000" cy="643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862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U:\Danfoss\Jobs\5123_Hjaelp til PowerPoint skabeloner\Received\Nyeste grafikker\Ny Grafik til SD\Ny Grafik til SD\PPT__4-3_bottom_bar.png"/>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6395022"/>
            <a:ext cx="9144000" cy="46329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U:\Danfoss\Jobs\5123_Hjaelp til PowerPoint skabeloner\Received\Nyeste grafikker\Ny Grafik til SD\Ny Grafik til SD\PPT__4-3_bottom_bar_logo-only.png"/>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0" y="6395022"/>
            <a:ext cx="9144000" cy="46329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419099" y="295275"/>
            <a:ext cx="8308975" cy="9360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419100" y="1341438"/>
            <a:ext cx="8308975" cy="467995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grpSp>
        <p:nvGrpSpPr>
          <p:cNvPr id="24" name="Group 23"/>
          <p:cNvGrpSpPr/>
          <p:nvPr/>
        </p:nvGrpSpPr>
        <p:grpSpPr>
          <a:xfrm>
            <a:off x="-195943" y="290606"/>
            <a:ext cx="130629" cy="1046015"/>
            <a:chOff x="-478971" y="290606"/>
            <a:chExt cx="413657" cy="1046015"/>
          </a:xfrm>
        </p:grpSpPr>
        <p:cxnSp>
          <p:nvCxnSpPr>
            <p:cNvPr id="16" name="Straight Connector 15"/>
            <p:cNvCxnSpPr/>
            <p:nvPr userDrawn="1"/>
          </p:nvCxnSpPr>
          <p:spPr>
            <a:xfrm flipH="1">
              <a:off x="-478971" y="290606"/>
              <a:ext cx="4136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478971" y="1336621"/>
              <a:ext cx="413657"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a:xfrm rot="5400000" flipH="1">
            <a:off x="8656411" y="-176843"/>
            <a:ext cx="130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flipH="1">
            <a:off x="355373" y="-176844"/>
            <a:ext cx="130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flipH="1">
            <a:off x="5688012" y="-176844"/>
            <a:ext cx="130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a:off x="5513843" y="-176845"/>
            <a:ext cx="130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a:off x="4592636" y="-176845"/>
            <a:ext cx="130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flipH="1">
            <a:off x="4418467" y="-176846"/>
            <a:ext cx="130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flipH="1">
            <a:off x="3503385" y="-176846"/>
            <a:ext cx="1306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flipH="1">
            <a:off x="3329216" y="-176847"/>
            <a:ext cx="130629"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Page #"/>
          <p:cNvSpPr txBox="1">
            <a:spLocks noChangeArrowheads="1"/>
          </p:cNvSpPr>
          <p:nvPr/>
        </p:nvSpPr>
        <p:spPr bwMode="auto">
          <a:xfrm>
            <a:off x="64431" y="6620799"/>
            <a:ext cx="381042" cy="122400"/>
          </a:xfrm>
          <a:prstGeom prst="rect">
            <a:avLst/>
          </a:prstGeom>
          <a:noFill/>
          <a:ln w="6350" algn="ctr">
            <a:noFill/>
            <a:miter lim="800000"/>
            <a:headEnd/>
            <a:tailEnd/>
          </a:ln>
          <a:effectLst/>
        </p:spPr>
        <p:txBody>
          <a:bodyPr lIns="0" tIns="0" rIns="0" bIns="0" anchor="b" anchorCtr="0"/>
          <a:lstStyle/>
          <a:p>
            <a:pPr algn="r" fontAlgn="base">
              <a:spcBef>
                <a:spcPct val="20000"/>
              </a:spcBef>
              <a:spcAft>
                <a:spcPct val="0"/>
              </a:spcAft>
              <a:buClr>
                <a:srgbClr val="808080"/>
              </a:buClr>
            </a:pPr>
            <a:fld id="{21B19618-E8F0-4C5A-87AE-B0CCB4D6BB5E}" type="slidenum">
              <a:rPr lang="en-US" sz="800" b="1" noProof="0" smtClean="0">
                <a:solidFill>
                  <a:schemeClr val="bg1"/>
                </a:solidFill>
                <a:ea typeface="SimHei"/>
                <a:cs typeface="Arial" charset="0"/>
              </a:rPr>
              <a:pPr algn="r" fontAlgn="base">
                <a:spcBef>
                  <a:spcPct val="20000"/>
                </a:spcBef>
                <a:spcAft>
                  <a:spcPct val="0"/>
                </a:spcAft>
                <a:buClr>
                  <a:srgbClr val="808080"/>
                </a:buClr>
              </a:pPr>
              <a:t>‹#›</a:t>
            </a:fld>
            <a:r>
              <a:rPr lang="en-US" sz="800" noProof="0" dirty="0">
                <a:solidFill>
                  <a:schemeClr val="bg1"/>
                </a:solidFill>
                <a:ea typeface="SimHei"/>
                <a:cs typeface="Arial" charset="0"/>
              </a:rPr>
              <a:t> </a:t>
            </a:r>
            <a:r>
              <a:rPr lang="en-US" sz="900" noProof="0" dirty="0">
                <a:solidFill>
                  <a:schemeClr val="bg1"/>
                </a:solidFill>
                <a:ea typeface="SimHei"/>
                <a:cs typeface="Arial" charset="0"/>
              </a:rPr>
              <a:t>|</a:t>
            </a:r>
          </a:p>
        </p:txBody>
      </p:sp>
      <p:grpSp>
        <p:nvGrpSpPr>
          <p:cNvPr id="25" name="Group 24"/>
          <p:cNvGrpSpPr/>
          <p:nvPr/>
        </p:nvGrpSpPr>
        <p:grpSpPr>
          <a:xfrm>
            <a:off x="9229950" y="290597"/>
            <a:ext cx="130629" cy="1045056"/>
            <a:chOff x="-478971" y="290597"/>
            <a:chExt cx="413657" cy="1045056"/>
          </a:xfrm>
        </p:grpSpPr>
        <p:cxnSp>
          <p:nvCxnSpPr>
            <p:cNvPr id="40" name="Straight Connector 39"/>
            <p:cNvCxnSpPr/>
            <p:nvPr userDrawn="1"/>
          </p:nvCxnSpPr>
          <p:spPr>
            <a:xfrm flipH="1">
              <a:off x="-478971" y="290597"/>
              <a:ext cx="4136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flipH="1">
              <a:off x="-478971" y="1335653"/>
              <a:ext cx="41365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6" name="bmkFldAdditionalInfo"/>
          <p:cNvSpPr txBox="1">
            <a:spLocks noChangeArrowheads="1"/>
          </p:cNvSpPr>
          <p:nvPr/>
        </p:nvSpPr>
        <p:spPr bwMode="auto">
          <a:xfrm>
            <a:off x="485774" y="6620189"/>
            <a:ext cx="3998007" cy="122238"/>
          </a:xfrm>
          <a:prstGeom prst="rect">
            <a:avLst/>
          </a:prstGeom>
          <a:noFill/>
          <a:ln w="6350" algn="ctr">
            <a:noFill/>
            <a:miter lim="800000"/>
            <a:headEnd/>
            <a:tailEnd/>
          </a:ln>
          <a:effectLst/>
        </p:spPr>
        <p:txBody>
          <a:bodyPr lIns="0" tIns="0" rIns="0" bIns="0" anchor="b" anchorCtr="0"/>
          <a:lstStyle/>
          <a:p>
            <a:pPr fontAlgn="base">
              <a:spcBef>
                <a:spcPct val="50000"/>
              </a:spcBef>
              <a:spcAft>
                <a:spcPct val="0"/>
              </a:spcAft>
              <a:buClr>
                <a:srgbClr val="808080"/>
              </a:buClr>
            </a:pPr>
            <a:r>
              <a:rPr lang="en-US" sz="800" noProof="0" dirty="0">
                <a:solidFill>
                  <a:schemeClr val="bg1"/>
                </a:solidFill>
                <a:ea typeface="SimHei"/>
                <a:cs typeface="Arial" charset="0"/>
              </a:rPr>
              <a:t>RAC R&amp;D - Danfoss Cooling</a:t>
            </a:r>
          </a:p>
        </p:txBody>
      </p:sp>
      <p:sp>
        <p:nvSpPr>
          <p:cNvPr id="5" name="TextBox 4">
            <a:extLst>
              <a:ext uri="{FF2B5EF4-FFF2-40B4-BE49-F238E27FC236}">
                <a16:creationId xmlns:a16="http://schemas.microsoft.com/office/drawing/2014/main" id="{A236587E-20E1-B641-BE3D-B919C33A94EB}"/>
              </a:ext>
            </a:extLst>
          </p:cNvPr>
          <p:cNvSpPr txBox="1"/>
          <p:nvPr userDrawn="1">
            <p:extLst>
              <p:ext uri="{1162E1C5-73C7-4A58-AE30-91384D911F3F}">
                <p184:classification xmlns:p184="http://schemas.microsoft.com/office/powerpoint/2018/4/main" val="ftr"/>
              </p:ext>
            </p:extLst>
          </p:nvPr>
        </p:nvSpPr>
        <p:spPr>
          <a:xfrm>
            <a:off x="4026662" y="6642100"/>
            <a:ext cx="1119188" cy="152400"/>
          </a:xfrm>
          <a:prstGeom prst="rect">
            <a:avLst/>
          </a:prstGeom>
        </p:spPr>
        <p:txBody>
          <a:bodyPr horzOverflow="overflow" lIns="0" tIns="0" rIns="0" bIns="0">
            <a:spAutoFit/>
          </a:bodyPr>
          <a:lstStyle/>
          <a:p>
            <a:pPr algn="l"/>
            <a:r>
              <a:rPr lang="en-DK"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Classified as Business</a:t>
            </a:r>
          </a:p>
        </p:txBody>
      </p:sp>
    </p:spTree>
    <p:extLst>
      <p:ext uri="{BB962C8B-B14F-4D97-AF65-F5344CB8AC3E}">
        <p14:creationId xmlns:p14="http://schemas.microsoft.com/office/powerpoint/2010/main" val="1716963410"/>
      </p:ext>
    </p:extLst>
  </p:cSld>
  <p:clrMap bg1="lt1" tx1="dk1" bg2="lt2" tx2="dk2" accent1="accent1" accent2="accent2" accent3="accent3" accent4="accent4" accent5="accent5" accent6="accent6" hlink="hlink" folHlink="folHlink"/>
  <p:sldLayoutIdLst>
    <p:sldLayoutId id="2147483730" r:id="rId1"/>
    <p:sldLayoutId id="2147483655" r:id="rId2"/>
    <p:sldLayoutId id="2147483733" r:id="rId3"/>
    <p:sldLayoutId id="2147483675" r:id="rId4"/>
    <p:sldLayoutId id="2147483686" r:id="rId5"/>
    <p:sldLayoutId id="2147483688" r:id="rId6"/>
    <p:sldLayoutId id="2147483674" r:id="rId7"/>
    <p:sldLayoutId id="2147483673" r:id="rId8"/>
    <p:sldLayoutId id="2147483660" r:id="rId9"/>
    <p:sldLayoutId id="2147483710" r:id="rId10"/>
    <p:sldLayoutId id="2147483720" r:id="rId11"/>
    <p:sldLayoutId id="2147483725" r:id="rId12"/>
    <p:sldLayoutId id="2147483726" r:id="rId13"/>
    <p:sldLayoutId id="2147483727" r:id="rId14"/>
    <p:sldLayoutId id="2147483728" r:id="rId15"/>
    <p:sldLayoutId id="2147483729" r:id="rId16"/>
    <p:sldLayoutId id="2147483666" r:id="rId17"/>
    <p:sldLayoutId id="2147483732" r:id="rId18"/>
    <p:sldLayoutId id="2147483709" r:id="rId19"/>
  </p:sldLayoutIdLst>
  <p:hf sldNum="0" hdr="0" dt="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emf"/><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0" y="0"/>
            <a:ext cx="9144000" cy="1159200"/>
          </a:xfrm>
        </p:spPr>
        <p:txBody>
          <a:bodyPr/>
          <a:lstStyle/>
          <a:p>
            <a:endParaRPr lang="da-DK"/>
          </a:p>
        </p:txBody>
      </p:sp>
      <p:sp>
        <p:nvSpPr>
          <p:cNvPr id="10" name="Text Placeholder 9"/>
          <p:cNvSpPr>
            <a:spLocks noGrp="1"/>
          </p:cNvSpPr>
          <p:nvPr>
            <p:ph type="body" sz="quarter" idx="11"/>
          </p:nvPr>
        </p:nvSpPr>
        <p:spPr/>
        <p:txBody>
          <a:bodyPr/>
          <a:lstStyle/>
          <a:p>
            <a:endParaRPr lang="da-DK" dirty="0"/>
          </a:p>
        </p:txBody>
      </p:sp>
      <p:sp>
        <p:nvSpPr>
          <p:cNvPr id="7" name="Title 6"/>
          <p:cNvSpPr>
            <a:spLocks noGrp="1"/>
          </p:cNvSpPr>
          <p:nvPr>
            <p:ph type="ctrTitle"/>
          </p:nvPr>
        </p:nvSpPr>
        <p:spPr>
          <a:xfrm>
            <a:off x="256095" y="968400"/>
            <a:ext cx="8307388" cy="1157378"/>
          </a:xfrm>
        </p:spPr>
        <p:txBody>
          <a:bodyPr/>
          <a:lstStyle/>
          <a:p>
            <a:r>
              <a:rPr lang="da-DK" dirty="0"/>
              <a:t>Data analysis of ”Porto de Mos” integrated supermarket</a:t>
            </a:r>
          </a:p>
        </p:txBody>
      </p:sp>
      <p:sp>
        <p:nvSpPr>
          <p:cNvPr id="8" name="Subtitle 7"/>
          <p:cNvSpPr>
            <a:spLocks noGrp="1"/>
          </p:cNvSpPr>
          <p:nvPr>
            <p:ph type="subTitle" idx="1"/>
          </p:nvPr>
        </p:nvSpPr>
        <p:spPr>
          <a:xfrm>
            <a:off x="835025" y="5516562"/>
            <a:ext cx="8308975" cy="739679"/>
          </a:xfrm>
        </p:spPr>
        <p:txBody>
          <a:bodyPr/>
          <a:lstStyle/>
          <a:p>
            <a:r>
              <a:rPr lang="da-DK" dirty="0">
                <a:solidFill>
                  <a:schemeClr val="tx2">
                    <a:lumMod val="50000"/>
                  </a:schemeClr>
                </a:solidFill>
              </a:rPr>
              <a:t>Presenter:</a:t>
            </a:r>
          </a:p>
          <a:p>
            <a:r>
              <a:rPr lang="da-DK" dirty="0">
                <a:solidFill>
                  <a:schemeClr val="tx2">
                    <a:lumMod val="50000"/>
                  </a:schemeClr>
                </a:solidFill>
              </a:rPr>
              <a:t>  Vahid Khorshidi</a:t>
            </a:r>
          </a:p>
        </p:txBody>
      </p:sp>
      <p:pic>
        <p:nvPicPr>
          <p:cNvPr id="16" name="Picture Placeholder 15" descr="Research">
            <a:extLst>
              <a:ext uri="{FF2B5EF4-FFF2-40B4-BE49-F238E27FC236}">
                <a16:creationId xmlns:a16="http://schemas.microsoft.com/office/drawing/2014/main" id="{E06DA18E-3A3E-43DC-ABB9-288F81DDE2F3}"/>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131" b="3927"/>
          <a:stretch/>
        </p:blipFill>
        <p:spPr>
          <a:xfrm>
            <a:off x="2326641" y="1847600"/>
            <a:ext cx="7028502" cy="5010400"/>
          </a:xfrm>
        </p:spPr>
      </p:pic>
      <p:pic>
        <p:nvPicPr>
          <p:cNvPr id="11" name="Picture 10">
            <a:extLst>
              <a:ext uri="{FF2B5EF4-FFF2-40B4-BE49-F238E27FC236}">
                <a16:creationId xmlns:a16="http://schemas.microsoft.com/office/drawing/2014/main" id="{2820C3BF-F4FE-413F-A487-A26EAD106A7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871" b="88710" l="6452" r="89785">
                        <a14:foregroundMark x1="43280" y1="46774" x2="43280" y2="46774"/>
                        <a14:foregroundMark x1="58065" y1="46774" x2="58065" y2="46774"/>
                        <a14:foregroundMark x1="69086" y1="45161" x2="69086" y2="45161"/>
                        <a14:foregroundMark x1="81720" y1="60484" x2="81720" y2="60484"/>
                        <a14:foregroundMark x1="41667" y1="21774" x2="41667" y2="21774"/>
                        <a14:foregroundMark x1="50806" y1="20161" x2="50806" y2="20161"/>
                        <a14:foregroundMark x1="56989" y1="17742" x2="56989" y2="17742"/>
                        <a14:foregroundMark x1="59946" y1="18548" x2="59946" y2="18548"/>
                        <a14:foregroundMark x1="63172" y1="19355" x2="63172" y2="19355"/>
                        <a14:foregroundMark x1="63172" y1="8871" x2="63172" y2="8871"/>
                        <a14:foregroundMark x1="28763" y1="37097" x2="28763" y2="37097"/>
                        <a14:foregroundMark x1="19624" y1="39516" x2="19624" y2="39516"/>
                        <a14:foregroundMark x1="9946" y1="15323" x2="9946" y2="15323"/>
                        <a14:foregroundMark x1="6452" y1="11290" x2="6452" y2="11290"/>
                      </a14:backgroundRemoval>
                    </a14:imgEffect>
                  </a14:imgLayer>
                </a14:imgProps>
              </a:ext>
            </a:extLst>
          </a:blip>
          <a:stretch>
            <a:fillRect/>
          </a:stretch>
        </p:blipFill>
        <p:spPr>
          <a:xfrm>
            <a:off x="4409789" y="2693195"/>
            <a:ext cx="2207413" cy="735805"/>
          </a:xfrm>
          <a:prstGeom prst="rect">
            <a:avLst/>
          </a:prstGeom>
        </p:spPr>
      </p:pic>
    </p:spTree>
    <p:extLst>
      <p:ext uri="{BB962C8B-B14F-4D97-AF65-F5344CB8AC3E}">
        <p14:creationId xmlns:p14="http://schemas.microsoft.com/office/powerpoint/2010/main" val="140875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5E0726-898E-4CCB-A73E-FFA354F68562}"/>
              </a:ext>
            </a:extLst>
          </p:cNvPr>
          <p:cNvPicPr>
            <a:picLocks noChangeAspect="1"/>
          </p:cNvPicPr>
          <p:nvPr/>
        </p:nvPicPr>
        <p:blipFill rotWithShape="1">
          <a:blip r:embed="rId2"/>
          <a:srcRect l="16416" t="14982" r="15833" b="5079"/>
          <a:stretch/>
        </p:blipFill>
        <p:spPr>
          <a:xfrm>
            <a:off x="0" y="471296"/>
            <a:ext cx="8973214" cy="5862392"/>
          </a:xfrm>
          <a:prstGeom prst="rect">
            <a:avLst/>
          </a:prstGeom>
        </p:spPr>
      </p:pic>
      <p:sp>
        <p:nvSpPr>
          <p:cNvPr id="8" name="Title 1">
            <a:extLst>
              <a:ext uri="{FF2B5EF4-FFF2-40B4-BE49-F238E27FC236}">
                <a16:creationId xmlns:a16="http://schemas.microsoft.com/office/drawing/2014/main" id="{24045782-038F-4B9D-9104-08A04BA7ACAD}"/>
              </a:ext>
            </a:extLst>
          </p:cNvPr>
          <p:cNvSpPr>
            <a:spLocks noGrp="1"/>
          </p:cNvSpPr>
          <p:nvPr>
            <p:ph type="title"/>
          </p:nvPr>
        </p:nvSpPr>
        <p:spPr>
          <a:xfrm>
            <a:off x="209549" y="191103"/>
            <a:ext cx="8724901" cy="560387"/>
          </a:xfrm>
        </p:spPr>
        <p:txBody>
          <a:bodyPr/>
          <a:lstStyle/>
          <a:p>
            <a:r>
              <a:rPr lang="en-GB" dirty="0"/>
              <a:t>Porto de </a:t>
            </a:r>
            <a:r>
              <a:rPr lang="en-GB" dirty="0" err="1"/>
              <a:t>Mos</a:t>
            </a:r>
            <a:r>
              <a:rPr lang="en-GB" dirty="0"/>
              <a:t> supermarket PID:</a:t>
            </a:r>
          </a:p>
        </p:txBody>
      </p:sp>
      <p:sp>
        <p:nvSpPr>
          <p:cNvPr id="12" name="Oval 11">
            <a:extLst>
              <a:ext uri="{FF2B5EF4-FFF2-40B4-BE49-F238E27FC236}">
                <a16:creationId xmlns:a16="http://schemas.microsoft.com/office/drawing/2014/main" id="{772D9462-2821-4D09-B3CF-93EA782E3732}"/>
              </a:ext>
            </a:extLst>
          </p:cNvPr>
          <p:cNvSpPr/>
          <p:nvPr/>
        </p:nvSpPr>
        <p:spPr>
          <a:xfrm>
            <a:off x="4359607" y="1769845"/>
            <a:ext cx="254000" cy="269240"/>
          </a:xfrm>
          <a:prstGeom prst="ellipse">
            <a:avLst/>
          </a:prstGeom>
          <a:solidFill>
            <a:srgbClr val="FFC000">
              <a:alpha val="40000"/>
            </a:srgbClr>
          </a:solidFill>
          <a:ln w="9525">
            <a:solidFill>
              <a:srgbClr val="ED6703">
                <a:alpha val="56078"/>
              </a:srgbClr>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sp>
        <p:nvSpPr>
          <p:cNvPr id="13" name="Oval 12">
            <a:extLst>
              <a:ext uri="{FF2B5EF4-FFF2-40B4-BE49-F238E27FC236}">
                <a16:creationId xmlns:a16="http://schemas.microsoft.com/office/drawing/2014/main" id="{8BD362C8-55CD-46B8-A807-800984521738}"/>
              </a:ext>
            </a:extLst>
          </p:cNvPr>
          <p:cNvSpPr/>
          <p:nvPr/>
        </p:nvSpPr>
        <p:spPr>
          <a:xfrm>
            <a:off x="7322759" y="3220656"/>
            <a:ext cx="254000" cy="269240"/>
          </a:xfrm>
          <a:prstGeom prst="ellipse">
            <a:avLst/>
          </a:prstGeom>
          <a:solidFill>
            <a:srgbClr val="00B0F0">
              <a:alpha val="20000"/>
            </a:srgbClr>
          </a:solidFill>
          <a:ln w="9525">
            <a:solidFill>
              <a:srgbClr val="0070C0">
                <a:alpha val="56078"/>
              </a:srgb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sp>
        <p:nvSpPr>
          <p:cNvPr id="14" name="Oval 13">
            <a:extLst>
              <a:ext uri="{FF2B5EF4-FFF2-40B4-BE49-F238E27FC236}">
                <a16:creationId xmlns:a16="http://schemas.microsoft.com/office/drawing/2014/main" id="{9276B3E0-48B0-4341-8FE9-F671077F6577}"/>
              </a:ext>
            </a:extLst>
          </p:cNvPr>
          <p:cNvSpPr/>
          <p:nvPr/>
        </p:nvSpPr>
        <p:spPr>
          <a:xfrm>
            <a:off x="6520054" y="3220656"/>
            <a:ext cx="254000" cy="269240"/>
          </a:xfrm>
          <a:prstGeom prst="ellipse">
            <a:avLst/>
          </a:prstGeom>
          <a:solidFill>
            <a:srgbClr val="00B0F0">
              <a:alpha val="20000"/>
            </a:srgbClr>
          </a:solidFill>
          <a:ln w="9525">
            <a:solidFill>
              <a:srgbClr val="0070C0">
                <a:alpha val="56078"/>
              </a:srgb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sp>
        <p:nvSpPr>
          <p:cNvPr id="15" name="Oval 14">
            <a:extLst>
              <a:ext uri="{FF2B5EF4-FFF2-40B4-BE49-F238E27FC236}">
                <a16:creationId xmlns:a16="http://schemas.microsoft.com/office/drawing/2014/main" id="{5FA05612-38CF-4E78-8A8D-83F093576F1B}"/>
              </a:ext>
            </a:extLst>
          </p:cNvPr>
          <p:cNvSpPr/>
          <p:nvPr/>
        </p:nvSpPr>
        <p:spPr>
          <a:xfrm>
            <a:off x="6991105" y="5720162"/>
            <a:ext cx="254000" cy="269240"/>
          </a:xfrm>
          <a:prstGeom prst="ellipse">
            <a:avLst/>
          </a:prstGeom>
          <a:solidFill>
            <a:srgbClr val="00B0F0">
              <a:alpha val="20000"/>
            </a:srgbClr>
          </a:solidFill>
          <a:ln w="9525">
            <a:solidFill>
              <a:srgbClr val="0070C0">
                <a:alpha val="56078"/>
              </a:srgb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sp>
        <p:nvSpPr>
          <p:cNvPr id="16" name="Oval 15">
            <a:extLst>
              <a:ext uri="{FF2B5EF4-FFF2-40B4-BE49-F238E27FC236}">
                <a16:creationId xmlns:a16="http://schemas.microsoft.com/office/drawing/2014/main" id="{CA0C2F23-8CD3-4875-9A65-7FE1C1C2A632}"/>
              </a:ext>
            </a:extLst>
          </p:cNvPr>
          <p:cNvSpPr/>
          <p:nvPr/>
        </p:nvSpPr>
        <p:spPr>
          <a:xfrm>
            <a:off x="979784" y="1115568"/>
            <a:ext cx="273222" cy="188976"/>
          </a:xfrm>
          <a:prstGeom prst="ellipse">
            <a:avLst/>
          </a:prstGeom>
          <a:solidFill>
            <a:srgbClr val="FFC000">
              <a:alpha val="40000"/>
            </a:srgbClr>
          </a:solidFill>
          <a:ln w="9525">
            <a:solidFill>
              <a:srgbClr val="ED6703">
                <a:alpha val="56078"/>
              </a:srgbClr>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sp>
        <p:nvSpPr>
          <p:cNvPr id="17" name="Oval 16">
            <a:extLst>
              <a:ext uri="{FF2B5EF4-FFF2-40B4-BE49-F238E27FC236}">
                <a16:creationId xmlns:a16="http://schemas.microsoft.com/office/drawing/2014/main" id="{6EAAACCC-A96A-466A-B75B-9F8E3DA8248A}"/>
              </a:ext>
            </a:extLst>
          </p:cNvPr>
          <p:cNvSpPr/>
          <p:nvPr/>
        </p:nvSpPr>
        <p:spPr>
          <a:xfrm>
            <a:off x="1301774" y="5829666"/>
            <a:ext cx="254000" cy="269240"/>
          </a:xfrm>
          <a:prstGeom prst="ellipse">
            <a:avLst/>
          </a:prstGeom>
          <a:solidFill>
            <a:srgbClr val="FFC000">
              <a:alpha val="40000"/>
            </a:srgbClr>
          </a:solidFill>
          <a:ln w="9525">
            <a:solidFill>
              <a:srgbClr val="ED6703">
                <a:alpha val="56078"/>
              </a:srgbClr>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sp>
        <p:nvSpPr>
          <p:cNvPr id="18" name="Oval 17">
            <a:extLst>
              <a:ext uri="{FF2B5EF4-FFF2-40B4-BE49-F238E27FC236}">
                <a16:creationId xmlns:a16="http://schemas.microsoft.com/office/drawing/2014/main" id="{6BD16EEB-5AEE-433C-9F02-A567F9269600}"/>
              </a:ext>
            </a:extLst>
          </p:cNvPr>
          <p:cNvSpPr/>
          <p:nvPr/>
        </p:nvSpPr>
        <p:spPr>
          <a:xfrm>
            <a:off x="2781530" y="5095607"/>
            <a:ext cx="254000" cy="269240"/>
          </a:xfrm>
          <a:prstGeom prst="ellipse">
            <a:avLst/>
          </a:prstGeom>
          <a:solidFill>
            <a:srgbClr val="FFC000">
              <a:alpha val="40000"/>
            </a:srgbClr>
          </a:solidFill>
          <a:ln w="9525">
            <a:solidFill>
              <a:srgbClr val="ED6703">
                <a:alpha val="56078"/>
              </a:srgbClr>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pic>
        <p:nvPicPr>
          <p:cNvPr id="19" name="Picture 18">
            <a:extLst>
              <a:ext uri="{FF2B5EF4-FFF2-40B4-BE49-F238E27FC236}">
                <a16:creationId xmlns:a16="http://schemas.microsoft.com/office/drawing/2014/main" id="{BE5F5CC0-B795-4843-928D-2B2CB790DEC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871" b="88710" l="6452" r="89785">
                        <a14:foregroundMark x1="43280" y1="46774" x2="43280" y2="46774"/>
                        <a14:foregroundMark x1="58065" y1="46774" x2="58065" y2="46774"/>
                        <a14:foregroundMark x1="69086" y1="45161" x2="69086" y2="45161"/>
                        <a14:foregroundMark x1="81720" y1="60484" x2="81720" y2="60484"/>
                        <a14:foregroundMark x1="41667" y1="21774" x2="41667" y2="21774"/>
                        <a14:foregroundMark x1="50806" y1="20161" x2="50806" y2="20161"/>
                        <a14:foregroundMark x1="56989" y1="17742" x2="56989" y2="17742"/>
                        <a14:foregroundMark x1="59946" y1="18548" x2="59946" y2="18548"/>
                        <a14:foregroundMark x1="63172" y1="19355" x2="63172" y2="19355"/>
                        <a14:foregroundMark x1="63172" y1="8871" x2="63172" y2="8871"/>
                        <a14:foregroundMark x1="28763" y1="37097" x2="28763" y2="37097"/>
                        <a14:foregroundMark x1="19624" y1="39516" x2="19624" y2="39516"/>
                        <a14:foregroundMark x1="9946" y1="15323" x2="9946" y2="15323"/>
                        <a14:foregroundMark x1="6452" y1="11290" x2="6452" y2="11290"/>
                      </a14:backgroundRemoval>
                    </a14:imgEffect>
                  </a14:imgLayer>
                </a14:imgProps>
              </a:ext>
            </a:extLst>
          </a:blip>
          <a:stretch>
            <a:fillRect/>
          </a:stretch>
        </p:blipFill>
        <p:spPr>
          <a:xfrm>
            <a:off x="6936587" y="132793"/>
            <a:ext cx="2207413" cy="735805"/>
          </a:xfrm>
          <a:prstGeom prst="rect">
            <a:avLst/>
          </a:prstGeom>
        </p:spPr>
      </p:pic>
    </p:spTree>
    <p:extLst>
      <p:ext uri="{BB962C8B-B14F-4D97-AF65-F5344CB8AC3E}">
        <p14:creationId xmlns:p14="http://schemas.microsoft.com/office/powerpoint/2010/main" val="62559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69434" y="639661"/>
            <a:ext cx="8020225" cy="5003194"/>
          </a:xfrm>
        </p:spPr>
        <p:txBody>
          <a:bodyPr/>
          <a:lstStyle/>
          <a:p>
            <a:pPr marL="0" indent="0">
              <a:buNone/>
            </a:pPr>
            <a:r>
              <a:rPr lang="en-US" sz="1600" dirty="0"/>
              <a:t>Scope : </a:t>
            </a:r>
          </a:p>
          <a:p>
            <a:pPr marL="0" indent="0">
              <a:buNone/>
            </a:pPr>
            <a:r>
              <a:rPr lang="en-US" sz="1600" dirty="0"/>
              <a:t>- System efficiency in different modes</a:t>
            </a:r>
          </a:p>
          <a:p>
            <a:pPr>
              <a:buFontTx/>
              <a:buChar char="-"/>
            </a:pPr>
            <a:r>
              <a:rPr lang="en-US" sz="1600" dirty="0"/>
              <a:t>Power consumption</a:t>
            </a:r>
          </a:p>
          <a:p>
            <a:pPr>
              <a:buFontTx/>
              <a:buChar char="-"/>
            </a:pPr>
            <a:r>
              <a:rPr lang="en-US" sz="1600" dirty="0"/>
              <a:t>Ejector performance. </a:t>
            </a:r>
          </a:p>
          <a:p>
            <a:pPr marL="0" indent="0">
              <a:buNone/>
            </a:pPr>
            <a:endParaRPr lang="en-US" sz="1600" dirty="0"/>
          </a:p>
          <a:p>
            <a:pPr marL="0" indent="0">
              <a:buNone/>
            </a:pPr>
            <a:r>
              <a:rPr lang="en-US" sz="1600" dirty="0"/>
              <a:t>Challenges :</a:t>
            </a:r>
          </a:p>
          <a:p>
            <a:pPr>
              <a:buFontTx/>
              <a:buChar char="-"/>
            </a:pPr>
            <a:r>
              <a:rPr lang="en-US" sz="1600" dirty="0"/>
              <a:t>Missing mass flow meter  for ejector suction and motive</a:t>
            </a:r>
          </a:p>
          <a:p>
            <a:pPr>
              <a:buFontTx/>
              <a:buChar char="-"/>
            </a:pPr>
            <a:r>
              <a:rPr lang="en-US" sz="1600" dirty="0"/>
              <a:t>Low quality of mass flow meters data  during specific weeks</a:t>
            </a:r>
          </a:p>
          <a:p>
            <a:pPr>
              <a:buFontTx/>
              <a:buChar char="-"/>
            </a:pPr>
            <a:r>
              <a:rPr lang="en-US" sz="1600" dirty="0"/>
              <a:t>Low frequency of data acquisition </a:t>
            </a:r>
          </a:p>
          <a:p>
            <a:pPr>
              <a:buFontTx/>
              <a:buChar char="-"/>
            </a:pPr>
            <a:endParaRPr lang="en-US" sz="1600" dirty="0"/>
          </a:p>
          <a:p>
            <a:pPr marL="0" indent="0">
              <a:buNone/>
            </a:pPr>
            <a:r>
              <a:rPr lang="en-US" sz="1600" dirty="0"/>
              <a:t>Approach :</a:t>
            </a:r>
          </a:p>
          <a:p>
            <a:pPr>
              <a:buFontTx/>
              <a:buChar char="-"/>
            </a:pPr>
            <a:r>
              <a:rPr lang="en-US" sz="1600" dirty="0"/>
              <a:t>Identify  accurate data measurement</a:t>
            </a:r>
          </a:p>
          <a:p>
            <a:pPr>
              <a:buFontTx/>
              <a:buChar char="-"/>
            </a:pPr>
            <a:r>
              <a:rPr lang="en-US" sz="1600" dirty="0"/>
              <a:t>Develop a data driven model of the  systems ( and  individual components) to generate  missing data for analysis </a:t>
            </a:r>
          </a:p>
          <a:p>
            <a:pPr>
              <a:buFontTx/>
              <a:buChar char="-"/>
            </a:pPr>
            <a:r>
              <a:rPr lang="en-US" sz="1600" dirty="0"/>
              <a:t>Comparison and utilization of given function  for individual components (compressors , valves) </a:t>
            </a:r>
          </a:p>
          <a:p>
            <a:pPr>
              <a:buFontTx/>
              <a:buChar char="-"/>
            </a:pPr>
            <a:endParaRPr lang="en-US" sz="1600" dirty="0"/>
          </a:p>
        </p:txBody>
      </p:sp>
      <p:pic>
        <p:nvPicPr>
          <p:cNvPr id="3" name="Picture 2">
            <a:extLst>
              <a:ext uri="{FF2B5EF4-FFF2-40B4-BE49-F238E27FC236}">
                <a16:creationId xmlns:a16="http://schemas.microsoft.com/office/drawing/2014/main" id="{B2250EA3-F0EE-4E2F-A7AA-473D2F6DC67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871" b="88710" l="6452" r="89785">
                        <a14:foregroundMark x1="43280" y1="46774" x2="43280" y2="46774"/>
                        <a14:foregroundMark x1="58065" y1="46774" x2="58065" y2="46774"/>
                        <a14:foregroundMark x1="69086" y1="45161" x2="69086" y2="45161"/>
                        <a14:foregroundMark x1="81720" y1="60484" x2="81720" y2="60484"/>
                        <a14:foregroundMark x1="41667" y1="21774" x2="41667" y2="21774"/>
                        <a14:foregroundMark x1="50806" y1="20161" x2="50806" y2="20161"/>
                        <a14:foregroundMark x1="56989" y1="17742" x2="56989" y2="17742"/>
                        <a14:foregroundMark x1="59946" y1="18548" x2="59946" y2="18548"/>
                        <a14:foregroundMark x1="63172" y1="19355" x2="63172" y2="19355"/>
                        <a14:foregroundMark x1="63172" y1="8871" x2="63172" y2="8871"/>
                        <a14:foregroundMark x1="28763" y1="37097" x2="28763" y2="37097"/>
                        <a14:foregroundMark x1="19624" y1="39516" x2="19624" y2="39516"/>
                        <a14:foregroundMark x1="9946" y1="15323" x2="9946" y2="15323"/>
                        <a14:foregroundMark x1="6452" y1="11290" x2="6452" y2="11290"/>
                      </a14:backgroundRemoval>
                    </a14:imgEffect>
                  </a14:imgLayer>
                </a14:imgProps>
              </a:ext>
            </a:extLst>
          </a:blip>
          <a:stretch>
            <a:fillRect/>
          </a:stretch>
        </p:blipFill>
        <p:spPr>
          <a:xfrm>
            <a:off x="6848189" y="271758"/>
            <a:ext cx="2207413" cy="735805"/>
          </a:xfrm>
          <a:prstGeom prst="rect">
            <a:avLst/>
          </a:prstGeom>
        </p:spPr>
      </p:pic>
    </p:spTree>
    <p:extLst>
      <p:ext uri="{BB962C8B-B14F-4D97-AF65-F5344CB8AC3E}">
        <p14:creationId xmlns:p14="http://schemas.microsoft.com/office/powerpoint/2010/main" val="2511188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559DE-BDC8-4917-9DF0-2CF81F8F75E9}"/>
              </a:ext>
            </a:extLst>
          </p:cNvPr>
          <p:cNvSpPr>
            <a:spLocks noGrp="1"/>
          </p:cNvSpPr>
          <p:nvPr>
            <p:ph type="title"/>
          </p:nvPr>
        </p:nvSpPr>
        <p:spPr>
          <a:xfrm>
            <a:off x="209549" y="191103"/>
            <a:ext cx="8724901" cy="560387"/>
          </a:xfrm>
        </p:spPr>
        <p:txBody>
          <a:bodyPr/>
          <a:lstStyle/>
          <a:p>
            <a:r>
              <a:rPr lang="en-GB" dirty="0"/>
              <a:t>Challenges on combining CNR and Danfoss data</a:t>
            </a:r>
          </a:p>
        </p:txBody>
      </p:sp>
      <p:sp>
        <p:nvSpPr>
          <p:cNvPr id="3" name="Content Placeholder 2">
            <a:extLst>
              <a:ext uri="{FF2B5EF4-FFF2-40B4-BE49-F238E27FC236}">
                <a16:creationId xmlns:a16="http://schemas.microsoft.com/office/drawing/2014/main" id="{263432A2-53F1-4BB8-8E50-CB70C1A0410B}"/>
              </a:ext>
            </a:extLst>
          </p:cNvPr>
          <p:cNvSpPr>
            <a:spLocks noGrp="1"/>
          </p:cNvSpPr>
          <p:nvPr>
            <p:ph idx="1"/>
          </p:nvPr>
        </p:nvSpPr>
        <p:spPr>
          <a:xfrm>
            <a:off x="223424" y="471296"/>
            <a:ext cx="3397306" cy="1952542"/>
          </a:xfrm>
        </p:spPr>
        <p:txBody>
          <a:bodyPr/>
          <a:lstStyle/>
          <a:p>
            <a:pPr marL="0" indent="0">
              <a:buNone/>
            </a:pPr>
            <a:endParaRPr lang="en-GB" sz="1400" dirty="0"/>
          </a:p>
          <a:p>
            <a:r>
              <a:rPr lang="en-GB" sz="1400" dirty="0"/>
              <a:t>Data verification and comparison</a:t>
            </a:r>
          </a:p>
          <a:p>
            <a:r>
              <a:rPr lang="en-GB" sz="1400" dirty="0"/>
              <a:t>Date acquisition time </a:t>
            </a:r>
          </a:p>
          <a:p>
            <a:pPr lvl="1">
              <a:buFont typeface="Courier New" panose="02070309020205020404" pitchFamily="49" charset="0"/>
              <a:buChar char="o"/>
            </a:pPr>
            <a:r>
              <a:rPr lang="en-GB" sz="1200" dirty="0"/>
              <a:t>CNR :1 min </a:t>
            </a:r>
          </a:p>
          <a:p>
            <a:pPr lvl="1">
              <a:buFont typeface="Courier New" panose="02070309020205020404" pitchFamily="49" charset="0"/>
              <a:buChar char="o"/>
            </a:pPr>
            <a:r>
              <a:rPr lang="en-GB" sz="1200" dirty="0"/>
              <a:t>Danfoss controller: 2 min</a:t>
            </a:r>
          </a:p>
          <a:p>
            <a:r>
              <a:rPr lang="en-GB" sz="1400" dirty="0"/>
              <a:t>Best case data from two sources is 15 (s) apart:</a:t>
            </a:r>
          </a:p>
          <a:p>
            <a:pPr lvl="1">
              <a:buFont typeface="Courier New" panose="02070309020205020404" pitchFamily="49" charset="0"/>
              <a:buChar char="o"/>
            </a:pPr>
            <a:r>
              <a:rPr lang="en-GB" sz="1200" dirty="0"/>
              <a:t>11/07/2019 17:14:45  sample from CNR </a:t>
            </a:r>
          </a:p>
          <a:p>
            <a:pPr lvl="1">
              <a:buFont typeface="Courier New" panose="02070309020205020404" pitchFamily="49" charset="0"/>
              <a:buChar char="o"/>
            </a:pPr>
            <a:r>
              <a:rPr lang="en-GB" sz="1200" dirty="0"/>
              <a:t>11/07/2019 17:15:00  sample from Danfoss</a:t>
            </a:r>
          </a:p>
        </p:txBody>
      </p:sp>
      <p:pic>
        <p:nvPicPr>
          <p:cNvPr id="7" name="Picture 6">
            <a:extLst>
              <a:ext uri="{FF2B5EF4-FFF2-40B4-BE49-F238E27FC236}">
                <a16:creationId xmlns:a16="http://schemas.microsoft.com/office/drawing/2014/main" id="{868823FD-CA3C-4388-B625-DF2489EAD7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66950" y="3410369"/>
            <a:ext cx="4598778" cy="2624664"/>
          </a:xfrm>
          <a:prstGeom prst="rect">
            <a:avLst/>
          </a:prstGeom>
        </p:spPr>
      </p:pic>
      <p:pic>
        <p:nvPicPr>
          <p:cNvPr id="9" name="Picture 8">
            <a:extLst>
              <a:ext uri="{FF2B5EF4-FFF2-40B4-BE49-F238E27FC236}">
                <a16:creationId xmlns:a16="http://schemas.microsoft.com/office/drawing/2014/main" id="{31B31990-C70A-4046-9B06-11D4EDD23B2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0895" b="10842"/>
          <a:stretch/>
        </p:blipFill>
        <p:spPr>
          <a:xfrm>
            <a:off x="7178584" y="1037769"/>
            <a:ext cx="1965416" cy="2132586"/>
          </a:xfrm>
          <a:prstGeom prst="rect">
            <a:avLst/>
          </a:prstGeom>
        </p:spPr>
      </p:pic>
      <p:pic>
        <p:nvPicPr>
          <p:cNvPr id="11" name="Picture 10">
            <a:extLst>
              <a:ext uri="{FF2B5EF4-FFF2-40B4-BE49-F238E27FC236}">
                <a16:creationId xmlns:a16="http://schemas.microsoft.com/office/drawing/2014/main" id="{2F16F3D7-9E7B-4667-86A3-4B705CEE9D1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50922" b="16727"/>
          <a:stretch/>
        </p:blipFill>
        <p:spPr>
          <a:xfrm>
            <a:off x="4011930" y="1007998"/>
            <a:ext cx="2027086" cy="2192128"/>
          </a:xfrm>
          <a:prstGeom prst="rect">
            <a:avLst/>
          </a:prstGeom>
        </p:spPr>
      </p:pic>
      <p:sp>
        <p:nvSpPr>
          <p:cNvPr id="14" name="Title 1">
            <a:extLst>
              <a:ext uri="{FF2B5EF4-FFF2-40B4-BE49-F238E27FC236}">
                <a16:creationId xmlns:a16="http://schemas.microsoft.com/office/drawing/2014/main" id="{1594CAAB-2DB1-49A4-A94C-B310F51EF878}"/>
              </a:ext>
            </a:extLst>
          </p:cNvPr>
          <p:cNvSpPr txBox="1">
            <a:spLocks/>
          </p:cNvSpPr>
          <p:nvPr/>
        </p:nvSpPr>
        <p:spPr>
          <a:xfrm>
            <a:off x="5382996" y="848191"/>
            <a:ext cx="2651505" cy="294116"/>
          </a:xfrm>
          <a:prstGeom prst="rect">
            <a:avLst/>
          </a:prstGeom>
        </p:spPr>
        <p:style>
          <a:lnRef idx="1">
            <a:schemeClr val="accent1"/>
          </a:lnRef>
          <a:fillRef idx="2">
            <a:schemeClr val="accent1"/>
          </a:fillRef>
          <a:effectRef idx="1">
            <a:schemeClr val="accent1"/>
          </a:effectRef>
          <a:fontRef idx="minor">
            <a:schemeClr val="dk1"/>
          </a:fontRef>
        </p:style>
        <p:txBody>
          <a:bodyPr vert="horz" lIns="0" tIns="0" rIns="0" bIns="0" rtlCol="0" anchor="t" anchorCtr="0">
            <a:no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r>
              <a:rPr lang="en-GB" sz="1600" dirty="0">
                <a:solidFill>
                  <a:schemeClr val="accent2">
                    <a:lumMod val="60000"/>
                    <a:lumOff val="40000"/>
                  </a:schemeClr>
                </a:solidFill>
              </a:rPr>
              <a:t>Pressure at MT discharge</a:t>
            </a:r>
          </a:p>
        </p:txBody>
      </p:sp>
      <p:sp>
        <p:nvSpPr>
          <p:cNvPr id="15" name="Title 1">
            <a:extLst>
              <a:ext uri="{FF2B5EF4-FFF2-40B4-BE49-F238E27FC236}">
                <a16:creationId xmlns:a16="http://schemas.microsoft.com/office/drawing/2014/main" id="{6076520B-732D-42CE-978B-89135423AEB4}"/>
              </a:ext>
            </a:extLst>
          </p:cNvPr>
          <p:cNvSpPr txBox="1">
            <a:spLocks/>
          </p:cNvSpPr>
          <p:nvPr/>
        </p:nvSpPr>
        <p:spPr>
          <a:xfrm>
            <a:off x="4991554" y="3232596"/>
            <a:ext cx="3045512" cy="300126"/>
          </a:xfrm>
          <a:prstGeom prst="rect">
            <a:avLst/>
          </a:prstGeom>
        </p:spPr>
        <p:style>
          <a:lnRef idx="1">
            <a:schemeClr val="accent1"/>
          </a:lnRef>
          <a:fillRef idx="2">
            <a:schemeClr val="accent1"/>
          </a:fillRef>
          <a:effectRef idx="1">
            <a:schemeClr val="accent1"/>
          </a:effectRef>
          <a:fontRef idx="minor">
            <a:schemeClr val="dk1"/>
          </a:fontRef>
        </p:style>
        <p:txBody>
          <a:bodyPr vert="horz" lIns="0" tIns="0" rIns="0" bIns="0" rtlCol="0" anchor="t" anchorCtr="0">
            <a:noAutofit/>
          </a:bodyPr>
          <a:lstStyle>
            <a:defPPr>
              <a:defRPr lang="en-US"/>
            </a:defPPr>
            <a:lvl1pPr>
              <a:spcBef>
                <a:spcPct val="0"/>
              </a:spcBef>
              <a:buNone/>
              <a:defRPr sz="1600">
                <a:solidFill>
                  <a:schemeClr val="accent2">
                    <a:lumMod val="60000"/>
                    <a:lumOff val="40000"/>
                  </a:schemeClr>
                </a:solidFill>
                <a:latin typeface="+mj-lt"/>
                <a:ea typeface="+mj-ea"/>
                <a:cs typeface="+mj-cs"/>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GB" dirty="0"/>
              <a:t>Temperature at MT discharge</a:t>
            </a:r>
          </a:p>
        </p:txBody>
      </p:sp>
      <p:sp>
        <p:nvSpPr>
          <p:cNvPr id="16" name="Arrow: Right 15">
            <a:extLst>
              <a:ext uri="{FF2B5EF4-FFF2-40B4-BE49-F238E27FC236}">
                <a16:creationId xmlns:a16="http://schemas.microsoft.com/office/drawing/2014/main" id="{692DDF89-963D-4CFD-AE9E-6CEF6EF9FDDB}"/>
              </a:ext>
            </a:extLst>
          </p:cNvPr>
          <p:cNvSpPr/>
          <p:nvPr/>
        </p:nvSpPr>
        <p:spPr>
          <a:xfrm>
            <a:off x="6048411" y="1504676"/>
            <a:ext cx="1001318" cy="1543324"/>
          </a:xfrm>
          <a:prstGeom prst="rightArrow">
            <a:avLst/>
          </a:prstGeom>
          <a:solidFill>
            <a:srgbClr val="FF0000"/>
          </a:solidFill>
          <a:ln>
            <a:solidFill>
              <a:schemeClr val="bg2">
                <a:lumMod val="20000"/>
                <a:lumOff val="80000"/>
              </a:schemeClr>
            </a:solid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a-DK" sz="900" noProof="0" dirty="0">
                <a:ln w="0"/>
                <a:solidFill>
                  <a:schemeClr val="tx1"/>
                </a:solidFill>
                <a:effectLst>
                  <a:outerShdw blurRad="38100" dist="19050" dir="2700000" algn="tl" rotWithShape="0">
                    <a:schemeClr val="dk1">
                      <a:alpha val="40000"/>
                    </a:schemeClr>
                  </a:outerShdw>
                </a:effectLst>
              </a:rPr>
              <a:t>Time lag corrected</a:t>
            </a:r>
          </a:p>
        </p:txBody>
      </p:sp>
      <p:sp>
        <p:nvSpPr>
          <p:cNvPr id="19" name="Content Placeholder 2">
            <a:extLst>
              <a:ext uri="{FF2B5EF4-FFF2-40B4-BE49-F238E27FC236}">
                <a16:creationId xmlns:a16="http://schemas.microsoft.com/office/drawing/2014/main" id="{ECBCC385-EB9F-4755-BB3C-34320100482A}"/>
              </a:ext>
            </a:extLst>
          </p:cNvPr>
          <p:cNvSpPr txBox="1">
            <a:spLocks/>
          </p:cNvSpPr>
          <p:nvPr/>
        </p:nvSpPr>
        <p:spPr>
          <a:xfrm>
            <a:off x="83834" y="3226333"/>
            <a:ext cx="3536896" cy="5247338"/>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400" dirty="0"/>
              <a:t>Temperature and pressure log measured shows the absolute times of one source is not matching with real time.</a:t>
            </a:r>
          </a:p>
          <a:p>
            <a:r>
              <a:rPr lang="en-GB" sz="1400" dirty="0"/>
              <a:t>Based on several T and P comparison at same sensor position, a time lag for each week is calculated and applied to synchronize data.</a:t>
            </a:r>
          </a:p>
          <a:p>
            <a:r>
              <a:rPr lang="en-GB" sz="1400" dirty="0"/>
              <a:t>Measurement from both sources contained some rows of “</a:t>
            </a:r>
            <a:r>
              <a:rPr lang="en-GB" sz="1400" dirty="0" err="1"/>
              <a:t>NaN</a:t>
            </a:r>
            <a:r>
              <a:rPr lang="en-GB" sz="1400" dirty="0"/>
              <a:t>”, “Not recorded”, “Missing” or “0” values that should be taken out from both data sets to keep times synced. </a:t>
            </a:r>
          </a:p>
          <a:p>
            <a:pPr marL="0" indent="0">
              <a:buNone/>
            </a:pPr>
            <a:endParaRPr lang="en-GB" sz="1400" dirty="0"/>
          </a:p>
        </p:txBody>
      </p:sp>
      <p:sp>
        <p:nvSpPr>
          <p:cNvPr id="6" name="Rectangle 5">
            <a:extLst>
              <a:ext uri="{FF2B5EF4-FFF2-40B4-BE49-F238E27FC236}">
                <a16:creationId xmlns:a16="http://schemas.microsoft.com/office/drawing/2014/main" id="{732F684C-18C2-4D16-8395-3383F749AA29}"/>
              </a:ext>
            </a:extLst>
          </p:cNvPr>
          <p:cNvSpPr/>
          <p:nvPr/>
        </p:nvSpPr>
        <p:spPr>
          <a:xfrm>
            <a:off x="3760173" y="5903628"/>
            <a:ext cx="5508273" cy="430887"/>
          </a:xfrm>
          <a:prstGeom prst="rect">
            <a:avLst/>
          </a:prstGeom>
        </p:spPr>
        <p:txBody>
          <a:bodyPr wrap="square">
            <a:spAutoFit/>
          </a:bodyPr>
          <a:lstStyle/>
          <a:p>
            <a:r>
              <a:rPr lang="da-DK" sz="1100" dirty="0">
                <a:highlight>
                  <a:srgbClr val="00FFFF"/>
                </a:highlight>
              </a:rPr>
              <a:t>Time refrence for datetime conversion to seconds (t0) for all graphs is  ”17:00:00  11/07/2019” (datetime format: " %H:%M:%S %d/%m/%Y”)</a:t>
            </a:r>
          </a:p>
        </p:txBody>
      </p:sp>
    </p:spTree>
    <p:extLst>
      <p:ext uri="{BB962C8B-B14F-4D97-AF65-F5344CB8AC3E}">
        <p14:creationId xmlns:p14="http://schemas.microsoft.com/office/powerpoint/2010/main" val="408954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559DE-BDC8-4917-9DF0-2CF81F8F75E9}"/>
              </a:ext>
            </a:extLst>
          </p:cNvPr>
          <p:cNvSpPr>
            <a:spLocks noGrp="1"/>
          </p:cNvSpPr>
          <p:nvPr>
            <p:ph type="title"/>
          </p:nvPr>
        </p:nvSpPr>
        <p:spPr>
          <a:xfrm>
            <a:off x="209549" y="191103"/>
            <a:ext cx="8724901" cy="560387"/>
          </a:xfrm>
        </p:spPr>
        <p:txBody>
          <a:bodyPr/>
          <a:lstStyle/>
          <a:p>
            <a:r>
              <a:rPr lang="en-GB" dirty="0"/>
              <a:t>Challenges on combining CNR and Danfoss data</a:t>
            </a:r>
          </a:p>
        </p:txBody>
      </p:sp>
      <p:sp>
        <p:nvSpPr>
          <p:cNvPr id="19" name="Content Placeholder 2">
            <a:extLst>
              <a:ext uri="{FF2B5EF4-FFF2-40B4-BE49-F238E27FC236}">
                <a16:creationId xmlns:a16="http://schemas.microsoft.com/office/drawing/2014/main" id="{ECBCC385-EB9F-4755-BB3C-34320100482A}"/>
              </a:ext>
            </a:extLst>
          </p:cNvPr>
          <p:cNvSpPr txBox="1">
            <a:spLocks/>
          </p:cNvSpPr>
          <p:nvPr/>
        </p:nvSpPr>
        <p:spPr>
          <a:xfrm>
            <a:off x="169135" y="962962"/>
            <a:ext cx="2277542" cy="5247338"/>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400" dirty="0"/>
              <a:t>AC mass flow rate(M1 and M5) comparison with  “CCMT16” expansion valve opening degrees and </a:t>
            </a:r>
            <a:r>
              <a:rPr lang="en-GB" sz="1400" dirty="0" err="1"/>
              <a:t>CoolSelector</a:t>
            </a:r>
            <a:r>
              <a:rPr lang="en-GB" sz="1400" baseline="30000" dirty="0"/>
              <a:t>®</a:t>
            </a:r>
            <a:r>
              <a:rPr lang="en-GB" sz="1400" dirty="0"/>
              <a:t> functions. </a:t>
            </a:r>
          </a:p>
          <a:p>
            <a:endParaRPr lang="en-GB" sz="1400" dirty="0"/>
          </a:p>
          <a:p>
            <a:endParaRPr lang="en-GB" sz="1400" dirty="0"/>
          </a:p>
          <a:p>
            <a:endParaRPr lang="en-GB" sz="1400" u="sng" dirty="0"/>
          </a:p>
          <a:p>
            <a:pPr marL="0" indent="0">
              <a:buNone/>
            </a:pPr>
            <a:endParaRPr lang="en-GB" sz="1400" dirty="0"/>
          </a:p>
          <a:p>
            <a:pPr marL="0" indent="0">
              <a:buNone/>
            </a:pPr>
            <a:endParaRPr lang="en-GB" sz="1400" dirty="0"/>
          </a:p>
          <a:p>
            <a:r>
              <a:rPr lang="en-GB" sz="1400" dirty="0"/>
              <a:t>High pressure valve mass flow rate was estimated using motor operated high pressure valve “ICMTS 20-B” using </a:t>
            </a:r>
            <a:r>
              <a:rPr lang="en-GB" sz="1400" dirty="0" err="1"/>
              <a:t>CoolSelector</a:t>
            </a:r>
            <a:r>
              <a:rPr lang="en-GB" sz="1400" baseline="30000" dirty="0"/>
              <a:t>®</a:t>
            </a:r>
            <a:r>
              <a:rPr lang="en-GB" sz="1400" dirty="0"/>
              <a:t> function. Compared with week 33.(No ejector mode)</a:t>
            </a:r>
          </a:p>
          <a:p>
            <a:pPr marL="0" indent="0">
              <a:buNone/>
            </a:pPr>
            <a:endParaRPr lang="en-GB" sz="1400" dirty="0"/>
          </a:p>
          <a:p>
            <a:pPr marL="0" indent="0">
              <a:buNone/>
            </a:pPr>
            <a:endParaRPr lang="en-GB" sz="1400" dirty="0"/>
          </a:p>
          <a:p>
            <a:pPr marL="0" indent="0">
              <a:buNone/>
            </a:pPr>
            <a:endParaRPr lang="en-GB" sz="1400" dirty="0"/>
          </a:p>
        </p:txBody>
      </p:sp>
      <p:sp>
        <p:nvSpPr>
          <p:cNvPr id="23" name="Arrow: Right 22">
            <a:extLst>
              <a:ext uri="{FF2B5EF4-FFF2-40B4-BE49-F238E27FC236}">
                <a16:creationId xmlns:a16="http://schemas.microsoft.com/office/drawing/2014/main" id="{3C88AE36-CBAB-4EC2-8733-D1735BBBA257}"/>
              </a:ext>
            </a:extLst>
          </p:cNvPr>
          <p:cNvSpPr/>
          <p:nvPr/>
        </p:nvSpPr>
        <p:spPr>
          <a:xfrm>
            <a:off x="2883311" y="4903839"/>
            <a:ext cx="1519084" cy="623493"/>
          </a:xfrm>
          <a:prstGeom prst="rightArrow">
            <a:avLst/>
          </a:prstGeom>
        </p:spPr>
        <p:style>
          <a:lnRef idx="1">
            <a:schemeClr val="accent1"/>
          </a:lnRef>
          <a:fillRef idx="2">
            <a:schemeClr val="accent1"/>
          </a:fillRef>
          <a:effectRef idx="1">
            <a:schemeClr val="accent1"/>
          </a:effectRef>
          <a:fontRef idx="minor">
            <a:schemeClr val="dk1"/>
          </a:fontRef>
        </p:style>
        <p:txBody>
          <a:bodyPr vert="horz" lIns="0" tIns="0" rIns="0" bIns="0" rtlCol="0" anchor="t" anchorCtr="0">
            <a:noAutofit/>
          </a:bodyPr>
          <a:lstStyle/>
          <a:p>
            <a:pPr>
              <a:spcBef>
                <a:spcPct val="0"/>
              </a:spcBef>
            </a:pPr>
            <a:endParaRPr lang="da-DK" sz="1600" dirty="0">
              <a:solidFill>
                <a:schemeClr val="accent2">
                  <a:lumMod val="60000"/>
                  <a:lumOff val="40000"/>
                </a:schemeClr>
              </a:solidFill>
              <a:latin typeface="+mj-lt"/>
              <a:ea typeface="+mj-ea"/>
              <a:cs typeface="+mj-cs"/>
            </a:endParaRPr>
          </a:p>
        </p:txBody>
      </p:sp>
      <p:pic>
        <p:nvPicPr>
          <p:cNvPr id="6" name="Picture 5">
            <a:extLst>
              <a:ext uri="{FF2B5EF4-FFF2-40B4-BE49-F238E27FC236}">
                <a16:creationId xmlns:a16="http://schemas.microsoft.com/office/drawing/2014/main" id="{224400F4-A3EB-4A72-89B8-441138D7907F}"/>
              </a:ext>
            </a:extLst>
          </p:cNvPr>
          <p:cNvPicPr>
            <a:picLocks noChangeAspect="1"/>
          </p:cNvPicPr>
          <p:nvPr/>
        </p:nvPicPr>
        <p:blipFill>
          <a:blip r:embed="rId2"/>
          <a:stretch>
            <a:fillRect/>
          </a:stretch>
        </p:blipFill>
        <p:spPr>
          <a:xfrm>
            <a:off x="4669214" y="4077928"/>
            <a:ext cx="4056222" cy="2043327"/>
          </a:xfrm>
          <a:prstGeom prst="rect">
            <a:avLst/>
          </a:prstGeom>
        </p:spPr>
      </p:pic>
      <p:sp>
        <p:nvSpPr>
          <p:cNvPr id="8" name="Arrow: Bent 7">
            <a:extLst>
              <a:ext uri="{FF2B5EF4-FFF2-40B4-BE49-F238E27FC236}">
                <a16:creationId xmlns:a16="http://schemas.microsoft.com/office/drawing/2014/main" id="{3937A4E9-0801-4154-B9C5-BCA6D1FD5864}"/>
              </a:ext>
            </a:extLst>
          </p:cNvPr>
          <p:cNvSpPr/>
          <p:nvPr/>
        </p:nvSpPr>
        <p:spPr>
          <a:xfrm flipV="1">
            <a:off x="863657" y="2585564"/>
            <a:ext cx="1583020" cy="1086784"/>
          </a:xfrm>
          <a:prstGeom prst="bentArrow">
            <a:avLst>
              <a:gd name="adj1" fmla="val 25000"/>
              <a:gd name="adj2" fmla="val 37712"/>
              <a:gd name="adj3" fmla="val 40254"/>
              <a:gd name="adj4" fmla="val 43750"/>
            </a:avLst>
          </a:prstGeom>
        </p:spPr>
        <p:style>
          <a:lnRef idx="1">
            <a:schemeClr val="accent1"/>
          </a:lnRef>
          <a:fillRef idx="2">
            <a:schemeClr val="accent1"/>
          </a:fillRef>
          <a:effectRef idx="1">
            <a:schemeClr val="accent1"/>
          </a:effectRef>
          <a:fontRef idx="minor">
            <a:schemeClr val="dk1"/>
          </a:fontRef>
        </p:style>
        <p:txBody>
          <a:bodyPr vert="horz" lIns="0" tIns="0" rIns="0" bIns="0" rtlCol="0" anchor="t" anchorCtr="0">
            <a:noAutofit/>
          </a:bodyPr>
          <a:lstStyle/>
          <a:p>
            <a:pPr>
              <a:spcBef>
                <a:spcPct val="0"/>
              </a:spcBef>
            </a:pPr>
            <a:endParaRPr lang="da-DK" sz="1600" dirty="0" err="1">
              <a:solidFill>
                <a:schemeClr val="accent2">
                  <a:lumMod val="60000"/>
                  <a:lumOff val="40000"/>
                </a:schemeClr>
              </a:solidFill>
              <a:latin typeface="+mj-lt"/>
              <a:ea typeface="+mj-ea"/>
              <a:cs typeface="+mj-cs"/>
            </a:endParaRPr>
          </a:p>
        </p:txBody>
      </p:sp>
      <p:sp>
        <p:nvSpPr>
          <p:cNvPr id="9" name="Rectangle 8">
            <a:extLst>
              <a:ext uri="{FF2B5EF4-FFF2-40B4-BE49-F238E27FC236}">
                <a16:creationId xmlns:a16="http://schemas.microsoft.com/office/drawing/2014/main" id="{0A2F112B-4C8A-41A9-B068-EB63531720D4}"/>
              </a:ext>
            </a:extLst>
          </p:cNvPr>
          <p:cNvSpPr/>
          <p:nvPr/>
        </p:nvSpPr>
        <p:spPr>
          <a:xfrm>
            <a:off x="64249" y="6206328"/>
            <a:ext cx="10606548"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180 min moving average.</a:t>
            </a:r>
          </a:p>
        </p:txBody>
      </p:sp>
      <p:pic>
        <p:nvPicPr>
          <p:cNvPr id="4" name="Picture 3">
            <a:extLst>
              <a:ext uri="{FF2B5EF4-FFF2-40B4-BE49-F238E27FC236}">
                <a16:creationId xmlns:a16="http://schemas.microsoft.com/office/drawing/2014/main" id="{702B3554-3FC0-41B9-87B3-DB544106F9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2603" y="645952"/>
            <a:ext cx="6050729" cy="3431976"/>
          </a:xfrm>
          <a:prstGeom prst="rect">
            <a:avLst/>
          </a:prstGeom>
        </p:spPr>
      </p:pic>
    </p:spTree>
    <p:extLst>
      <p:ext uri="{BB962C8B-B14F-4D97-AF65-F5344CB8AC3E}">
        <p14:creationId xmlns:p14="http://schemas.microsoft.com/office/powerpoint/2010/main" val="3735978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2D7C-EBB4-47FD-AF6A-4B3EF07C02CC}"/>
              </a:ext>
            </a:extLst>
          </p:cNvPr>
          <p:cNvSpPr>
            <a:spLocks noGrp="1"/>
          </p:cNvSpPr>
          <p:nvPr>
            <p:ph type="title"/>
          </p:nvPr>
        </p:nvSpPr>
        <p:spPr>
          <a:xfrm>
            <a:off x="206365" y="159929"/>
            <a:ext cx="4770120" cy="665424"/>
          </a:xfrm>
        </p:spPr>
        <p:txBody>
          <a:bodyPr/>
          <a:lstStyle/>
          <a:p>
            <a:r>
              <a:rPr lang="en-GB" sz="2400" dirty="0"/>
              <a:t>Mass flow rate estimation:</a:t>
            </a:r>
          </a:p>
        </p:txBody>
      </p:sp>
      <p:sp>
        <p:nvSpPr>
          <p:cNvPr id="3" name="Content Placeholder 2">
            <a:extLst>
              <a:ext uri="{FF2B5EF4-FFF2-40B4-BE49-F238E27FC236}">
                <a16:creationId xmlns:a16="http://schemas.microsoft.com/office/drawing/2014/main" id="{D753C9A2-7951-4934-A248-85F6247792A5}"/>
              </a:ext>
            </a:extLst>
          </p:cNvPr>
          <p:cNvSpPr>
            <a:spLocks noGrp="1"/>
          </p:cNvSpPr>
          <p:nvPr>
            <p:ph idx="1"/>
          </p:nvPr>
        </p:nvSpPr>
        <p:spPr>
          <a:xfrm>
            <a:off x="206365" y="582005"/>
            <a:ext cx="4293262" cy="2846995"/>
          </a:xfrm>
        </p:spPr>
        <p:txBody>
          <a:bodyPr/>
          <a:lstStyle/>
          <a:p>
            <a:pPr marL="0" indent="0">
              <a:buNone/>
            </a:pPr>
            <a:endParaRPr lang="en-GB" sz="1050" dirty="0"/>
          </a:p>
          <a:p>
            <a:pPr marL="0" indent="0">
              <a:buNone/>
            </a:pPr>
            <a:r>
              <a:rPr lang="en-GB" dirty="0">
                <a:solidFill>
                  <a:schemeClr val="accent1">
                    <a:lumMod val="60000"/>
                    <a:lumOff val="40000"/>
                  </a:schemeClr>
                </a:solidFill>
              </a:rPr>
              <a:t>“ Why Data-Driven Modelling?”</a:t>
            </a:r>
            <a:endParaRPr lang="en-GB" sz="1200" dirty="0">
              <a:solidFill>
                <a:schemeClr val="accent2">
                  <a:lumMod val="50000"/>
                </a:schemeClr>
              </a:solidFill>
            </a:endParaRPr>
          </a:p>
          <a:p>
            <a:pPr>
              <a:buFont typeface="Wingdings" panose="05000000000000000000" pitchFamily="2" charset="2"/>
              <a:buChar char="v"/>
            </a:pPr>
            <a:r>
              <a:rPr lang="en-GB" sz="1200" dirty="0">
                <a:solidFill>
                  <a:schemeClr val="accent2">
                    <a:lumMod val="50000"/>
                  </a:schemeClr>
                </a:solidFill>
              </a:rPr>
              <a:t>Mass flow meter  on LT evaporator (M4) wrong measurements for week 35</a:t>
            </a:r>
          </a:p>
          <a:p>
            <a:pPr>
              <a:buFont typeface="Wingdings" panose="05000000000000000000" pitchFamily="2" charset="2"/>
              <a:buChar char="v"/>
            </a:pPr>
            <a:r>
              <a:rPr lang="en-GB" sz="1200" dirty="0">
                <a:solidFill>
                  <a:schemeClr val="accent2">
                    <a:lumMod val="50000"/>
                  </a:schemeClr>
                </a:solidFill>
              </a:rPr>
              <a:t>Mass flow in suction side of ejectors is not measured (Lack of data on ejector ports)</a:t>
            </a:r>
          </a:p>
          <a:p>
            <a:pPr>
              <a:buFont typeface="Wingdings" panose="05000000000000000000" pitchFamily="2" charset="2"/>
              <a:buChar char="v"/>
            </a:pPr>
            <a:r>
              <a:rPr lang="en-GB" sz="1200" dirty="0">
                <a:solidFill>
                  <a:schemeClr val="accent2">
                    <a:lumMod val="50000"/>
                  </a:schemeClr>
                </a:solidFill>
              </a:rPr>
              <a:t>Mass flow on MT evaporator is not matching well with mass flow estimation with 3 aforementioned methods.</a:t>
            </a:r>
          </a:p>
          <a:p>
            <a:pPr>
              <a:buFont typeface="Wingdings" panose="05000000000000000000" pitchFamily="2" charset="2"/>
              <a:buChar char="v"/>
            </a:pPr>
            <a:r>
              <a:rPr lang="en-GB" sz="1200" dirty="0">
                <a:solidFill>
                  <a:schemeClr val="accent2">
                    <a:lumMod val="50000"/>
                  </a:schemeClr>
                </a:solidFill>
              </a:rPr>
              <a:t>It was expected that analytical estimations for IT will have high error as for MT so it is suggested to use same data driven model trained based on MT for IT compressors mass flow rate estimation.</a:t>
            </a:r>
          </a:p>
          <a:p>
            <a:pPr marL="0" indent="0">
              <a:buNone/>
            </a:pPr>
            <a:endParaRPr lang="en-GB" sz="1400" dirty="0"/>
          </a:p>
        </p:txBody>
      </p:sp>
      <p:sp>
        <p:nvSpPr>
          <p:cNvPr id="8" name="Trapezoid 7">
            <a:extLst>
              <a:ext uri="{FF2B5EF4-FFF2-40B4-BE49-F238E27FC236}">
                <a16:creationId xmlns:a16="http://schemas.microsoft.com/office/drawing/2014/main" id="{0C86D649-89EA-4011-848A-C3A52DC17C6B}"/>
              </a:ext>
            </a:extLst>
          </p:cNvPr>
          <p:cNvSpPr/>
          <p:nvPr/>
        </p:nvSpPr>
        <p:spPr>
          <a:xfrm>
            <a:off x="4976485" y="2915370"/>
            <a:ext cx="3681555" cy="306180"/>
          </a:xfrm>
          <a:prstGeom prst="trapezoid">
            <a:avLst>
              <a:gd name="adj" fmla="val 563568"/>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w="9525">
            <a:solidFill>
              <a:srgbClr val="F1F3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noProof="0" dirty="0" err="1"/>
          </a:p>
        </p:txBody>
      </p:sp>
      <p:pic>
        <p:nvPicPr>
          <p:cNvPr id="9" name="Picture 8">
            <a:extLst>
              <a:ext uri="{FF2B5EF4-FFF2-40B4-BE49-F238E27FC236}">
                <a16:creationId xmlns:a16="http://schemas.microsoft.com/office/drawing/2014/main" id="{6AE2CEB7-45A6-4EB8-BBBE-F4B51A62F599}"/>
              </a:ext>
            </a:extLst>
          </p:cNvPr>
          <p:cNvPicPr>
            <a:picLocks noChangeAspect="1"/>
          </p:cNvPicPr>
          <p:nvPr/>
        </p:nvPicPr>
        <p:blipFill rotWithShape="1">
          <a:blip r:embed="rId2"/>
          <a:srcRect l="6392" r="8240"/>
          <a:stretch/>
        </p:blipFill>
        <p:spPr>
          <a:xfrm>
            <a:off x="23485" y="3429000"/>
            <a:ext cx="4511362" cy="2778469"/>
          </a:xfrm>
          <a:prstGeom prst="rect">
            <a:avLst/>
          </a:prstGeom>
        </p:spPr>
      </p:pic>
      <p:pic>
        <p:nvPicPr>
          <p:cNvPr id="6" name="Picture 5">
            <a:extLst>
              <a:ext uri="{FF2B5EF4-FFF2-40B4-BE49-F238E27FC236}">
                <a16:creationId xmlns:a16="http://schemas.microsoft.com/office/drawing/2014/main" id="{5AB172FA-3E3A-4E12-B7F5-A1568C5C30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374" y="159929"/>
            <a:ext cx="4476141" cy="2668897"/>
          </a:xfrm>
          <a:prstGeom prst="rect">
            <a:avLst/>
          </a:prstGeom>
        </p:spPr>
      </p:pic>
      <p:pic>
        <p:nvPicPr>
          <p:cNvPr id="11" name="Picture 10">
            <a:extLst>
              <a:ext uri="{FF2B5EF4-FFF2-40B4-BE49-F238E27FC236}">
                <a16:creationId xmlns:a16="http://schemas.microsoft.com/office/drawing/2014/main" id="{88477639-24E1-4C24-8E2C-B6577A65B3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44374" y="3282763"/>
            <a:ext cx="4511362" cy="2924706"/>
          </a:xfrm>
          <a:prstGeom prst="rect">
            <a:avLst/>
          </a:prstGeom>
        </p:spPr>
      </p:pic>
      <p:sp>
        <p:nvSpPr>
          <p:cNvPr id="10" name="Rectangle 9">
            <a:extLst>
              <a:ext uri="{FF2B5EF4-FFF2-40B4-BE49-F238E27FC236}">
                <a16:creationId xmlns:a16="http://schemas.microsoft.com/office/drawing/2014/main" id="{29D59C46-A984-482D-A259-C5424D04DD6B}"/>
              </a:ext>
            </a:extLst>
          </p:cNvPr>
          <p:cNvSpPr/>
          <p:nvPr/>
        </p:nvSpPr>
        <p:spPr>
          <a:xfrm>
            <a:off x="64249" y="6206328"/>
            <a:ext cx="10606548"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60 min moving average.</a:t>
            </a:r>
          </a:p>
        </p:txBody>
      </p:sp>
    </p:spTree>
    <p:extLst>
      <p:ext uri="{BB962C8B-B14F-4D97-AF65-F5344CB8AC3E}">
        <p14:creationId xmlns:p14="http://schemas.microsoft.com/office/powerpoint/2010/main" val="3991571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81290-9565-4BFC-8980-3A5F3EC21F6D}"/>
              </a:ext>
            </a:extLst>
          </p:cNvPr>
          <p:cNvSpPr>
            <a:spLocks noGrp="1"/>
          </p:cNvSpPr>
          <p:nvPr>
            <p:ph type="title"/>
          </p:nvPr>
        </p:nvSpPr>
        <p:spPr>
          <a:xfrm>
            <a:off x="108078" y="119980"/>
            <a:ext cx="4227702" cy="649605"/>
          </a:xfrm>
        </p:spPr>
        <p:txBody>
          <a:bodyPr/>
          <a:lstStyle/>
          <a:p>
            <a:r>
              <a:rPr lang="da-DK" dirty="0"/>
              <a:t>Data-Driven modeling:</a:t>
            </a:r>
            <a:br>
              <a:rPr lang="da-DK" dirty="0"/>
            </a:br>
            <a:r>
              <a:rPr lang="da-DK" dirty="0"/>
              <a:t>(Part 1)</a:t>
            </a:r>
          </a:p>
        </p:txBody>
      </p:sp>
      <p:sp>
        <p:nvSpPr>
          <p:cNvPr id="9" name="Content Placeholder 2">
            <a:extLst>
              <a:ext uri="{FF2B5EF4-FFF2-40B4-BE49-F238E27FC236}">
                <a16:creationId xmlns:a16="http://schemas.microsoft.com/office/drawing/2014/main" id="{2F1869B1-5208-4DC4-87D1-1A5469E3F8FE}"/>
              </a:ext>
            </a:extLst>
          </p:cNvPr>
          <p:cNvSpPr txBox="1">
            <a:spLocks/>
          </p:cNvSpPr>
          <p:nvPr/>
        </p:nvSpPr>
        <p:spPr>
          <a:xfrm>
            <a:off x="549188" y="1151085"/>
            <a:ext cx="3288812" cy="6200792"/>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lnSpc>
                <a:spcPct val="150000"/>
              </a:lnSpc>
              <a:buFont typeface="+mj-lt"/>
              <a:buAutoNum type="arabicPeriod"/>
            </a:pPr>
            <a:endParaRPr lang="en-GB" sz="1400" dirty="0"/>
          </a:p>
          <a:p>
            <a:pPr marL="342900" indent="-342900">
              <a:lnSpc>
                <a:spcPct val="150000"/>
              </a:lnSpc>
              <a:buFont typeface="+mj-lt"/>
              <a:buAutoNum type="arabicPeriod"/>
            </a:pPr>
            <a:r>
              <a:rPr lang="en-GB" sz="1400" dirty="0">
                <a:solidFill>
                  <a:schemeClr val="accent2">
                    <a:lumMod val="50000"/>
                  </a:schemeClr>
                </a:solidFill>
              </a:rPr>
              <a:t>Data cleaning</a:t>
            </a:r>
          </a:p>
          <a:p>
            <a:pPr marL="342900" indent="-342900">
              <a:lnSpc>
                <a:spcPct val="150000"/>
              </a:lnSpc>
              <a:buFont typeface="+mj-lt"/>
              <a:buAutoNum type="arabicPeriod"/>
            </a:pPr>
            <a:r>
              <a:rPr lang="en-GB" sz="1400" dirty="0">
                <a:solidFill>
                  <a:schemeClr val="accent2">
                    <a:lumMod val="50000"/>
                  </a:schemeClr>
                </a:solidFill>
              </a:rPr>
              <a:t>Finding correlation between each pair of data(Yellow indicates highly correlated data)</a:t>
            </a:r>
          </a:p>
          <a:p>
            <a:pPr marL="342900" indent="-342900">
              <a:lnSpc>
                <a:spcPct val="150000"/>
              </a:lnSpc>
              <a:buFont typeface="+mj-lt"/>
              <a:buAutoNum type="arabicPeriod"/>
            </a:pPr>
            <a:r>
              <a:rPr lang="en-GB" sz="1400" dirty="0">
                <a:solidFill>
                  <a:schemeClr val="accent2">
                    <a:lumMod val="50000"/>
                  </a:schemeClr>
                </a:solidFill>
              </a:rPr>
              <a:t>Removing highly correlated data(duplicates or unit converted) </a:t>
            </a:r>
          </a:p>
          <a:p>
            <a:pPr marL="342900" indent="-342900">
              <a:lnSpc>
                <a:spcPct val="150000"/>
              </a:lnSpc>
              <a:buFont typeface="+mj-lt"/>
              <a:buAutoNum type="arabicPeriod"/>
            </a:pPr>
            <a:r>
              <a:rPr lang="en-GB" sz="1400" dirty="0">
                <a:solidFill>
                  <a:schemeClr val="accent2">
                    <a:lumMod val="50000"/>
                  </a:schemeClr>
                </a:solidFill>
              </a:rPr>
              <a:t>Selection of weeks for training and weeks for test(Dividing data)</a:t>
            </a:r>
          </a:p>
          <a:p>
            <a:pPr marL="342900" indent="-342900">
              <a:lnSpc>
                <a:spcPct val="150000"/>
              </a:lnSpc>
              <a:buFont typeface="+mj-lt"/>
              <a:buAutoNum type="arabicPeriod"/>
            </a:pPr>
            <a:r>
              <a:rPr lang="en-GB" sz="1400" dirty="0">
                <a:solidFill>
                  <a:schemeClr val="accent2">
                    <a:lumMod val="50000"/>
                  </a:schemeClr>
                </a:solidFill>
              </a:rPr>
              <a:t>Model selection(Multivariable linear regression used here)</a:t>
            </a:r>
            <a:endParaRPr lang="en-GB" sz="1400" dirty="0"/>
          </a:p>
        </p:txBody>
      </p:sp>
      <p:pic>
        <p:nvPicPr>
          <p:cNvPr id="11" name="Picture 10">
            <a:extLst>
              <a:ext uri="{FF2B5EF4-FFF2-40B4-BE49-F238E27FC236}">
                <a16:creationId xmlns:a16="http://schemas.microsoft.com/office/drawing/2014/main" id="{667CABAC-B01E-4508-AD95-52143DC0D7E5}"/>
              </a:ext>
            </a:extLst>
          </p:cNvPr>
          <p:cNvPicPr>
            <a:picLocks noChangeAspect="1"/>
          </p:cNvPicPr>
          <p:nvPr/>
        </p:nvPicPr>
        <p:blipFill>
          <a:blip r:embed="rId2"/>
          <a:stretch>
            <a:fillRect/>
          </a:stretch>
        </p:blipFill>
        <p:spPr>
          <a:xfrm>
            <a:off x="4739640" y="3463492"/>
            <a:ext cx="3365290" cy="2866250"/>
          </a:xfrm>
          <a:prstGeom prst="rect">
            <a:avLst/>
          </a:prstGeom>
        </p:spPr>
      </p:pic>
      <p:pic>
        <p:nvPicPr>
          <p:cNvPr id="14" name="Picture 13">
            <a:extLst>
              <a:ext uri="{FF2B5EF4-FFF2-40B4-BE49-F238E27FC236}">
                <a16:creationId xmlns:a16="http://schemas.microsoft.com/office/drawing/2014/main" id="{DD7692AC-7B59-4809-BE62-3EBADEF4D7F9}"/>
              </a:ext>
            </a:extLst>
          </p:cNvPr>
          <p:cNvPicPr>
            <a:picLocks noChangeAspect="1"/>
          </p:cNvPicPr>
          <p:nvPr/>
        </p:nvPicPr>
        <p:blipFill>
          <a:blip r:embed="rId3"/>
          <a:stretch>
            <a:fillRect/>
          </a:stretch>
        </p:blipFill>
        <p:spPr>
          <a:xfrm>
            <a:off x="4739640" y="590623"/>
            <a:ext cx="3288813" cy="2872869"/>
          </a:xfrm>
          <a:prstGeom prst="rect">
            <a:avLst/>
          </a:prstGeom>
        </p:spPr>
      </p:pic>
      <p:sp>
        <p:nvSpPr>
          <p:cNvPr id="15" name="Title 1">
            <a:extLst>
              <a:ext uri="{FF2B5EF4-FFF2-40B4-BE49-F238E27FC236}">
                <a16:creationId xmlns:a16="http://schemas.microsoft.com/office/drawing/2014/main" id="{D67EC90B-252D-4F44-9FB2-351938597D0E}"/>
              </a:ext>
            </a:extLst>
          </p:cNvPr>
          <p:cNvSpPr txBox="1">
            <a:spLocks/>
          </p:cNvSpPr>
          <p:nvPr/>
        </p:nvSpPr>
        <p:spPr>
          <a:xfrm>
            <a:off x="4871929" y="94987"/>
            <a:ext cx="3233001" cy="34979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lIns="0" tIns="0" rIns="0" bIns="0" rtlCol="0" anchor="t" anchorCtr="0">
            <a:no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pPr algn="ctr"/>
            <a:r>
              <a:rPr lang="en-GB" sz="1600" dirty="0">
                <a:solidFill>
                  <a:schemeClr val="accent2">
                    <a:lumMod val="60000"/>
                    <a:lumOff val="40000"/>
                  </a:schemeClr>
                </a:solidFill>
              </a:rPr>
              <a:t>Week 28 correlation map plot</a:t>
            </a:r>
          </a:p>
        </p:txBody>
      </p:sp>
      <p:sp>
        <p:nvSpPr>
          <p:cNvPr id="7" name="Title 1">
            <a:extLst>
              <a:ext uri="{FF2B5EF4-FFF2-40B4-BE49-F238E27FC236}">
                <a16:creationId xmlns:a16="http://schemas.microsoft.com/office/drawing/2014/main" id="{C2BA4DAB-C1C4-4E52-A07C-0204848896E9}"/>
              </a:ext>
            </a:extLst>
          </p:cNvPr>
          <p:cNvSpPr txBox="1">
            <a:spLocks/>
          </p:cNvSpPr>
          <p:nvPr/>
        </p:nvSpPr>
        <p:spPr>
          <a:xfrm>
            <a:off x="8370686" y="1481422"/>
            <a:ext cx="276208" cy="109126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vert" lIns="0" tIns="0" rIns="0" bIns="0" rtlCol="0" anchor="t" anchorCtr="0">
            <a:no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pPr algn="ctr"/>
            <a:r>
              <a:rPr lang="en-GB" sz="1600" dirty="0">
                <a:solidFill>
                  <a:schemeClr val="accent2">
                    <a:lumMod val="60000"/>
                    <a:lumOff val="40000"/>
                  </a:schemeClr>
                </a:solidFill>
              </a:rPr>
              <a:t>Danfoss</a:t>
            </a:r>
          </a:p>
        </p:txBody>
      </p:sp>
      <p:sp>
        <p:nvSpPr>
          <p:cNvPr id="8" name="Title 1">
            <a:extLst>
              <a:ext uri="{FF2B5EF4-FFF2-40B4-BE49-F238E27FC236}">
                <a16:creationId xmlns:a16="http://schemas.microsoft.com/office/drawing/2014/main" id="{3A72BBD4-5FCB-4A5E-8DAD-C5E00EF9AB1C}"/>
              </a:ext>
            </a:extLst>
          </p:cNvPr>
          <p:cNvSpPr txBox="1">
            <a:spLocks/>
          </p:cNvSpPr>
          <p:nvPr/>
        </p:nvSpPr>
        <p:spPr>
          <a:xfrm>
            <a:off x="8370687" y="4251481"/>
            <a:ext cx="276207" cy="109127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vert" lIns="0" tIns="0" rIns="0" bIns="0" rtlCol="0" anchor="t" anchorCtr="0">
            <a:noAutofit/>
          </a:bodyPr>
          <a:lstStyle>
            <a:lvl1pPr algn="l" defTabSz="914400" rtl="0" eaLnBrk="1" latinLnBrk="0" hangingPunct="1">
              <a:spcBef>
                <a:spcPct val="0"/>
              </a:spcBef>
              <a:buNone/>
              <a:defRPr sz="2800" kern="1200">
                <a:solidFill>
                  <a:schemeClr val="tx1"/>
                </a:solidFill>
                <a:latin typeface="+mj-lt"/>
                <a:ea typeface="+mj-ea"/>
                <a:cs typeface="+mj-cs"/>
              </a:defRPr>
            </a:lvl1pPr>
          </a:lstStyle>
          <a:p>
            <a:pPr algn="ctr"/>
            <a:r>
              <a:rPr lang="en-GB" sz="1600" dirty="0">
                <a:solidFill>
                  <a:schemeClr val="accent2">
                    <a:lumMod val="60000"/>
                    <a:lumOff val="40000"/>
                  </a:schemeClr>
                </a:solidFill>
              </a:rPr>
              <a:t>CNR</a:t>
            </a:r>
          </a:p>
        </p:txBody>
      </p:sp>
    </p:spTree>
    <p:extLst>
      <p:ext uri="{BB962C8B-B14F-4D97-AF65-F5344CB8AC3E}">
        <p14:creationId xmlns:p14="http://schemas.microsoft.com/office/powerpoint/2010/main" val="4102604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81290-9565-4BFC-8980-3A5F3EC21F6D}"/>
              </a:ext>
            </a:extLst>
          </p:cNvPr>
          <p:cNvSpPr>
            <a:spLocks noGrp="1"/>
          </p:cNvSpPr>
          <p:nvPr>
            <p:ph type="title"/>
          </p:nvPr>
        </p:nvSpPr>
        <p:spPr>
          <a:xfrm>
            <a:off x="268098" y="132380"/>
            <a:ext cx="6445121" cy="649605"/>
          </a:xfrm>
        </p:spPr>
        <p:txBody>
          <a:bodyPr/>
          <a:lstStyle/>
          <a:p>
            <a:r>
              <a:rPr lang="da-DK" dirty="0"/>
              <a:t>Data-Driven modeling: (Part 2)</a:t>
            </a:r>
          </a:p>
        </p:txBody>
      </p:sp>
      <p:sp>
        <p:nvSpPr>
          <p:cNvPr id="9" name="Content Placeholder 2">
            <a:extLst>
              <a:ext uri="{FF2B5EF4-FFF2-40B4-BE49-F238E27FC236}">
                <a16:creationId xmlns:a16="http://schemas.microsoft.com/office/drawing/2014/main" id="{2F1869B1-5208-4DC4-87D1-1A5469E3F8FE}"/>
              </a:ext>
            </a:extLst>
          </p:cNvPr>
          <p:cNvSpPr txBox="1">
            <a:spLocks/>
          </p:cNvSpPr>
          <p:nvPr/>
        </p:nvSpPr>
        <p:spPr>
          <a:xfrm>
            <a:off x="133657" y="781985"/>
            <a:ext cx="3232330" cy="5434460"/>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mj-lt"/>
              <a:buAutoNum type="arabicPeriod"/>
            </a:pPr>
            <a:endParaRPr lang="en-GB" sz="1200" dirty="0"/>
          </a:p>
          <a:p>
            <a:pPr marL="342900" indent="-342900">
              <a:buFont typeface="+mj-lt"/>
              <a:buAutoNum type="arabicPeriod" startAt="6"/>
            </a:pPr>
            <a:r>
              <a:rPr lang="en-GB" sz="1200" dirty="0">
                <a:solidFill>
                  <a:schemeClr val="accent2">
                    <a:lumMod val="50000"/>
                  </a:schemeClr>
                </a:solidFill>
              </a:rPr>
              <a:t>For LT compressors, weeks 2-30 used for training, 31-34 for testing and 35 is estimated by model.</a:t>
            </a:r>
          </a:p>
          <a:p>
            <a:pPr marL="0" indent="0">
              <a:buNone/>
            </a:pPr>
            <a:endParaRPr lang="en-GB" sz="1200" dirty="0">
              <a:solidFill>
                <a:schemeClr val="accent2">
                  <a:lumMod val="50000"/>
                </a:schemeClr>
              </a:solidFill>
            </a:endParaRPr>
          </a:p>
          <a:p>
            <a:pPr marL="342900" indent="-342900">
              <a:buFont typeface="+mj-lt"/>
              <a:buAutoNum type="arabicPeriod" startAt="6"/>
            </a:pPr>
            <a:r>
              <a:rPr lang="en-GB" sz="1200" dirty="0">
                <a:solidFill>
                  <a:schemeClr val="accent2">
                    <a:lumMod val="50000"/>
                  </a:schemeClr>
                </a:solidFill>
              </a:rPr>
              <a:t>For MT compressors weeks 2-8 and 30 used for training(MT mass flow = M3+M4) and week 33 used for test and applied to weeks with Liquid &amp;/ HP ejector.</a:t>
            </a:r>
          </a:p>
          <a:p>
            <a:pPr marL="342900" indent="-342900">
              <a:buFont typeface="+mj-lt"/>
              <a:buAutoNum type="arabicPeriod" startAt="6"/>
            </a:pPr>
            <a:endParaRPr lang="en-GB" sz="1200" dirty="0">
              <a:solidFill>
                <a:schemeClr val="accent2">
                  <a:lumMod val="50000"/>
                </a:schemeClr>
              </a:solidFill>
            </a:endParaRPr>
          </a:p>
          <a:p>
            <a:pPr marL="342900" indent="-342900">
              <a:buFont typeface="+mj-lt"/>
              <a:buAutoNum type="arabicPeriod" startAt="6"/>
            </a:pPr>
            <a:r>
              <a:rPr lang="en-GB" sz="1200" dirty="0">
                <a:solidFill>
                  <a:schemeClr val="accent2">
                    <a:lumMod val="50000"/>
                  </a:schemeClr>
                </a:solidFill>
              </a:rPr>
              <a:t>Selecting parameters from data relevant for training</a:t>
            </a:r>
          </a:p>
          <a:p>
            <a:pPr lvl="1">
              <a:buFont typeface="Courier New" panose="02070309020205020404" pitchFamily="49" charset="0"/>
              <a:buChar char="o"/>
            </a:pPr>
            <a:r>
              <a:rPr lang="en-GB" sz="1200" dirty="0">
                <a:solidFill>
                  <a:schemeClr val="accent2">
                    <a:lumMod val="50000"/>
                  </a:schemeClr>
                </a:solidFill>
              </a:rPr>
              <a:t>Automated process of selecting and removing variable to achieve least R2_score  with user supervision to verify</a:t>
            </a:r>
          </a:p>
          <a:p>
            <a:pPr lvl="1">
              <a:buFont typeface="Courier New" panose="02070309020205020404" pitchFamily="49" charset="0"/>
              <a:buChar char="o"/>
            </a:pPr>
            <a:r>
              <a:rPr lang="en-GB" sz="1200" dirty="0">
                <a:solidFill>
                  <a:schemeClr val="accent2">
                    <a:lumMod val="50000"/>
                  </a:schemeClr>
                </a:solidFill>
              </a:rPr>
              <a:t>Addition of analytical estimations of mass flow rate  for improving the model</a:t>
            </a:r>
          </a:p>
          <a:p>
            <a:pPr marL="342900" indent="-342900">
              <a:buFont typeface="+mj-lt"/>
              <a:buAutoNum type="arabicPeriod" startAt="6"/>
            </a:pPr>
            <a:endParaRPr lang="en-GB" sz="1200" dirty="0">
              <a:solidFill>
                <a:schemeClr val="accent2">
                  <a:lumMod val="50000"/>
                </a:schemeClr>
              </a:solidFill>
            </a:endParaRPr>
          </a:p>
          <a:p>
            <a:pPr marL="342900" indent="-342900">
              <a:buFont typeface="+mj-lt"/>
              <a:buAutoNum type="arabicPeriod" startAt="6"/>
            </a:pPr>
            <a:r>
              <a:rPr lang="en-GB" sz="1200" dirty="0">
                <a:solidFill>
                  <a:schemeClr val="accent2">
                    <a:lumMod val="50000"/>
                  </a:schemeClr>
                </a:solidFill>
              </a:rPr>
              <a:t>Data-Driven model is tested with new set of data it never seen before(Testing)</a:t>
            </a:r>
          </a:p>
          <a:p>
            <a:pPr marL="342900" indent="-342900">
              <a:buFont typeface="+mj-lt"/>
              <a:buAutoNum type="arabicPeriod" startAt="6"/>
            </a:pPr>
            <a:endParaRPr lang="en-GB" sz="1400" dirty="0"/>
          </a:p>
        </p:txBody>
      </p:sp>
      <p:sp>
        <p:nvSpPr>
          <p:cNvPr id="19" name="Rectangle 18">
            <a:extLst>
              <a:ext uri="{FF2B5EF4-FFF2-40B4-BE49-F238E27FC236}">
                <a16:creationId xmlns:a16="http://schemas.microsoft.com/office/drawing/2014/main" id="{0C1DBAF3-6E8C-4BDB-BE83-550A2134D57E}"/>
              </a:ext>
            </a:extLst>
          </p:cNvPr>
          <p:cNvSpPr/>
          <p:nvPr/>
        </p:nvSpPr>
        <p:spPr>
          <a:xfrm>
            <a:off x="3988023" y="5074458"/>
            <a:ext cx="5002000" cy="1077218"/>
          </a:xfrm>
          <a:prstGeom prst="rect">
            <a:avLst/>
          </a:prstGeom>
        </p:spPr>
        <p:txBody>
          <a:bodyPr wrap="square">
            <a:spAutoFit/>
          </a:bodyPr>
          <a:lstStyle/>
          <a:p>
            <a:r>
              <a:rPr lang="da-DK" sz="1600" dirty="0"/>
              <a:t>R2_score                	 </a:t>
            </a:r>
            <a:r>
              <a:rPr lang="da-DK" sz="1200" dirty="0">
                <a:solidFill>
                  <a:schemeClr val="accent2">
                    <a:lumMod val="75000"/>
                  </a:schemeClr>
                </a:solidFill>
              </a:rPr>
              <a:t>LT W33</a:t>
            </a:r>
            <a:r>
              <a:rPr lang="da-DK" sz="1200" dirty="0"/>
              <a:t>      MT W33     </a:t>
            </a:r>
          </a:p>
          <a:p>
            <a:r>
              <a:rPr lang="da-DK" sz="1200" dirty="0"/>
              <a:t>VD  vs measurement :      	  </a:t>
            </a:r>
            <a:r>
              <a:rPr lang="da-DK" sz="1200" dirty="0">
                <a:solidFill>
                  <a:schemeClr val="accent2">
                    <a:lumMod val="75000"/>
                  </a:schemeClr>
                </a:solidFill>
              </a:rPr>
              <a:t>0.939 </a:t>
            </a:r>
            <a:r>
              <a:rPr lang="da-DK" sz="1200" dirty="0"/>
              <a:t>      -1.060</a:t>
            </a:r>
          </a:p>
          <a:p>
            <a:r>
              <a:rPr lang="da-DK" sz="1200" dirty="0"/>
              <a:t>EB  vs measurement :       	  </a:t>
            </a:r>
            <a:r>
              <a:rPr lang="da-DK" sz="1200" dirty="0">
                <a:solidFill>
                  <a:schemeClr val="accent2">
                    <a:lumMod val="75000"/>
                  </a:schemeClr>
                </a:solidFill>
              </a:rPr>
              <a:t>0.696 </a:t>
            </a:r>
            <a:r>
              <a:rPr lang="da-DK" sz="1200" dirty="0"/>
              <a:t>      -4.176</a:t>
            </a:r>
          </a:p>
          <a:p>
            <a:r>
              <a:rPr lang="da-DK" sz="1200" dirty="0"/>
              <a:t>BT  vs measurement    </a:t>
            </a:r>
            <a:r>
              <a:rPr lang="da-DK" sz="1200" dirty="0">
                <a:solidFill>
                  <a:schemeClr val="accent2">
                    <a:lumMod val="75000"/>
                  </a:schemeClr>
                </a:solidFill>
              </a:rPr>
              <a:t>       	  0.958       </a:t>
            </a:r>
            <a:r>
              <a:rPr lang="da-DK" sz="1200" dirty="0"/>
              <a:t>-3.480</a:t>
            </a:r>
          </a:p>
          <a:p>
            <a:r>
              <a:rPr lang="da-DK" sz="1200" dirty="0">
                <a:highlight>
                  <a:srgbClr val="FFFF00"/>
                </a:highlight>
              </a:rPr>
              <a:t>DD vs measurement :    	  </a:t>
            </a:r>
            <a:r>
              <a:rPr lang="da-DK" sz="1200" dirty="0">
                <a:solidFill>
                  <a:schemeClr val="accent2">
                    <a:lumMod val="75000"/>
                  </a:schemeClr>
                </a:solidFill>
                <a:highlight>
                  <a:srgbClr val="FFFF00"/>
                </a:highlight>
              </a:rPr>
              <a:t>0.981 </a:t>
            </a:r>
            <a:r>
              <a:rPr lang="da-DK" sz="1200" dirty="0">
                <a:highlight>
                  <a:srgbClr val="FFFF00"/>
                </a:highlight>
              </a:rPr>
              <a:t>       0.8904</a:t>
            </a:r>
          </a:p>
        </p:txBody>
      </p:sp>
      <p:pic>
        <p:nvPicPr>
          <p:cNvPr id="20" name="Picture 19">
            <a:extLst>
              <a:ext uri="{FF2B5EF4-FFF2-40B4-BE49-F238E27FC236}">
                <a16:creationId xmlns:a16="http://schemas.microsoft.com/office/drawing/2014/main" id="{1F2FB0E8-6F18-43B6-8D6A-C4FDC8ABF9B2}"/>
              </a:ext>
            </a:extLst>
          </p:cNvPr>
          <p:cNvPicPr>
            <a:picLocks noChangeAspect="1"/>
          </p:cNvPicPr>
          <p:nvPr/>
        </p:nvPicPr>
        <p:blipFill rotWithShape="1">
          <a:blip r:embed="rId2"/>
          <a:srcRect l="1" r="23541"/>
          <a:stretch/>
        </p:blipFill>
        <p:spPr>
          <a:xfrm>
            <a:off x="3700889" y="2908072"/>
            <a:ext cx="2151271" cy="2241884"/>
          </a:xfrm>
          <a:prstGeom prst="rect">
            <a:avLst/>
          </a:prstGeom>
        </p:spPr>
      </p:pic>
      <p:pic>
        <p:nvPicPr>
          <p:cNvPr id="21" name="Picture 20">
            <a:extLst>
              <a:ext uri="{FF2B5EF4-FFF2-40B4-BE49-F238E27FC236}">
                <a16:creationId xmlns:a16="http://schemas.microsoft.com/office/drawing/2014/main" id="{7EB7200B-D71E-493E-82B7-3492C03C9D59}"/>
              </a:ext>
            </a:extLst>
          </p:cNvPr>
          <p:cNvPicPr>
            <a:picLocks noChangeAspect="1"/>
          </p:cNvPicPr>
          <p:nvPr/>
        </p:nvPicPr>
        <p:blipFill rotWithShape="1">
          <a:blip r:embed="rId3"/>
          <a:srcRect l="10212"/>
          <a:stretch/>
        </p:blipFill>
        <p:spPr>
          <a:xfrm>
            <a:off x="5547360" y="2834640"/>
            <a:ext cx="3636029" cy="2279082"/>
          </a:xfrm>
          <a:prstGeom prst="rect">
            <a:avLst/>
          </a:prstGeom>
        </p:spPr>
      </p:pic>
      <p:sp>
        <p:nvSpPr>
          <p:cNvPr id="22" name="Arrow: Right 21">
            <a:extLst>
              <a:ext uri="{FF2B5EF4-FFF2-40B4-BE49-F238E27FC236}">
                <a16:creationId xmlns:a16="http://schemas.microsoft.com/office/drawing/2014/main" id="{DA9EAAB9-8D8F-4814-9721-721B05E011E5}"/>
              </a:ext>
            </a:extLst>
          </p:cNvPr>
          <p:cNvSpPr/>
          <p:nvPr/>
        </p:nvSpPr>
        <p:spPr>
          <a:xfrm>
            <a:off x="5199181" y="3623035"/>
            <a:ext cx="652979" cy="666874"/>
          </a:xfrm>
          <a:prstGeom prst="rightArrow">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da-DK" sz="800" noProof="0" dirty="0"/>
              <a:t>Zoom  in</a:t>
            </a:r>
          </a:p>
        </p:txBody>
      </p:sp>
      <p:pic>
        <p:nvPicPr>
          <p:cNvPr id="3" name="Picture 2">
            <a:extLst>
              <a:ext uri="{FF2B5EF4-FFF2-40B4-BE49-F238E27FC236}">
                <a16:creationId xmlns:a16="http://schemas.microsoft.com/office/drawing/2014/main" id="{42CA1627-AE02-47E9-9760-F188A50DFAC3}"/>
              </a:ext>
            </a:extLst>
          </p:cNvPr>
          <p:cNvPicPr>
            <a:picLocks noChangeAspect="1"/>
          </p:cNvPicPr>
          <p:nvPr/>
        </p:nvPicPr>
        <p:blipFill rotWithShape="1">
          <a:blip r:embed="rId4"/>
          <a:srcRect r="23839"/>
          <a:stretch/>
        </p:blipFill>
        <p:spPr>
          <a:xfrm>
            <a:off x="3634211" y="554682"/>
            <a:ext cx="2206153" cy="2353390"/>
          </a:xfrm>
          <a:prstGeom prst="rect">
            <a:avLst/>
          </a:prstGeom>
        </p:spPr>
      </p:pic>
      <p:pic>
        <p:nvPicPr>
          <p:cNvPr id="4" name="Picture 3">
            <a:extLst>
              <a:ext uri="{FF2B5EF4-FFF2-40B4-BE49-F238E27FC236}">
                <a16:creationId xmlns:a16="http://schemas.microsoft.com/office/drawing/2014/main" id="{8BC97653-2326-4085-9692-63C42AB67C8C}"/>
              </a:ext>
            </a:extLst>
          </p:cNvPr>
          <p:cNvPicPr>
            <a:picLocks noChangeAspect="1"/>
          </p:cNvPicPr>
          <p:nvPr/>
        </p:nvPicPr>
        <p:blipFill rotWithShape="1">
          <a:blip r:embed="rId5"/>
          <a:srcRect l="8740"/>
          <a:stretch/>
        </p:blipFill>
        <p:spPr>
          <a:xfrm>
            <a:off x="5279136" y="599534"/>
            <a:ext cx="3904253" cy="2353390"/>
          </a:xfrm>
          <a:prstGeom prst="rect">
            <a:avLst/>
          </a:prstGeom>
        </p:spPr>
      </p:pic>
      <p:sp>
        <p:nvSpPr>
          <p:cNvPr id="18" name="Arrow: Right 17">
            <a:extLst>
              <a:ext uri="{FF2B5EF4-FFF2-40B4-BE49-F238E27FC236}">
                <a16:creationId xmlns:a16="http://schemas.microsoft.com/office/drawing/2014/main" id="{02260BE3-335A-496C-AACB-A07DDEB536DA}"/>
              </a:ext>
            </a:extLst>
          </p:cNvPr>
          <p:cNvSpPr/>
          <p:nvPr/>
        </p:nvSpPr>
        <p:spPr>
          <a:xfrm>
            <a:off x="5055880" y="1664132"/>
            <a:ext cx="656270" cy="602684"/>
          </a:xfrm>
          <a:prstGeom prst="rightArrow">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da-DK" sz="800" noProof="0" dirty="0"/>
              <a:t>Zoom  in</a:t>
            </a:r>
          </a:p>
        </p:txBody>
      </p:sp>
      <p:sp>
        <p:nvSpPr>
          <p:cNvPr id="13" name="Rectangle 12">
            <a:extLst>
              <a:ext uri="{FF2B5EF4-FFF2-40B4-BE49-F238E27FC236}">
                <a16:creationId xmlns:a16="http://schemas.microsoft.com/office/drawing/2014/main" id="{DEEEE054-8EED-4ABC-9943-BDB58AC086BC}"/>
              </a:ext>
            </a:extLst>
          </p:cNvPr>
          <p:cNvSpPr/>
          <p:nvPr/>
        </p:nvSpPr>
        <p:spPr>
          <a:xfrm>
            <a:off x="64249" y="6195596"/>
            <a:ext cx="9079751"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a:t>
            </a:r>
            <a:r>
              <a:rPr lang="da-DK" sz="800">
                <a:highlight>
                  <a:srgbClr val="00FFFF"/>
                </a:highlight>
              </a:rPr>
              <a:t>”), 120 </a:t>
            </a:r>
            <a:r>
              <a:rPr lang="da-DK" sz="800" dirty="0">
                <a:highlight>
                  <a:srgbClr val="00FFFF"/>
                </a:highlight>
              </a:rPr>
              <a:t>min moving average.</a:t>
            </a:r>
          </a:p>
        </p:txBody>
      </p:sp>
    </p:spTree>
    <p:extLst>
      <p:ext uri="{BB962C8B-B14F-4D97-AF65-F5344CB8AC3E}">
        <p14:creationId xmlns:p14="http://schemas.microsoft.com/office/powerpoint/2010/main" val="2931164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2D7C-EBB4-47FD-AF6A-4B3EF07C02CC}"/>
              </a:ext>
            </a:extLst>
          </p:cNvPr>
          <p:cNvSpPr>
            <a:spLocks noGrp="1"/>
          </p:cNvSpPr>
          <p:nvPr>
            <p:ph type="title"/>
          </p:nvPr>
        </p:nvSpPr>
        <p:spPr>
          <a:xfrm>
            <a:off x="135805" y="307468"/>
            <a:ext cx="4797531" cy="936000"/>
          </a:xfrm>
        </p:spPr>
        <p:txBody>
          <a:bodyPr/>
          <a:lstStyle/>
          <a:p>
            <a:r>
              <a:rPr lang="en-GB" dirty="0"/>
              <a:t>Week 30(LP Ejector only):</a:t>
            </a:r>
          </a:p>
        </p:txBody>
      </p:sp>
      <p:sp>
        <p:nvSpPr>
          <p:cNvPr id="3" name="Content Placeholder 2">
            <a:extLst>
              <a:ext uri="{FF2B5EF4-FFF2-40B4-BE49-F238E27FC236}">
                <a16:creationId xmlns:a16="http://schemas.microsoft.com/office/drawing/2014/main" id="{D753C9A2-7951-4934-A248-85F6247792A5}"/>
              </a:ext>
            </a:extLst>
          </p:cNvPr>
          <p:cNvSpPr>
            <a:spLocks noGrp="1"/>
          </p:cNvSpPr>
          <p:nvPr>
            <p:ph idx="1"/>
          </p:nvPr>
        </p:nvSpPr>
        <p:spPr>
          <a:xfrm>
            <a:off x="135806" y="1088290"/>
            <a:ext cx="2206119" cy="3974314"/>
          </a:xfrm>
        </p:spPr>
        <p:txBody>
          <a:bodyPr/>
          <a:lstStyle/>
          <a:p>
            <a:pPr>
              <a:buFont typeface="Wingdings" panose="05000000000000000000" pitchFamily="2" charset="2"/>
              <a:buChar char="v"/>
            </a:pPr>
            <a:r>
              <a:rPr lang="en-GB" dirty="0"/>
              <a:t>Motive nozzle mass flow rate : </a:t>
            </a:r>
          </a:p>
          <a:p>
            <a:pPr lvl="1">
              <a:buFont typeface="Wingdings" panose="05000000000000000000" pitchFamily="2" charset="2"/>
              <a:buChar char="ü"/>
            </a:pPr>
            <a:r>
              <a:rPr lang="en-GB" dirty="0">
                <a:solidFill>
                  <a:srgbClr val="FF0000"/>
                </a:solidFill>
              </a:rPr>
              <a:t>MT+ IT – HPV</a:t>
            </a:r>
          </a:p>
          <a:p>
            <a:pPr marL="188913" lvl="1" indent="0">
              <a:buNone/>
            </a:pPr>
            <a:endParaRPr lang="en-GB" dirty="0">
              <a:solidFill>
                <a:srgbClr val="FF0000"/>
              </a:solidFill>
            </a:endParaRPr>
          </a:p>
          <a:p>
            <a:pPr>
              <a:buFont typeface="Wingdings" panose="05000000000000000000" pitchFamily="2" charset="2"/>
              <a:buChar char="v"/>
            </a:pPr>
            <a:r>
              <a:rPr lang="en-GB" dirty="0"/>
              <a:t>Suction side mass flow rate:</a:t>
            </a:r>
          </a:p>
          <a:p>
            <a:pPr lvl="1">
              <a:buFont typeface="Wingdings" panose="05000000000000000000" pitchFamily="2" charset="2"/>
              <a:buChar char="ü"/>
            </a:pPr>
            <a:r>
              <a:rPr lang="en-GB" dirty="0">
                <a:solidFill>
                  <a:srgbClr val="92D050"/>
                </a:solidFill>
              </a:rPr>
              <a:t>M1</a:t>
            </a:r>
          </a:p>
          <a:p>
            <a:pPr marL="188913" lvl="1" indent="0">
              <a:buNone/>
            </a:pPr>
            <a:endParaRPr lang="en-GB" dirty="0">
              <a:solidFill>
                <a:srgbClr val="92D050"/>
              </a:solidFill>
            </a:endParaRPr>
          </a:p>
          <a:p>
            <a:pPr>
              <a:buFont typeface="Wingdings" panose="05000000000000000000" pitchFamily="2" charset="2"/>
              <a:buChar char="v"/>
            </a:pPr>
            <a:r>
              <a:rPr lang="en-GB" dirty="0"/>
              <a:t>Discharge mass flow rate:</a:t>
            </a:r>
          </a:p>
          <a:p>
            <a:pPr lvl="1">
              <a:buFont typeface="Wingdings" panose="05000000000000000000" pitchFamily="2" charset="2"/>
              <a:buChar char="ü"/>
            </a:pPr>
            <a:r>
              <a:rPr lang="en-GB" dirty="0">
                <a:solidFill>
                  <a:srgbClr val="FFC000"/>
                </a:solidFill>
              </a:rPr>
              <a:t>MT + IT + M1 - HPV</a:t>
            </a:r>
          </a:p>
          <a:p>
            <a:pPr marL="188913" lvl="1" indent="0">
              <a:buNone/>
            </a:pPr>
            <a:endParaRPr lang="en-GB" dirty="0">
              <a:solidFill>
                <a:srgbClr val="92D050"/>
              </a:solidFill>
            </a:endParaRPr>
          </a:p>
          <a:p>
            <a:pPr marL="188913" lvl="1" indent="0">
              <a:buNone/>
            </a:pPr>
            <a:endParaRPr lang="en-GB" dirty="0">
              <a:solidFill>
                <a:srgbClr val="92D050"/>
              </a:solidFill>
            </a:endParaRPr>
          </a:p>
          <a:p>
            <a:pPr lvl="1">
              <a:buFont typeface="Wingdings" panose="05000000000000000000" pitchFamily="2" charset="2"/>
              <a:buChar char="ü"/>
            </a:pPr>
            <a:endParaRPr lang="en-GB" dirty="0"/>
          </a:p>
          <a:p>
            <a:pPr marL="188913" lvl="1" indent="0">
              <a:buNone/>
            </a:pPr>
            <a:endParaRPr lang="en-GB" dirty="0"/>
          </a:p>
        </p:txBody>
      </p:sp>
      <p:pic>
        <p:nvPicPr>
          <p:cNvPr id="4" name="Picture 3">
            <a:extLst>
              <a:ext uri="{FF2B5EF4-FFF2-40B4-BE49-F238E27FC236}">
                <a16:creationId xmlns:a16="http://schemas.microsoft.com/office/drawing/2014/main" id="{35FC40C8-8633-401C-8757-9BB41CA420B4}"/>
              </a:ext>
            </a:extLst>
          </p:cNvPr>
          <p:cNvPicPr>
            <a:picLocks noChangeAspect="1"/>
          </p:cNvPicPr>
          <p:nvPr/>
        </p:nvPicPr>
        <p:blipFill rotWithShape="1">
          <a:blip r:embed="rId2"/>
          <a:srcRect r="1517"/>
          <a:stretch/>
        </p:blipFill>
        <p:spPr>
          <a:xfrm>
            <a:off x="5216630" y="139037"/>
            <a:ext cx="2393540" cy="1996492"/>
          </a:xfrm>
          <a:prstGeom prst="rect">
            <a:avLst/>
          </a:prstGeom>
        </p:spPr>
      </p:pic>
      <p:sp>
        <p:nvSpPr>
          <p:cNvPr id="5" name="Arrow: Right 4">
            <a:extLst>
              <a:ext uri="{FF2B5EF4-FFF2-40B4-BE49-F238E27FC236}">
                <a16:creationId xmlns:a16="http://schemas.microsoft.com/office/drawing/2014/main" id="{AB44AEF2-2106-4D7D-9C17-73ABF77A8E24}"/>
              </a:ext>
            </a:extLst>
          </p:cNvPr>
          <p:cNvSpPr/>
          <p:nvPr/>
        </p:nvSpPr>
        <p:spPr>
          <a:xfrm>
            <a:off x="7704037" y="1463302"/>
            <a:ext cx="1304158" cy="568988"/>
          </a:xfrm>
          <a:prstGeom prst="rightArrow">
            <a:avLst>
              <a:gd name="adj1" fmla="val 50000"/>
              <a:gd name="adj2" fmla="val 40928"/>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200" noProof="0" dirty="0">
                <a:solidFill>
                  <a:schemeClr val="accent3">
                    <a:lumMod val="50000"/>
                  </a:schemeClr>
                </a:solidFill>
              </a:rPr>
              <a:t>Discharge</a:t>
            </a:r>
          </a:p>
        </p:txBody>
      </p:sp>
      <p:sp>
        <p:nvSpPr>
          <p:cNvPr id="9" name="Arrow: Right 8">
            <a:extLst>
              <a:ext uri="{FF2B5EF4-FFF2-40B4-BE49-F238E27FC236}">
                <a16:creationId xmlns:a16="http://schemas.microsoft.com/office/drawing/2014/main" id="{41FD55F7-2FF4-4F80-987A-F1A84CB2677E}"/>
              </a:ext>
            </a:extLst>
          </p:cNvPr>
          <p:cNvSpPr/>
          <p:nvPr/>
        </p:nvSpPr>
        <p:spPr>
          <a:xfrm flipH="1">
            <a:off x="7661785" y="724533"/>
            <a:ext cx="1063115" cy="412750"/>
          </a:xfrm>
          <a:prstGeom prst="rightArrow">
            <a:avLst/>
          </a:prstGeom>
          <a:solidFill>
            <a:srgbClr val="E60A11"/>
          </a:solidFill>
          <a:ln w="9525">
            <a:solidFill>
              <a:srgbClr val="E60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100" noProof="0" dirty="0">
                <a:solidFill>
                  <a:schemeClr val="accent6">
                    <a:lumMod val="75000"/>
                  </a:schemeClr>
                </a:solidFill>
              </a:rPr>
              <a:t>Motive</a:t>
            </a:r>
          </a:p>
        </p:txBody>
      </p:sp>
      <p:sp>
        <p:nvSpPr>
          <p:cNvPr id="11" name="Arrow: Right 10">
            <a:extLst>
              <a:ext uri="{FF2B5EF4-FFF2-40B4-BE49-F238E27FC236}">
                <a16:creationId xmlns:a16="http://schemas.microsoft.com/office/drawing/2014/main" id="{98F46593-59A8-41E3-A332-169A38620067}"/>
              </a:ext>
            </a:extLst>
          </p:cNvPr>
          <p:cNvSpPr/>
          <p:nvPr/>
        </p:nvSpPr>
        <p:spPr>
          <a:xfrm flipH="1">
            <a:off x="7704037" y="1231275"/>
            <a:ext cx="1020864" cy="304692"/>
          </a:xfrm>
          <a:prstGeom prst="rightArrow">
            <a:avLst/>
          </a:prstGeom>
          <a:solidFill>
            <a:srgbClr val="92D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000" noProof="0" dirty="0">
                <a:solidFill>
                  <a:schemeClr val="tx2">
                    <a:lumMod val="50000"/>
                  </a:schemeClr>
                </a:solidFill>
              </a:rPr>
              <a:t>Suction</a:t>
            </a:r>
          </a:p>
        </p:txBody>
      </p:sp>
      <p:pic>
        <p:nvPicPr>
          <p:cNvPr id="7" name="Picture 6">
            <a:extLst>
              <a:ext uri="{FF2B5EF4-FFF2-40B4-BE49-F238E27FC236}">
                <a16:creationId xmlns:a16="http://schemas.microsoft.com/office/drawing/2014/main" id="{1FDC8EF5-5B89-492B-A24C-253B0EEEE539}"/>
              </a:ext>
            </a:extLst>
          </p:cNvPr>
          <p:cNvPicPr>
            <a:picLocks noChangeAspect="1"/>
          </p:cNvPicPr>
          <p:nvPr/>
        </p:nvPicPr>
        <p:blipFill rotWithShape="1">
          <a:blip r:embed="rId3"/>
          <a:srcRect l="1107"/>
          <a:stretch/>
        </p:blipFill>
        <p:spPr>
          <a:xfrm>
            <a:off x="2477730" y="2032290"/>
            <a:ext cx="6666270" cy="3631235"/>
          </a:xfrm>
          <a:prstGeom prst="rect">
            <a:avLst/>
          </a:prstGeom>
        </p:spPr>
      </p:pic>
      <p:sp>
        <p:nvSpPr>
          <p:cNvPr id="10" name="Content Placeholder 2">
            <a:extLst>
              <a:ext uri="{FF2B5EF4-FFF2-40B4-BE49-F238E27FC236}">
                <a16:creationId xmlns:a16="http://schemas.microsoft.com/office/drawing/2014/main" id="{A276D8F9-195D-4427-9AB3-036C0C8037A3}"/>
              </a:ext>
            </a:extLst>
          </p:cNvPr>
          <p:cNvSpPr txBox="1">
            <a:spLocks/>
          </p:cNvSpPr>
          <p:nvPr/>
        </p:nvSpPr>
        <p:spPr>
          <a:xfrm>
            <a:off x="522756" y="5747574"/>
            <a:ext cx="7833360" cy="356330"/>
          </a:xfrm>
          <a:prstGeom prst="rect">
            <a:avLst/>
          </a:prstGeom>
        </p:spPr>
        <p:txBody>
          <a:bodyPr vert="horz" lIns="0" tIns="0" rIns="0" bIns="0" numCol="2" spcCol="7200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8913" lvl="1" indent="0">
              <a:buFont typeface="Verdana" panose="020B0604030504040204" pitchFamily="34" charset="0"/>
              <a:buNone/>
            </a:pPr>
            <a:r>
              <a:rPr lang="en-GB" sz="1000" dirty="0"/>
              <a:t>MT : Mass flow rate through MT compressors (Kg/s)                 </a:t>
            </a:r>
          </a:p>
          <a:p>
            <a:pPr marL="188913" lvl="1" indent="0">
              <a:buNone/>
            </a:pPr>
            <a:r>
              <a:rPr lang="en-GB" sz="1000" dirty="0"/>
              <a:t>IT : Mass flow rate through IT compressors (Kg/s)</a:t>
            </a:r>
          </a:p>
          <a:p>
            <a:pPr marL="188913" lvl="1" indent="0">
              <a:buNone/>
            </a:pPr>
            <a:r>
              <a:rPr lang="en-GB" sz="1000" dirty="0"/>
              <a:t> </a:t>
            </a:r>
          </a:p>
          <a:p>
            <a:pPr marL="188913" lvl="1" indent="0">
              <a:buNone/>
            </a:pPr>
            <a:endParaRPr lang="en-GB" sz="1000" dirty="0"/>
          </a:p>
          <a:p>
            <a:pPr marL="188913" lvl="1" indent="0">
              <a:buNone/>
            </a:pPr>
            <a:r>
              <a:rPr lang="en-GB" sz="1000" dirty="0"/>
              <a:t>HPV : Mass flow rate through high pressure valve (Kg/s)</a:t>
            </a:r>
          </a:p>
          <a:p>
            <a:pPr marL="188913" lvl="1" indent="0">
              <a:buNone/>
            </a:pPr>
            <a:r>
              <a:rPr lang="en-GB" sz="1000" dirty="0"/>
              <a:t>M1: Mass flow rate through AC evaporators (Kg/s)</a:t>
            </a:r>
          </a:p>
          <a:p>
            <a:pPr marL="188913" lvl="1" indent="0">
              <a:buNone/>
            </a:pPr>
            <a:endParaRPr lang="en-GB" sz="1000" dirty="0"/>
          </a:p>
          <a:p>
            <a:pPr marL="188913" lvl="1" indent="0">
              <a:buFont typeface="Verdana" panose="020B0604030504040204" pitchFamily="34" charset="0"/>
              <a:buNone/>
            </a:pPr>
            <a:endParaRPr lang="en-GB" sz="1000" dirty="0"/>
          </a:p>
        </p:txBody>
      </p:sp>
      <p:sp>
        <p:nvSpPr>
          <p:cNvPr id="12" name="Rectangle 11">
            <a:extLst>
              <a:ext uri="{FF2B5EF4-FFF2-40B4-BE49-F238E27FC236}">
                <a16:creationId xmlns:a16="http://schemas.microsoft.com/office/drawing/2014/main" id="{C0B8ED9E-0295-4299-A4DD-85B01C682252}"/>
              </a:ext>
            </a:extLst>
          </p:cNvPr>
          <p:cNvSpPr/>
          <p:nvPr/>
        </p:nvSpPr>
        <p:spPr>
          <a:xfrm>
            <a:off x="64249" y="6232512"/>
            <a:ext cx="9079751"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180 min moving average.</a:t>
            </a:r>
          </a:p>
        </p:txBody>
      </p:sp>
    </p:spTree>
    <p:extLst>
      <p:ext uri="{BB962C8B-B14F-4D97-AF65-F5344CB8AC3E}">
        <p14:creationId xmlns:p14="http://schemas.microsoft.com/office/powerpoint/2010/main" val="1823317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2D7C-EBB4-47FD-AF6A-4B3EF07C02CC}"/>
              </a:ext>
            </a:extLst>
          </p:cNvPr>
          <p:cNvSpPr>
            <a:spLocks noGrp="1"/>
          </p:cNvSpPr>
          <p:nvPr>
            <p:ph type="title"/>
          </p:nvPr>
        </p:nvSpPr>
        <p:spPr>
          <a:xfrm>
            <a:off x="135805" y="307468"/>
            <a:ext cx="4797531" cy="936000"/>
          </a:xfrm>
        </p:spPr>
        <p:txBody>
          <a:bodyPr/>
          <a:lstStyle/>
          <a:p>
            <a:r>
              <a:rPr lang="en-GB" dirty="0"/>
              <a:t>Week 30(LP Ejector only):</a:t>
            </a:r>
          </a:p>
        </p:txBody>
      </p:sp>
      <p:sp>
        <p:nvSpPr>
          <p:cNvPr id="3" name="Content Placeholder 2">
            <a:extLst>
              <a:ext uri="{FF2B5EF4-FFF2-40B4-BE49-F238E27FC236}">
                <a16:creationId xmlns:a16="http://schemas.microsoft.com/office/drawing/2014/main" id="{D753C9A2-7951-4934-A248-85F6247792A5}"/>
              </a:ext>
            </a:extLst>
          </p:cNvPr>
          <p:cNvSpPr>
            <a:spLocks noGrp="1"/>
          </p:cNvSpPr>
          <p:nvPr>
            <p:ph idx="1"/>
          </p:nvPr>
        </p:nvSpPr>
        <p:spPr>
          <a:xfrm>
            <a:off x="135805" y="1535967"/>
            <a:ext cx="2209188" cy="4867173"/>
          </a:xfrm>
        </p:spPr>
        <p:txBody>
          <a:bodyPr/>
          <a:lstStyle/>
          <a:p>
            <a:pPr>
              <a:buFont typeface="Wingdings" panose="05000000000000000000" pitchFamily="2" charset="2"/>
              <a:buChar char="v"/>
            </a:pPr>
            <a:r>
              <a:rPr lang="en-GB" dirty="0"/>
              <a:t>Motive nozzle mass flow rate : </a:t>
            </a:r>
          </a:p>
          <a:p>
            <a:pPr lvl="1">
              <a:buFont typeface="Wingdings" panose="05000000000000000000" pitchFamily="2" charset="2"/>
              <a:buChar char="ü"/>
            </a:pPr>
            <a:r>
              <a:rPr lang="en-GB" dirty="0">
                <a:solidFill>
                  <a:srgbClr val="FF0000"/>
                </a:solidFill>
              </a:rPr>
              <a:t>MT + IT - HPV</a:t>
            </a:r>
          </a:p>
          <a:p>
            <a:pPr marL="188913" lvl="1" indent="0">
              <a:buNone/>
            </a:pPr>
            <a:endParaRPr lang="en-GB" dirty="0">
              <a:solidFill>
                <a:srgbClr val="FF0000"/>
              </a:solidFill>
            </a:endParaRPr>
          </a:p>
          <a:p>
            <a:pPr>
              <a:buFont typeface="Wingdings" panose="05000000000000000000" pitchFamily="2" charset="2"/>
              <a:buChar char="v"/>
            </a:pPr>
            <a:r>
              <a:rPr lang="en-GB" dirty="0"/>
              <a:t>Suction side mass flow rate:</a:t>
            </a:r>
          </a:p>
          <a:p>
            <a:pPr lvl="1">
              <a:buFont typeface="Wingdings" panose="05000000000000000000" pitchFamily="2" charset="2"/>
              <a:buChar char="ü"/>
            </a:pPr>
            <a:r>
              <a:rPr lang="en-GB" dirty="0">
                <a:solidFill>
                  <a:srgbClr val="92D050"/>
                </a:solidFill>
              </a:rPr>
              <a:t>M1</a:t>
            </a:r>
          </a:p>
          <a:p>
            <a:pPr marL="188913" lvl="1" indent="0">
              <a:buNone/>
            </a:pPr>
            <a:endParaRPr lang="en-GB" dirty="0">
              <a:solidFill>
                <a:srgbClr val="92D050"/>
              </a:solidFill>
            </a:endParaRPr>
          </a:p>
          <a:p>
            <a:pPr>
              <a:buFont typeface="Wingdings" panose="05000000000000000000" pitchFamily="2" charset="2"/>
              <a:buChar char="v"/>
            </a:pPr>
            <a:r>
              <a:rPr lang="en-GB" dirty="0"/>
              <a:t>Discharge mass flow rate:</a:t>
            </a:r>
          </a:p>
          <a:p>
            <a:pPr lvl="1">
              <a:buFont typeface="Wingdings" panose="05000000000000000000" pitchFamily="2" charset="2"/>
              <a:buChar char="ü"/>
            </a:pPr>
            <a:r>
              <a:rPr lang="en-GB" dirty="0">
                <a:solidFill>
                  <a:srgbClr val="FFC000"/>
                </a:solidFill>
              </a:rPr>
              <a:t>MT + IT + M1 - HPV</a:t>
            </a:r>
          </a:p>
          <a:p>
            <a:pPr marL="188913" lvl="1" indent="0">
              <a:buNone/>
            </a:pPr>
            <a:endParaRPr lang="en-GB" dirty="0">
              <a:solidFill>
                <a:srgbClr val="92D050"/>
              </a:solidFill>
            </a:endParaRPr>
          </a:p>
          <a:p>
            <a:pPr marL="188913" lvl="1" indent="0">
              <a:buNone/>
            </a:pPr>
            <a:endParaRPr lang="en-GB" dirty="0">
              <a:solidFill>
                <a:srgbClr val="92D050"/>
              </a:solidFill>
            </a:endParaRPr>
          </a:p>
          <a:p>
            <a:pPr lvl="1">
              <a:buFont typeface="Wingdings" panose="05000000000000000000" pitchFamily="2" charset="2"/>
              <a:buChar char="ü"/>
            </a:pPr>
            <a:endParaRPr lang="en-GB" dirty="0"/>
          </a:p>
          <a:p>
            <a:pPr marL="188913" lvl="1" indent="0">
              <a:buNone/>
            </a:pPr>
            <a:endParaRPr lang="en-GB" dirty="0"/>
          </a:p>
        </p:txBody>
      </p:sp>
      <p:pic>
        <p:nvPicPr>
          <p:cNvPr id="4" name="Picture 3">
            <a:extLst>
              <a:ext uri="{FF2B5EF4-FFF2-40B4-BE49-F238E27FC236}">
                <a16:creationId xmlns:a16="http://schemas.microsoft.com/office/drawing/2014/main" id="{35FC40C8-8633-401C-8757-9BB41CA420B4}"/>
              </a:ext>
            </a:extLst>
          </p:cNvPr>
          <p:cNvPicPr>
            <a:picLocks noChangeAspect="1"/>
          </p:cNvPicPr>
          <p:nvPr/>
        </p:nvPicPr>
        <p:blipFill rotWithShape="1">
          <a:blip r:embed="rId2"/>
          <a:srcRect r="1517"/>
          <a:stretch/>
        </p:blipFill>
        <p:spPr>
          <a:xfrm>
            <a:off x="5216630" y="139037"/>
            <a:ext cx="2393540" cy="1996492"/>
          </a:xfrm>
          <a:prstGeom prst="rect">
            <a:avLst/>
          </a:prstGeom>
        </p:spPr>
      </p:pic>
      <p:sp>
        <p:nvSpPr>
          <p:cNvPr id="5" name="Arrow: Right 4">
            <a:extLst>
              <a:ext uri="{FF2B5EF4-FFF2-40B4-BE49-F238E27FC236}">
                <a16:creationId xmlns:a16="http://schemas.microsoft.com/office/drawing/2014/main" id="{AB44AEF2-2106-4D7D-9C17-73ABF77A8E24}"/>
              </a:ext>
            </a:extLst>
          </p:cNvPr>
          <p:cNvSpPr/>
          <p:nvPr/>
        </p:nvSpPr>
        <p:spPr>
          <a:xfrm>
            <a:off x="7704037" y="1463302"/>
            <a:ext cx="1304158" cy="568988"/>
          </a:xfrm>
          <a:prstGeom prst="rightArrow">
            <a:avLst>
              <a:gd name="adj1" fmla="val 50000"/>
              <a:gd name="adj2" fmla="val 40928"/>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200" noProof="0" dirty="0">
                <a:solidFill>
                  <a:schemeClr val="accent3">
                    <a:lumMod val="50000"/>
                  </a:schemeClr>
                </a:solidFill>
              </a:rPr>
              <a:t>Discharge</a:t>
            </a:r>
          </a:p>
        </p:txBody>
      </p:sp>
      <p:sp>
        <p:nvSpPr>
          <p:cNvPr id="9" name="Arrow: Right 8">
            <a:extLst>
              <a:ext uri="{FF2B5EF4-FFF2-40B4-BE49-F238E27FC236}">
                <a16:creationId xmlns:a16="http://schemas.microsoft.com/office/drawing/2014/main" id="{41FD55F7-2FF4-4F80-987A-F1A84CB2677E}"/>
              </a:ext>
            </a:extLst>
          </p:cNvPr>
          <p:cNvSpPr/>
          <p:nvPr/>
        </p:nvSpPr>
        <p:spPr>
          <a:xfrm flipH="1">
            <a:off x="7661785" y="724533"/>
            <a:ext cx="1063115" cy="412750"/>
          </a:xfrm>
          <a:prstGeom prst="rightArrow">
            <a:avLst/>
          </a:prstGeom>
          <a:solidFill>
            <a:srgbClr val="E60A11"/>
          </a:solidFill>
          <a:ln w="9525">
            <a:solidFill>
              <a:srgbClr val="E60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100" noProof="0" dirty="0">
                <a:solidFill>
                  <a:schemeClr val="accent6">
                    <a:lumMod val="75000"/>
                  </a:schemeClr>
                </a:solidFill>
              </a:rPr>
              <a:t>Motive</a:t>
            </a:r>
          </a:p>
        </p:txBody>
      </p:sp>
      <p:sp>
        <p:nvSpPr>
          <p:cNvPr id="11" name="Arrow: Right 10">
            <a:extLst>
              <a:ext uri="{FF2B5EF4-FFF2-40B4-BE49-F238E27FC236}">
                <a16:creationId xmlns:a16="http://schemas.microsoft.com/office/drawing/2014/main" id="{98F46593-59A8-41E3-A332-169A38620067}"/>
              </a:ext>
            </a:extLst>
          </p:cNvPr>
          <p:cNvSpPr/>
          <p:nvPr/>
        </p:nvSpPr>
        <p:spPr>
          <a:xfrm flipH="1">
            <a:off x="7704037" y="1231275"/>
            <a:ext cx="1020864" cy="304692"/>
          </a:xfrm>
          <a:prstGeom prst="rightArrow">
            <a:avLst/>
          </a:prstGeom>
          <a:solidFill>
            <a:srgbClr val="92D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000" noProof="0" dirty="0">
                <a:solidFill>
                  <a:schemeClr val="tx2">
                    <a:lumMod val="50000"/>
                  </a:schemeClr>
                </a:solidFill>
              </a:rPr>
              <a:t>Suction</a:t>
            </a:r>
          </a:p>
        </p:txBody>
      </p:sp>
      <p:pic>
        <p:nvPicPr>
          <p:cNvPr id="6" name="Picture 5">
            <a:extLst>
              <a:ext uri="{FF2B5EF4-FFF2-40B4-BE49-F238E27FC236}">
                <a16:creationId xmlns:a16="http://schemas.microsoft.com/office/drawing/2014/main" id="{83E180B3-35A9-43C1-96F9-294A221AF8EE}"/>
              </a:ext>
            </a:extLst>
          </p:cNvPr>
          <p:cNvPicPr>
            <a:picLocks noChangeAspect="1"/>
          </p:cNvPicPr>
          <p:nvPr/>
        </p:nvPicPr>
        <p:blipFill>
          <a:blip r:embed="rId3"/>
          <a:stretch>
            <a:fillRect/>
          </a:stretch>
        </p:blipFill>
        <p:spPr>
          <a:xfrm>
            <a:off x="2249129" y="2032290"/>
            <a:ext cx="6894872" cy="3962110"/>
          </a:xfrm>
          <a:prstGeom prst="rect">
            <a:avLst/>
          </a:prstGeom>
        </p:spPr>
      </p:pic>
      <p:sp>
        <p:nvSpPr>
          <p:cNvPr id="12" name="Rectangle 11">
            <a:extLst>
              <a:ext uri="{FF2B5EF4-FFF2-40B4-BE49-F238E27FC236}">
                <a16:creationId xmlns:a16="http://schemas.microsoft.com/office/drawing/2014/main" id="{0D8396ED-2C1B-4A4F-8D4C-39436D8784E1}"/>
              </a:ext>
            </a:extLst>
          </p:cNvPr>
          <p:cNvSpPr/>
          <p:nvPr/>
        </p:nvSpPr>
        <p:spPr>
          <a:xfrm>
            <a:off x="64249" y="6232512"/>
            <a:ext cx="9079751"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180 min moving average.</a:t>
            </a:r>
          </a:p>
        </p:txBody>
      </p:sp>
    </p:spTree>
    <p:extLst>
      <p:ext uri="{BB962C8B-B14F-4D97-AF65-F5344CB8AC3E}">
        <p14:creationId xmlns:p14="http://schemas.microsoft.com/office/powerpoint/2010/main" val="1435369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2D7C-EBB4-47FD-AF6A-4B3EF07C02CC}"/>
              </a:ext>
            </a:extLst>
          </p:cNvPr>
          <p:cNvSpPr>
            <a:spLocks noGrp="1"/>
          </p:cNvSpPr>
          <p:nvPr>
            <p:ph type="title"/>
          </p:nvPr>
        </p:nvSpPr>
        <p:spPr>
          <a:xfrm>
            <a:off x="135804" y="307468"/>
            <a:ext cx="5431711" cy="936000"/>
          </a:xfrm>
        </p:spPr>
        <p:txBody>
          <a:bodyPr/>
          <a:lstStyle/>
          <a:p>
            <a:r>
              <a:rPr lang="en-GB" dirty="0"/>
              <a:t>Week 32(Liquid Ejector only):</a:t>
            </a:r>
          </a:p>
        </p:txBody>
      </p:sp>
      <p:sp>
        <p:nvSpPr>
          <p:cNvPr id="5" name="Arrow: Right 4">
            <a:extLst>
              <a:ext uri="{FF2B5EF4-FFF2-40B4-BE49-F238E27FC236}">
                <a16:creationId xmlns:a16="http://schemas.microsoft.com/office/drawing/2014/main" id="{AB44AEF2-2106-4D7D-9C17-73ABF77A8E24}"/>
              </a:ext>
            </a:extLst>
          </p:cNvPr>
          <p:cNvSpPr/>
          <p:nvPr/>
        </p:nvSpPr>
        <p:spPr>
          <a:xfrm>
            <a:off x="7704037" y="1463302"/>
            <a:ext cx="1304158" cy="568988"/>
          </a:xfrm>
          <a:prstGeom prst="rightArrow">
            <a:avLst>
              <a:gd name="adj1" fmla="val 50000"/>
              <a:gd name="adj2" fmla="val 40928"/>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200" noProof="0" dirty="0">
                <a:solidFill>
                  <a:schemeClr val="accent3">
                    <a:lumMod val="50000"/>
                  </a:schemeClr>
                </a:solidFill>
              </a:rPr>
              <a:t>Discharge</a:t>
            </a:r>
          </a:p>
        </p:txBody>
      </p:sp>
      <p:sp>
        <p:nvSpPr>
          <p:cNvPr id="9" name="Arrow: Right 8">
            <a:extLst>
              <a:ext uri="{FF2B5EF4-FFF2-40B4-BE49-F238E27FC236}">
                <a16:creationId xmlns:a16="http://schemas.microsoft.com/office/drawing/2014/main" id="{41FD55F7-2FF4-4F80-987A-F1A84CB2677E}"/>
              </a:ext>
            </a:extLst>
          </p:cNvPr>
          <p:cNvSpPr/>
          <p:nvPr/>
        </p:nvSpPr>
        <p:spPr>
          <a:xfrm flipH="1">
            <a:off x="7661785" y="724533"/>
            <a:ext cx="1063115" cy="412750"/>
          </a:xfrm>
          <a:prstGeom prst="rightArrow">
            <a:avLst/>
          </a:prstGeom>
          <a:solidFill>
            <a:srgbClr val="E60A11"/>
          </a:solidFill>
          <a:ln w="9525">
            <a:solidFill>
              <a:srgbClr val="E60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100" noProof="0" dirty="0">
                <a:solidFill>
                  <a:schemeClr val="accent6">
                    <a:lumMod val="75000"/>
                  </a:schemeClr>
                </a:solidFill>
              </a:rPr>
              <a:t>Motive</a:t>
            </a:r>
          </a:p>
        </p:txBody>
      </p:sp>
      <p:sp>
        <p:nvSpPr>
          <p:cNvPr id="11" name="Arrow: Right 10">
            <a:extLst>
              <a:ext uri="{FF2B5EF4-FFF2-40B4-BE49-F238E27FC236}">
                <a16:creationId xmlns:a16="http://schemas.microsoft.com/office/drawing/2014/main" id="{98F46593-59A8-41E3-A332-169A38620067}"/>
              </a:ext>
            </a:extLst>
          </p:cNvPr>
          <p:cNvSpPr/>
          <p:nvPr/>
        </p:nvSpPr>
        <p:spPr>
          <a:xfrm flipH="1">
            <a:off x="7704037" y="1231275"/>
            <a:ext cx="1020864" cy="304692"/>
          </a:xfrm>
          <a:prstGeom prst="rightArrow">
            <a:avLst/>
          </a:prstGeom>
          <a:solidFill>
            <a:srgbClr val="92D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000" noProof="0" dirty="0">
                <a:solidFill>
                  <a:schemeClr val="tx2">
                    <a:lumMod val="50000"/>
                  </a:schemeClr>
                </a:solidFill>
              </a:rPr>
              <a:t>Suction</a:t>
            </a:r>
          </a:p>
        </p:txBody>
      </p:sp>
      <p:pic>
        <p:nvPicPr>
          <p:cNvPr id="6" name="Picture 5">
            <a:extLst>
              <a:ext uri="{FF2B5EF4-FFF2-40B4-BE49-F238E27FC236}">
                <a16:creationId xmlns:a16="http://schemas.microsoft.com/office/drawing/2014/main" id="{958B411C-D52B-4E23-99FC-B5D6D7CD3273}"/>
              </a:ext>
            </a:extLst>
          </p:cNvPr>
          <p:cNvPicPr>
            <a:picLocks noChangeAspect="1"/>
          </p:cNvPicPr>
          <p:nvPr/>
        </p:nvPicPr>
        <p:blipFill>
          <a:blip r:embed="rId2"/>
          <a:stretch>
            <a:fillRect/>
          </a:stretch>
        </p:blipFill>
        <p:spPr>
          <a:xfrm>
            <a:off x="5963727" y="403515"/>
            <a:ext cx="1609725" cy="1628775"/>
          </a:xfrm>
          <a:prstGeom prst="rect">
            <a:avLst/>
          </a:prstGeom>
        </p:spPr>
      </p:pic>
      <p:pic>
        <p:nvPicPr>
          <p:cNvPr id="4" name="Picture 3">
            <a:extLst>
              <a:ext uri="{FF2B5EF4-FFF2-40B4-BE49-F238E27FC236}">
                <a16:creationId xmlns:a16="http://schemas.microsoft.com/office/drawing/2014/main" id="{9B05CADD-0D28-4156-A2D5-E5C45F78A249}"/>
              </a:ext>
            </a:extLst>
          </p:cNvPr>
          <p:cNvPicPr>
            <a:picLocks noChangeAspect="1"/>
          </p:cNvPicPr>
          <p:nvPr/>
        </p:nvPicPr>
        <p:blipFill>
          <a:blip r:embed="rId3"/>
          <a:stretch>
            <a:fillRect/>
          </a:stretch>
        </p:blipFill>
        <p:spPr>
          <a:xfrm>
            <a:off x="2529348" y="2032291"/>
            <a:ext cx="6614654" cy="3221039"/>
          </a:xfrm>
          <a:prstGeom prst="rect">
            <a:avLst/>
          </a:prstGeom>
        </p:spPr>
      </p:pic>
      <p:sp>
        <p:nvSpPr>
          <p:cNvPr id="12" name="Content Placeholder 2">
            <a:extLst>
              <a:ext uri="{FF2B5EF4-FFF2-40B4-BE49-F238E27FC236}">
                <a16:creationId xmlns:a16="http://schemas.microsoft.com/office/drawing/2014/main" id="{34A29B75-DAAC-4205-9CB2-20AB2FF3B6C1}"/>
              </a:ext>
            </a:extLst>
          </p:cNvPr>
          <p:cNvSpPr>
            <a:spLocks noGrp="1"/>
          </p:cNvSpPr>
          <p:nvPr>
            <p:ph idx="1"/>
          </p:nvPr>
        </p:nvSpPr>
        <p:spPr>
          <a:xfrm>
            <a:off x="150563" y="1217902"/>
            <a:ext cx="2242978" cy="3974314"/>
          </a:xfrm>
        </p:spPr>
        <p:txBody>
          <a:bodyPr/>
          <a:lstStyle/>
          <a:p>
            <a:pPr>
              <a:buFont typeface="Wingdings" panose="05000000000000000000" pitchFamily="2" charset="2"/>
              <a:buChar char="v"/>
            </a:pPr>
            <a:r>
              <a:rPr lang="en-GB" dirty="0"/>
              <a:t>Motive nozzle mass flow rate : </a:t>
            </a:r>
          </a:p>
          <a:p>
            <a:pPr lvl="1">
              <a:buFont typeface="Wingdings" panose="05000000000000000000" pitchFamily="2" charset="2"/>
              <a:buChar char="ü"/>
            </a:pPr>
            <a:r>
              <a:rPr lang="en-GB" dirty="0">
                <a:solidFill>
                  <a:srgbClr val="FF0000"/>
                </a:solidFill>
              </a:rPr>
              <a:t>MT+ IT - M5 - HPV</a:t>
            </a:r>
          </a:p>
          <a:p>
            <a:pPr>
              <a:buFont typeface="Wingdings" panose="05000000000000000000" pitchFamily="2" charset="2"/>
              <a:buChar char="v"/>
            </a:pPr>
            <a:r>
              <a:rPr lang="en-GB" dirty="0"/>
              <a:t>Suction side mass flow rate:</a:t>
            </a:r>
          </a:p>
          <a:p>
            <a:pPr lvl="1">
              <a:buFont typeface="Wingdings" panose="05000000000000000000" pitchFamily="2" charset="2"/>
              <a:buChar char="ü"/>
            </a:pPr>
            <a:r>
              <a:rPr lang="en-GB" dirty="0">
                <a:solidFill>
                  <a:srgbClr val="92D050"/>
                </a:solidFill>
              </a:rPr>
              <a:t>M3 + M4 - MT</a:t>
            </a:r>
          </a:p>
          <a:p>
            <a:pPr marL="188913" lvl="1" indent="0">
              <a:buNone/>
            </a:pPr>
            <a:endParaRPr lang="en-GB" dirty="0">
              <a:solidFill>
                <a:srgbClr val="92D050"/>
              </a:solidFill>
            </a:endParaRPr>
          </a:p>
          <a:p>
            <a:pPr>
              <a:buFont typeface="Wingdings" panose="05000000000000000000" pitchFamily="2" charset="2"/>
              <a:buChar char="v"/>
            </a:pPr>
            <a:r>
              <a:rPr lang="en-GB" dirty="0"/>
              <a:t>Discharge mass flow rate:</a:t>
            </a:r>
          </a:p>
          <a:p>
            <a:pPr lvl="1">
              <a:buFont typeface="Wingdings" panose="05000000000000000000" pitchFamily="2" charset="2"/>
              <a:buChar char="ü"/>
            </a:pPr>
            <a:r>
              <a:rPr lang="en-GB" dirty="0">
                <a:solidFill>
                  <a:srgbClr val="FFC000"/>
                </a:solidFill>
              </a:rPr>
              <a:t>M3 + M4 + IT - M5 - HPV</a:t>
            </a:r>
          </a:p>
          <a:p>
            <a:pPr marL="188913" lvl="1" indent="0">
              <a:buNone/>
            </a:pPr>
            <a:endParaRPr lang="en-GB" dirty="0">
              <a:solidFill>
                <a:srgbClr val="92D050"/>
              </a:solidFill>
            </a:endParaRPr>
          </a:p>
          <a:p>
            <a:pPr marL="188913" lvl="1" indent="0">
              <a:buNone/>
            </a:pPr>
            <a:endParaRPr lang="en-GB" dirty="0">
              <a:solidFill>
                <a:srgbClr val="92D050"/>
              </a:solidFill>
            </a:endParaRPr>
          </a:p>
          <a:p>
            <a:pPr lvl="1">
              <a:buFont typeface="Wingdings" panose="05000000000000000000" pitchFamily="2" charset="2"/>
              <a:buChar char="ü"/>
            </a:pPr>
            <a:endParaRPr lang="en-GB" dirty="0"/>
          </a:p>
          <a:p>
            <a:pPr marL="188913" lvl="1" indent="0">
              <a:buNone/>
            </a:pPr>
            <a:endParaRPr lang="en-GB" dirty="0"/>
          </a:p>
        </p:txBody>
      </p:sp>
      <p:sp>
        <p:nvSpPr>
          <p:cNvPr id="10" name="Content Placeholder 2">
            <a:extLst>
              <a:ext uri="{FF2B5EF4-FFF2-40B4-BE49-F238E27FC236}">
                <a16:creationId xmlns:a16="http://schemas.microsoft.com/office/drawing/2014/main" id="{B92DA35B-0846-4ED5-8E5B-71ABFDC81D33}"/>
              </a:ext>
            </a:extLst>
          </p:cNvPr>
          <p:cNvSpPr txBox="1">
            <a:spLocks/>
          </p:cNvSpPr>
          <p:nvPr/>
        </p:nvSpPr>
        <p:spPr>
          <a:xfrm>
            <a:off x="420942" y="5415438"/>
            <a:ext cx="8143938" cy="356330"/>
          </a:xfrm>
          <a:prstGeom prst="rect">
            <a:avLst/>
          </a:prstGeom>
        </p:spPr>
        <p:txBody>
          <a:bodyPr vert="horz" lIns="0" tIns="0" rIns="0" bIns="0" numCol="2" spcCol="7200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8913" lvl="1" indent="0">
              <a:buFont typeface="Verdana" panose="020B0604030504040204" pitchFamily="34" charset="0"/>
              <a:buNone/>
            </a:pPr>
            <a:r>
              <a:rPr lang="en-GB" sz="1000" dirty="0"/>
              <a:t>MT : Mass flow rate through MT compressors (Kg/s)                 </a:t>
            </a:r>
          </a:p>
          <a:p>
            <a:pPr marL="188913" lvl="1" indent="0">
              <a:buNone/>
            </a:pPr>
            <a:r>
              <a:rPr lang="en-GB" sz="1000" dirty="0"/>
              <a:t>IT : Mass flow rate through IT compressors (Kg/s)</a:t>
            </a:r>
          </a:p>
          <a:p>
            <a:pPr marL="188913" lvl="1" indent="0">
              <a:buNone/>
            </a:pPr>
            <a:r>
              <a:rPr lang="en-GB" sz="1000" dirty="0"/>
              <a:t>M3: Mass flow rate through MT evaporators (Kg/s)</a:t>
            </a:r>
          </a:p>
          <a:p>
            <a:pPr marL="188913" lvl="1" indent="0">
              <a:buNone/>
            </a:pPr>
            <a:endParaRPr lang="en-GB" sz="1000" dirty="0"/>
          </a:p>
          <a:p>
            <a:pPr marL="188913" lvl="1" indent="0">
              <a:buNone/>
            </a:pPr>
            <a:endParaRPr lang="en-GB" sz="1000" dirty="0"/>
          </a:p>
          <a:p>
            <a:pPr marL="188913" lvl="1" indent="0">
              <a:buNone/>
            </a:pPr>
            <a:r>
              <a:rPr lang="en-GB" sz="1000" dirty="0"/>
              <a:t>HPV : Mass flow rate through high pressure valve (Kg/s)</a:t>
            </a:r>
          </a:p>
          <a:p>
            <a:pPr marL="188913" lvl="1" indent="0">
              <a:buNone/>
            </a:pPr>
            <a:r>
              <a:rPr lang="en-GB" sz="1000" dirty="0"/>
              <a:t>M5: Mass flow rate through AC evaporators (Kg/s)</a:t>
            </a:r>
          </a:p>
          <a:p>
            <a:pPr marL="188913" lvl="1" indent="0">
              <a:buNone/>
            </a:pPr>
            <a:r>
              <a:rPr lang="en-GB" sz="1000" dirty="0"/>
              <a:t>M4: Mass flow rate through LT evaporators (Kg/s)</a:t>
            </a:r>
          </a:p>
          <a:p>
            <a:pPr marL="188913" lvl="1" indent="0">
              <a:buNone/>
            </a:pPr>
            <a:endParaRPr lang="en-GB" sz="1000" dirty="0"/>
          </a:p>
          <a:p>
            <a:pPr marL="188913" lvl="1" indent="0">
              <a:buFont typeface="Verdana" panose="020B0604030504040204" pitchFamily="34" charset="0"/>
              <a:buNone/>
            </a:pPr>
            <a:endParaRPr lang="en-GB" sz="1000" dirty="0"/>
          </a:p>
        </p:txBody>
      </p:sp>
      <p:sp>
        <p:nvSpPr>
          <p:cNvPr id="14" name="Rectangle 13">
            <a:extLst>
              <a:ext uri="{FF2B5EF4-FFF2-40B4-BE49-F238E27FC236}">
                <a16:creationId xmlns:a16="http://schemas.microsoft.com/office/drawing/2014/main" id="{60BD8CC4-B5C2-4656-951E-1D47C9B97BD2}"/>
              </a:ext>
            </a:extLst>
          </p:cNvPr>
          <p:cNvSpPr/>
          <p:nvPr/>
        </p:nvSpPr>
        <p:spPr>
          <a:xfrm>
            <a:off x="64249" y="6232512"/>
            <a:ext cx="9079751"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180 min moving average.</a:t>
            </a:r>
          </a:p>
        </p:txBody>
      </p:sp>
    </p:spTree>
    <p:extLst>
      <p:ext uri="{BB962C8B-B14F-4D97-AF65-F5344CB8AC3E}">
        <p14:creationId xmlns:p14="http://schemas.microsoft.com/office/powerpoint/2010/main" val="2443979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2D7C-EBB4-47FD-AF6A-4B3EF07C02CC}"/>
              </a:ext>
            </a:extLst>
          </p:cNvPr>
          <p:cNvSpPr>
            <a:spLocks noGrp="1"/>
          </p:cNvSpPr>
          <p:nvPr>
            <p:ph type="title"/>
          </p:nvPr>
        </p:nvSpPr>
        <p:spPr>
          <a:xfrm>
            <a:off x="135804" y="307468"/>
            <a:ext cx="5431711" cy="936000"/>
          </a:xfrm>
        </p:spPr>
        <p:txBody>
          <a:bodyPr/>
          <a:lstStyle/>
          <a:p>
            <a:r>
              <a:rPr lang="en-GB" dirty="0"/>
              <a:t>Week 32(Liquid Ejector only):</a:t>
            </a:r>
          </a:p>
        </p:txBody>
      </p:sp>
      <p:sp>
        <p:nvSpPr>
          <p:cNvPr id="3" name="Content Placeholder 2">
            <a:extLst>
              <a:ext uri="{FF2B5EF4-FFF2-40B4-BE49-F238E27FC236}">
                <a16:creationId xmlns:a16="http://schemas.microsoft.com/office/drawing/2014/main" id="{D753C9A2-7951-4934-A248-85F6247792A5}"/>
              </a:ext>
            </a:extLst>
          </p:cNvPr>
          <p:cNvSpPr>
            <a:spLocks noGrp="1"/>
          </p:cNvSpPr>
          <p:nvPr>
            <p:ph idx="1"/>
          </p:nvPr>
        </p:nvSpPr>
        <p:spPr>
          <a:xfrm>
            <a:off x="108001" y="1747796"/>
            <a:ext cx="2242978" cy="3974314"/>
          </a:xfrm>
        </p:spPr>
        <p:txBody>
          <a:bodyPr/>
          <a:lstStyle/>
          <a:p>
            <a:pPr>
              <a:buFont typeface="Wingdings" panose="05000000000000000000" pitchFamily="2" charset="2"/>
              <a:buChar char="v"/>
            </a:pPr>
            <a:r>
              <a:rPr lang="en-GB" dirty="0"/>
              <a:t>Motive nozzle mass flow rate : </a:t>
            </a:r>
          </a:p>
          <a:p>
            <a:pPr lvl="1">
              <a:buFont typeface="Wingdings" panose="05000000000000000000" pitchFamily="2" charset="2"/>
              <a:buChar char="ü"/>
            </a:pPr>
            <a:r>
              <a:rPr lang="en-GB" dirty="0">
                <a:solidFill>
                  <a:srgbClr val="FF0000"/>
                </a:solidFill>
              </a:rPr>
              <a:t>MT+ IT - M5 - HPV</a:t>
            </a:r>
          </a:p>
          <a:p>
            <a:pPr>
              <a:buFont typeface="Wingdings" panose="05000000000000000000" pitchFamily="2" charset="2"/>
              <a:buChar char="v"/>
            </a:pPr>
            <a:r>
              <a:rPr lang="en-GB" dirty="0"/>
              <a:t>Suction side mass flow rate:</a:t>
            </a:r>
          </a:p>
          <a:p>
            <a:pPr lvl="1">
              <a:buFont typeface="Wingdings" panose="05000000000000000000" pitchFamily="2" charset="2"/>
              <a:buChar char="ü"/>
            </a:pPr>
            <a:r>
              <a:rPr lang="en-GB" dirty="0">
                <a:solidFill>
                  <a:srgbClr val="92D050"/>
                </a:solidFill>
              </a:rPr>
              <a:t>M3 + M4 - MT</a:t>
            </a:r>
          </a:p>
          <a:p>
            <a:pPr marL="188913" lvl="1" indent="0">
              <a:buNone/>
            </a:pPr>
            <a:endParaRPr lang="en-GB" dirty="0">
              <a:solidFill>
                <a:srgbClr val="92D050"/>
              </a:solidFill>
            </a:endParaRPr>
          </a:p>
          <a:p>
            <a:pPr>
              <a:buFont typeface="Wingdings" panose="05000000000000000000" pitchFamily="2" charset="2"/>
              <a:buChar char="v"/>
            </a:pPr>
            <a:r>
              <a:rPr lang="en-GB" dirty="0"/>
              <a:t>Discharge mass flow rate:</a:t>
            </a:r>
          </a:p>
          <a:p>
            <a:pPr lvl="1">
              <a:buFont typeface="Wingdings" panose="05000000000000000000" pitchFamily="2" charset="2"/>
              <a:buChar char="ü"/>
            </a:pPr>
            <a:r>
              <a:rPr lang="en-GB" dirty="0">
                <a:solidFill>
                  <a:srgbClr val="FFC000"/>
                </a:solidFill>
              </a:rPr>
              <a:t>M3 + M4 + IT - M5 – HPV</a:t>
            </a:r>
          </a:p>
          <a:p>
            <a:pPr marL="188913" lvl="1" indent="0">
              <a:buNone/>
            </a:pPr>
            <a:endParaRPr lang="en-GB" dirty="0">
              <a:solidFill>
                <a:srgbClr val="92D050"/>
              </a:solidFill>
            </a:endParaRPr>
          </a:p>
          <a:p>
            <a:pPr marL="188913" lvl="1" indent="0">
              <a:buNone/>
            </a:pPr>
            <a:endParaRPr lang="en-GB" dirty="0">
              <a:solidFill>
                <a:srgbClr val="92D050"/>
              </a:solidFill>
            </a:endParaRPr>
          </a:p>
          <a:p>
            <a:pPr lvl="1">
              <a:buFont typeface="Wingdings" panose="05000000000000000000" pitchFamily="2" charset="2"/>
              <a:buChar char="ü"/>
            </a:pPr>
            <a:endParaRPr lang="en-GB" dirty="0"/>
          </a:p>
          <a:p>
            <a:pPr marL="188913" lvl="1" indent="0">
              <a:buNone/>
            </a:pPr>
            <a:endParaRPr lang="en-GB" dirty="0"/>
          </a:p>
        </p:txBody>
      </p:sp>
      <p:sp>
        <p:nvSpPr>
          <p:cNvPr id="5" name="Arrow: Right 4">
            <a:extLst>
              <a:ext uri="{FF2B5EF4-FFF2-40B4-BE49-F238E27FC236}">
                <a16:creationId xmlns:a16="http://schemas.microsoft.com/office/drawing/2014/main" id="{AB44AEF2-2106-4D7D-9C17-73ABF77A8E24}"/>
              </a:ext>
            </a:extLst>
          </p:cNvPr>
          <p:cNvSpPr/>
          <p:nvPr/>
        </p:nvSpPr>
        <p:spPr>
          <a:xfrm>
            <a:off x="7704037" y="1463302"/>
            <a:ext cx="1304158" cy="568988"/>
          </a:xfrm>
          <a:prstGeom prst="rightArrow">
            <a:avLst>
              <a:gd name="adj1" fmla="val 50000"/>
              <a:gd name="adj2" fmla="val 40928"/>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200" noProof="0" dirty="0">
                <a:solidFill>
                  <a:schemeClr val="accent3">
                    <a:lumMod val="50000"/>
                  </a:schemeClr>
                </a:solidFill>
              </a:rPr>
              <a:t>Discharge</a:t>
            </a:r>
          </a:p>
        </p:txBody>
      </p:sp>
      <p:sp>
        <p:nvSpPr>
          <p:cNvPr id="9" name="Arrow: Right 8">
            <a:extLst>
              <a:ext uri="{FF2B5EF4-FFF2-40B4-BE49-F238E27FC236}">
                <a16:creationId xmlns:a16="http://schemas.microsoft.com/office/drawing/2014/main" id="{41FD55F7-2FF4-4F80-987A-F1A84CB2677E}"/>
              </a:ext>
            </a:extLst>
          </p:cNvPr>
          <p:cNvSpPr/>
          <p:nvPr/>
        </p:nvSpPr>
        <p:spPr>
          <a:xfrm flipH="1">
            <a:off x="7661785" y="724533"/>
            <a:ext cx="1063115" cy="412750"/>
          </a:xfrm>
          <a:prstGeom prst="rightArrow">
            <a:avLst/>
          </a:prstGeom>
          <a:solidFill>
            <a:srgbClr val="E60A11"/>
          </a:solidFill>
          <a:ln w="9525">
            <a:solidFill>
              <a:srgbClr val="E60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100" noProof="0" dirty="0">
                <a:solidFill>
                  <a:schemeClr val="accent6">
                    <a:lumMod val="75000"/>
                  </a:schemeClr>
                </a:solidFill>
              </a:rPr>
              <a:t>Motive</a:t>
            </a:r>
          </a:p>
        </p:txBody>
      </p:sp>
      <p:sp>
        <p:nvSpPr>
          <p:cNvPr id="11" name="Arrow: Right 10">
            <a:extLst>
              <a:ext uri="{FF2B5EF4-FFF2-40B4-BE49-F238E27FC236}">
                <a16:creationId xmlns:a16="http://schemas.microsoft.com/office/drawing/2014/main" id="{98F46593-59A8-41E3-A332-169A38620067}"/>
              </a:ext>
            </a:extLst>
          </p:cNvPr>
          <p:cNvSpPr/>
          <p:nvPr/>
        </p:nvSpPr>
        <p:spPr>
          <a:xfrm flipH="1">
            <a:off x="7704037" y="1231275"/>
            <a:ext cx="1020864" cy="304692"/>
          </a:xfrm>
          <a:prstGeom prst="rightArrow">
            <a:avLst/>
          </a:prstGeom>
          <a:solidFill>
            <a:srgbClr val="92D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000" noProof="0" dirty="0">
                <a:solidFill>
                  <a:schemeClr val="tx2">
                    <a:lumMod val="50000"/>
                  </a:schemeClr>
                </a:solidFill>
              </a:rPr>
              <a:t>Suction</a:t>
            </a:r>
          </a:p>
        </p:txBody>
      </p:sp>
      <p:pic>
        <p:nvPicPr>
          <p:cNvPr id="6" name="Picture 5">
            <a:extLst>
              <a:ext uri="{FF2B5EF4-FFF2-40B4-BE49-F238E27FC236}">
                <a16:creationId xmlns:a16="http://schemas.microsoft.com/office/drawing/2014/main" id="{958B411C-D52B-4E23-99FC-B5D6D7CD3273}"/>
              </a:ext>
            </a:extLst>
          </p:cNvPr>
          <p:cNvPicPr>
            <a:picLocks noChangeAspect="1"/>
          </p:cNvPicPr>
          <p:nvPr/>
        </p:nvPicPr>
        <p:blipFill>
          <a:blip r:embed="rId2"/>
          <a:stretch>
            <a:fillRect/>
          </a:stretch>
        </p:blipFill>
        <p:spPr>
          <a:xfrm>
            <a:off x="5963727" y="403515"/>
            <a:ext cx="1609725" cy="1628775"/>
          </a:xfrm>
          <a:prstGeom prst="rect">
            <a:avLst/>
          </a:prstGeom>
        </p:spPr>
      </p:pic>
      <p:sp>
        <p:nvSpPr>
          <p:cNvPr id="12" name="Rectangle 11">
            <a:extLst>
              <a:ext uri="{FF2B5EF4-FFF2-40B4-BE49-F238E27FC236}">
                <a16:creationId xmlns:a16="http://schemas.microsoft.com/office/drawing/2014/main" id="{292AEE59-1D22-4141-ABAB-DDD4912BDFF5}"/>
              </a:ext>
            </a:extLst>
          </p:cNvPr>
          <p:cNvSpPr/>
          <p:nvPr/>
        </p:nvSpPr>
        <p:spPr>
          <a:xfrm>
            <a:off x="64249" y="6232512"/>
            <a:ext cx="9079751"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180 min moving average.</a:t>
            </a:r>
          </a:p>
        </p:txBody>
      </p:sp>
      <p:pic>
        <p:nvPicPr>
          <p:cNvPr id="7" name="Picture 6">
            <a:extLst>
              <a:ext uri="{FF2B5EF4-FFF2-40B4-BE49-F238E27FC236}">
                <a16:creationId xmlns:a16="http://schemas.microsoft.com/office/drawing/2014/main" id="{E8891351-8FD8-4307-A1FF-114411ABFF44}"/>
              </a:ext>
            </a:extLst>
          </p:cNvPr>
          <p:cNvPicPr>
            <a:picLocks noChangeAspect="1"/>
          </p:cNvPicPr>
          <p:nvPr/>
        </p:nvPicPr>
        <p:blipFill>
          <a:blip r:embed="rId3"/>
          <a:stretch>
            <a:fillRect/>
          </a:stretch>
        </p:blipFill>
        <p:spPr>
          <a:xfrm>
            <a:off x="2399225" y="2079286"/>
            <a:ext cx="6636774" cy="4106230"/>
          </a:xfrm>
          <a:prstGeom prst="rect">
            <a:avLst/>
          </a:prstGeom>
        </p:spPr>
      </p:pic>
    </p:spTree>
    <p:extLst>
      <p:ext uri="{BB962C8B-B14F-4D97-AF65-F5344CB8AC3E}">
        <p14:creationId xmlns:p14="http://schemas.microsoft.com/office/powerpoint/2010/main" val="3008614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2D7C-EBB4-47FD-AF6A-4B3EF07C02CC}"/>
              </a:ext>
            </a:extLst>
          </p:cNvPr>
          <p:cNvSpPr>
            <a:spLocks noGrp="1"/>
          </p:cNvSpPr>
          <p:nvPr>
            <p:ph type="title"/>
          </p:nvPr>
        </p:nvSpPr>
        <p:spPr>
          <a:xfrm>
            <a:off x="135805" y="307468"/>
            <a:ext cx="4797531" cy="936000"/>
          </a:xfrm>
        </p:spPr>
        <p:txBody>
          <a:bodyPr/>
          <a:lstStyle/>
          <a:p>
            <a:r>
              <a:rPr lang="en-GB" dirty="0"/>
              <a:t>Week 34(HP Ejector only):</a:t>
            </a:r>
          </a:p>
        </p:txBody>
      </p:sp>
      <p:sp>
        <p:nvSpPr>
          <p:cNvPr id="3" name="Content Placeholder 2">
            <a:extLst>
              <a:ext uri="{FF2B5EF4-FFF2-40B4-BE49-F238E27FC236}">
                <a16:creationId xmlns:a16="http://schemas.microsoft.com/office/drawing/2014/main" id="{D753C9A2-7951-4934-A248-85F6247792A5}"/>
              </a:ext>
            </a:extLst>
          </p:cNvPr>
          <p:cNvSpPr>
            <a:spLocks noGrp="1"/>
          </p:cNvSpPr>
          <p:nvPr>
            <p:ph idx="1"/>
          </p:nvPr>
        </p:nvSpPr>
        <p:spPr>
          <a:xfrm>
            <a:off x="237406" y="1137283"/>
            <a:ext cx="2128072" cy="3974314"/>
          </a:xfrm>
        </p:spPr>
        <p:txBody>
          <a:bodyPr/>
          <a:lstStyle/>
          <a:p>
            <a:pPr>
              <a:buFont typeface="Wingdings" panose="05000000000000000000" pitchFamily="2" charset="2"/>
              <a:buChar char="v"/>
            </a:pPr>
            <a:r>
              <a:rPr lang="en-GB" dirty="0"/>
              <a:t>Motive nozzle mass flow rate : </a:t>
            </a:r>
          </a:p>
          <a:p>
            <a:pPr lvl="1">
              <a:buFont typeface="Wingdings" panose="05000000000000000000" pitchFamily="2" charset="2"/>
              <a:buChar char="ü"/>
            </a:pPr>
            <a:r>
              <a:rPr lang="en-GB" dirty="0">
                <a:solidFill>
                  <a:srgbClr val="FF0000"/>
                </a:solidFill>
              </a:rPr>
              <a:t>MT + IT –M5</a:t>
            </a:r>
          </a:p>
          <a:p>
            <a:pPr marL="188913" lvl="1" indent="0">
              <a:buNone/>
            </a:pPr>
            <a:endParaRPr lang="en-GB" dirty="0">
              <a:solidFill>
                <a:srgbClr val="FF0000"/>
              </a:solidFill>
            </a:endParaRPr>
          </a:p>
          <a:p>
            <a:pPr>
              <a:buFont typeface="Wingdings" panose="05000000000000000000" pitchFamily="2" charset="2"/>
              <a:buChar char="v"/>
            </a:pPr>
            <a:r>
              <a:rPr lang="en-GB" dirty="0"/>
              <a:t>Suction side mass flow rate:</a:t>
            </a:r>
          </a:p>
          <a:p>
            <a:pPr lvl="1">
              <a:buFont typeface="Wingdings" panose="05000000000000000000" pitchFamily="2" charset="2"/>
              <a:buChar char="ü"/>
            </a:pPr>
            <a:r>
              <a:rPr lang="en-GB" dirty="0">
                <a:solidFill>
                  <a:srgbClr val="92D050"/>
                </a:solidFill>
              </a:rPr>
              <a:t>M3 + M4 -MT</a:t>
            </a:r>
          </a:p>
          <a:p>
            <a:pPr marL="188913" lvl="1" indent="0">
              <a:buNone/>
            </a:pPr>
            <a:endParaRPr lang="en-GB" dirty="0">
              <a:solidFill>
                <a:srgbClr val="92D050"/>
              </a:solidFill>
            </a:endParaRPr>
          </a:p>
          <a:p>
            <a:pPr>
              <a:buFont typeface="Wingdings" panose="05000000000000000000" pitchFamily="2" charset="2"/>
              <a:buChar char="v"/>
            </a:pPr>
            <a:r>
              <a:rPr lang="en-GB" dirty="0"/>
              <a:t>Discharge mass flow rate:</a:t>
            </a:r>
          </a:p>
          <a:p>
            <a:pPr lvl="1">
              <a:buFont typeface="Wingdings" panose="05000000000000000000" pitchFamily="2" charset="2"/>
              <a:buChar char="ü"/>
            </a:pPr>
            <a:r>
              <a:rPr lang="en-GB" dirty="0">
                <a:solidFill>
                  <a:srgbClr val="FFC000"/>
                </a:solidFill>
              </a:rPr>
              <a:t>M3 + M4 + IT - M5</a:t>
            </a:r>
          </a:p>
          <a:p>
            <a:pPr marL="188913" lvl="1" indent="0">
              <a:buNone/>
            </a:pPr>
            <a:endParaRPr lang="en-GB" dirty="0"/>
          </a:p>
          <a:p>
            <a:pPr marL="188913" lvl="1" indent="0">
              <a:buNone/>
            </a:pPr>
            <a:endParaRPr lang="en-GB" dirty="0"/>
          </a:p>
        </p:txBody>
      </p:sp>
      <p:pic>
        <p:nvPicPr>
          <p:cNvPr id="4" name="Picture 3">
            <a:extLst>
              <a:ext uri="{FF2B5EF4-FFF2-40B4-BE49-F238E27FC236}">
                <a16:creationId xmlns:a16="http://schemas.microsoft.com/office/drawing/2014/main" id="{35FC40C8-8633-401C-8757-9BB41CA420B4}"/>
              </a:ext>
            </a:extLst>
          </p:cNvPr>
          <p:cNvPicPr>
            <a:picLocks noChangeAspect="1"/>
          </p:cNvPicPr>
          <p:nvPr/>
        </p:nvPicPr>
        <p:blipFill rotWithShape="1">
          <a:blip r:embed="rId2"/>
          <a:srcRect r="1517"/>
          <a:stretch/>
        </p:blipFill>
        <p:spPr>
          <a:xfrm>
            <a:off x="5216630" y="139037"/>
            <a:ext cx="2393540" cy="1996492"/>
          </a:xfrm>
          <a:prstGeom prst="rect">
            <a:avLst/>
          </a:prstGeom>
        </p:spPr>
      </p:pic>
      <p:sp>
        <p:nvSpPr>
          <p:cNvPr id="5" name="Arrow: Right 4">
            <a:extLst>
              <a:ext uri="{FF2B5EF4-FFF2-40B4-BE49-F238E27FC236}">
                <a16:creationId xmlns:a16="http://schemas.microsoft.com/office/drawing/2014/main" id="{AB44AEF2-2106-4D7D-9C17-73ABF77A8E24}"/>
              </a:ext>
            </a:extLst>
          </p:cNvPr>
          <p:cNvSpPr/>
          <p:nvPr/>
        </p:nvSpPr>
        <p:spPr>
          <a:xfrm>
            <a:off x="7704037" y="1463302"/>
            <a:ext cx="1304158" cy="568988"/>
          </a:xfrm>
          <a:prstGeom prst="rightArrow">
            <a:avLst>
              <a:gd name="adj1" fmla="val 50000"/>
              <a:gd name="adj2" fmla="val 40928"/>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200" noProof="0" dirty="0">
                <a:solidFill>
                  <a:schemeClr val="accent3">
                    <a:lumMod val="50000"/>
                  </a:schemeClr>
                </a:solidFill>
              </a:rPr>
              <a:t>Discharge</a:t>
            </a:r>
          </a:p>
        </p:txBody>
      </p:sp>
      <p:sp>
        <p:nvSpPr>
          <p:cNvPr id="9" name="Arrow: Right 8">
            <a:extLst>
              <a:ext uri="{FF2B5EF4-FFF2-40B4-BE49-F238E27FC236}">
                <a16:creationId xmlns:a16="http://schemas.microsoft.com/office/drawing/2014/main" id="{41FD55F7-2FF4-4F80-987A-F1A84CB2677E}"/>
              </a:ext>
            </a:extLst>
          </p:cNvPr>
          <p:cNvSpPr/>
          <p:nvPr/>
        </p:nvSpPr>
        <p:spPr>
          <a:xfrm flipH="1">
            <a:off x="7661785" y="724533"/>
            <a:ext cx="1063115" cy="412750"/>
          </a:xfrm>
          <a:prstGeom prst="rightArrow">
            <a:avLst/>
          </a:prstGeom>
          <a:solidFill>
            <a:srgbClr val="E60A11"/>
          </a:solidFill>
          <a:ln w="9525">
            <a:solidFill>
              <a:srgbClr val="E60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100" noProof="0" dirty="0">
                <a:solidFill>
                  <a:schemeClr val="accent6">
                    <a:lumMod val="75000"/>
                  </a:schemeClr>
                </a:solidFill>
              </a:rPr>
              <a:t>Motive</a:t>
            </a:r>
          </a:p>
        </p:txBody>
      </p:sp>
      <p:sp>
        <p:nvSpPr>
          <p:cNvPr id="11" name="Arrow: Right 10">
            <a:extLst>
              <a:ext uri="{FF2B5EF4-FFF2-40B4-BE49-F238E27FC236}">
                <a16:creationId xmlns:a16="http://schemas.microsoft.com/office/drawing/2014/main" id="{98F46593-59A8-41E3-A332-169A38620067}"/>
              </a:ext>
            </a:extLst>
          </p:cNvPr>
          <p:cNvSpPr/>
          <p:nvPr/>
        </p:nvSpPr>
        <p:spPr>
          <a:xfrm flipH="1">
            <a:off x="7704037" y="1231275"/>
            <a:ext cx="1020864" cy="304692"/>
          </a:xfrm>
          <a:prstGeom prst="rightArrow">
            <a:avLst/>
          </a:prstGeom>
          <a:solidFill>
            <a:srgbClr val="92D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000" noProof="0" dirty="0">
                <a:solidFill>
                  <a:schemeClr val="tx2">
                    <a:lumMod val="50000"/>
                  </a:schemeClr>
                </a:solidFill>
              </a:rPr>
              <a:t>Suction</a:t>
            </a:r>
          </a:p>
        </p:txBody>
      </p:sp>
      <p:pic>
        <p:nvPicPr>
          <p:cNvPr id="6" name="Picture 5">
            <a:extLst>
              <a:ext uri="{FF2B5EF4-FFF2-40B4-BE49-F238E27FC236}">
                <a16:creationId xmlns:a16="http://schemas.microsoft.com/office/drawing/2014/main" id="{8F760F44-BDC3-4D13-AC46-2D19EA25D5D5}"/>
              </a:ext>
            </a:extLst>
          </p:cNvPr>
          <p:cNvPicPr>
            <a:picLocks noChangeAspect="1"/>
          </p:cNvPicPr>
          <p:nvPr/>
        </p:nvPicPr>
        <p:blipFill rotWithShape="1">
          <a:blip r:embed="rId3"/>
          <a:srcRect l="3249" t="4531" r="6500"/>
          <a:stretch/>
        </p:blipFill>
        <p:spPr>
          <a:xfrm>
            <a:off x="2263879" y="2135529"/>
            <a:ext cx="6880122" cy="3259170"/>
          </a:xfrm>
          <a:prstGeom prst="rect">
            <a:avLst/>
          </a:prstGeom>
        </p:spPr>
      </p:pic>
      <p:sp>
        <p:nvSpPr>
          <p:cNvPr id="10" name="Content Placeholder 2">
            <a:extLst>
              <a:ext uri="{FF2B5EF4-FFF2-40B4-BE49-F238E27FC236}">
                <a16:creationId xmlns:a16="http://schemas.microsoft.com/office/drawing/2014/main" id="{8BF8B879-6585-41AE-B754-4D354DE243D7}"/>
              </a:ext>
            </a:extLst>
          </p:cNvPr>
          <p:cNvSpPr txBox="1">
            <a:spLocks/>
          </p:cNvSpPr>
          <p:nvPr/>
        </p:nvSpPr>
        <p:spPr>
          <a:xfrm>
            <a:off x="420942" y="5497938"/>
            <a:ext cx="8143938" cy="356330"/>
          </a:xfrm>
          <a:prstGeom prst="rect">
            <a:avLst/>
          </a:prstGeom>
        </p:spPr>
        <p:txBody>
          <a:bodyPr vert="horz" lIns="0" tIns="0" rIns="0" bIns="0" numCol="2" spcCol="7200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8913" lvl="1" indent="0">
              <a:buFont typeface="Verdana" panose="020B0604030504040204" pitchFamily="34" charset="0"/>
              <a:buNone/>
            </a:pPr>
            <a:r>
              <a:rPr lang="en-GB" sz="1000" dirty="0"/>
              <a:t>MT : Mass flow rate through MT compressors (Kg/s)                 </a:t>
            </a:r>
          </a:p>
          <a:p>
            <a:pPr marL="188913" lvl="1" indent="0">
              <a:buNone/>
            </a:pPr>
            <a:r>
              <a:rPr lang="en-GB" sz="1000" dirty="0"/>
              <a:t>IT : Mass flow rate through IT compressors (Kg/s)</a:t>
            </a:r>
          </a:p>
          <a:p>
            <a:pPr marL="188913" lvl="1" indent="0">
              <a:buNone/>
            </a:pPr>
            <a:r>
              <a:rPr lang="en-GB" sz="1000" dirty="0"/>
              <a:t>M3: Mass flow rate through MT evaporators (Kg/s)</a:t>
            </a:r>
          </a:p>
          <a:p>
            <a:pPr marL="188913" lvl="1" indent="0">
              <a:buNone/>
            </a:pPr>
            <a:endParaRPr lang="en-GB" sz="1000" dirty="0"/>
          </a:p>
          <a:p>
            <a:pPr marL="188913" lvl="1" indent="0">
              <a:buNone/>
            </a:pPr>
            <a:endParaRPr lang="en-GB" sz="1000" dirty="0"/>
          </a:p>
          <a:p>
            <a:pPr marL="188913" lvl="1" indent="0">
              <a:buNone/>
            </a:pPr>
            <a:r>
              <a:rPr lang="en-GB" sz="1000" dirty="0"/>
              <a:t>HPV : Mass flow rate through high pressure valve (Kg/s)</a:t>
            </a:r>
          </a:p>
          <a:p>
            <a:pPr marL="188913" lvl="1" indent="0">
              <a:buNone/>
            </a:pPr>
            <a:r>
              <a:rPr lang="en-GB" sz="1000" dirty="0"/>
              <a:t>M5: Mass flow rate through AC evaporators (Kg/s)</a:t>
            </a:r>
          </a:p>
          <a:p>
            <a:pPr marL="188913" lvl="1" indent="0">
              <a:buNone/>
            </a:pPr>
            <a:r>
              <a:rPr lang="en-GB" sz="1000" dirty="0"/>
              <a:t>M4: Mass flow rate through LT evaporators (Kg/s)</a:t>
            </a:r>
          </a:p>
          <a:p>
            <a:pPr marL="188913" lvl="1" indent="0">
              <a:buNone/>
            </a:pPr>
            <a:endParaRPr lang="en-GB" sz="1000" dirty="0"/>
          </a:p>
          <a:p>
            <a:pPr marL="188913" lvl="1" indent="0">
              <a:buFont typeface="Verdana" panose="020B0604030504040204" pitchFamily="34" charset="0"/>
              <a:buNone/>
            </a:pPr>
            <a:endParaRPr lang="en-GB" sz="1000" dirty="0"/>
          </a:p>
        </p:txBody>
      </p:sp>
      <p:sp>
        <p:nvSpPr>
          <p:cNvPr id="13" name="Rectangle 12">
            <a:extLst>
              <a:ext uri="{FF2B5EF4-FFF2-40B4-BE49-F238E27FC236}">
                <a16:creationId xmlns:a16="http://schemas.microsoft.com/office/drawing/2014/main" id="{F3B411D6-6609-4EC1-9552-B7ADA467FE20}"/>
              </a:ext>
            </a:extLst>
          </p:cNvPr>
          <p:cNvSpPr/>
          <p:nvPr/>
        </p:nvSpPr>
        <p:spPr>
          <a:xfrm>
            <a:off x="64249" y="6232512"/>
            <a:ext cx="9079751"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180 min moving average.</a:t>
            </a:r>
          </a:p>
        </p:txBody>
      </p:sp>
    </p:spTree>
    <p:extLst>
      <p:ext uri="{BB962C8B-B14F-4D97-AF65-F5344CB8AC3E}">
        <p14:creationId xmlns:p14="http://schemas.microsoft.com/office/powerpoint/2010/main" val="1236531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2D7C-EBB4-47FD-AF6A-4B3EF07C02CC}"/>
              </a:ext>
            </a:extLst>
          </p:cNvPr>
          <p:cNvSpPr>
            <a:spLocks noGrp="1"/>
          </p:cNvSpPr>
          <p:nvPr>
            <p:ph type="title"/>
          </p:nvPr>
        </p:nvSpPr>
        <p:spPr>
          <a:xfrm>
            <a:off x="135805" y="307468"/>
            <a:ext cx="4797531" cy="936000"/>
          </a:xfrm>
        </p:spPr>
        <p:txBody>
          <a:bodyPr/>
          <a:lstStyle/>
          <a:p>
            <a:r>
              <a:rPr lang="en-GB" dirty="0"/>
              <a:t>Week 34(HP Ejector only):</a:t>
            </a:r>
          </a:p>
        </p:txBody>
      </p:sp>
      <p:pic>
        <p:nvPicPr>
          <p:cNvPr id="4" name="Picture 3">
            <a:extLst>
              <a:ext uri="{FF2B5EF4-FFF2-40B4-BE49-F238E27FC236}">
                <a16:creationId xmlns:a16="http://schemas.microsoft.com/office/drawing/2014/main" id="{35FC40C8-8633-401C-8757-9BB41CA420B4}"/>
              </a:ext>
            </a:extLst>
          </p:cNvPr>
          <p:cNvPicPr>
            <a:picLocks noChangeAspect="1"/>
          </p:cNvPicPr>
          <p:nvPr/>
        </p:nvPicPr>
        <p:blipFill rotWithShape="1">
          <a:blip r:embed="rId2"/>
          <a:srcRect r="1517"/>
          <a:stretch/>
        </p:blipFill>
        <p:spPr>
          <a:xfrm>
            <a:off x="5216630" y="139037"/>
            <a:ext cx="2393540" cy="1996492"/>
          </a:xfrm>
          <a:prstGeom prst="rect">
            <a:avLst/>
          </a:prstGeom>
        </p:spPr>
      </p:pic>
      <p:sp>
        <p:nvSpPr>
          <p:cNvPr id="5" name="Arrow: Right 4">
            <a:extLst>
              <a:ext uri="{FF2B5EF4-FFF2-40B4-BE49-F238E27FC236}">
                <a16:creationId xmlns:a16="http://schemas.microsoft.com/office/drawing/2014/main" id="{AB44AEF2-2106-4D7D-9C17-73ABF77A8E24}"/>
              </a:ext>
            </a:extLst>
          </p:cNvPr>
          <p:cNvSpPr/>
          <p:nvPr/>
        </p:nvSpPr>
        <p:spPr>
          <a:xfrm>
            <a:off x="7704037" y="1463302"/>
            <a:ext cx="1304158" cy="568988"/>
          </a:xfrm>
          <a:prstGeom prst="rightArrow">
            <a:avLst>
              <a:gd name="adj1" fmla="val 50000"/>
              <a:gd name="adj2" fmla="val 40928"/>
            </a:avLst>
          </a:prstGeom>
          <a:solidFill>
            <a:srgbClr val="FFC000"/>
          </a:solidFill>
          <a:ln w="95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200" noProof="0" dirty="0">
                <a:solidFill>
                  <a:schemeClr val="accent3">
                    <a:lumMod val="50000"/>
                  </a:schemeClr>
                </a:solidFill>
              </a:rPr>
              <a:t>Discharge</a:t>
            </a:r>
          </a:p>
        </p:txBody>
      </p:sp>
      <p:sp>
        <p:nvSpPr>
          <p:cNvPr id="9" name="Arrow: Right 8">
            <a:extLst>
              <a:ext uri="{FF2B5EF4-FFF2-40B4-BE49-F238E27FC236}">
                <a16:creationId xmlns:a16="http://schemas.microsoft.com/office/drawing/2014/main" id="{41FD55F7-2FF4-4F80-987A-F1A84CB2677E}"/>
              </a:ext>
            </a:extLst>
          </p:cNvPr>
          <p:cNvSpPr/>
          <p:nvPr/>
        </p:nvSpPr>
        <p:spPr>
          <a:xfrm flipH="1">
            <a:off x="7661785" y="724533"/>
            <a:ext cx="1063115" cy="412750"/>
          </a:xfrm>
          <a:prstGeom prst="rightArrow">
            <a:avLst/>
          </a:prstGeom>
          <a:solidFill>
            <a:srgbClr val="E60A11"/>
          </a:solidFill>
          <a:ln w="9525">
            <a:solidFill>
              <a:srgbClr val="E60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100" noProof="0" dirty="0">
                <a:solidFill>
                  <a:schemeClr val="accent6">
                    <a:lumMod val="75000"/>
                  </a:schemeClr>
                </a:solidFill>
              </a:rPr>
              <a:t>Motive</a:t>
            </a:r>
          </a:p>
        </p:txBody>
      </p:sp>
      <p:sp>
        <p:nvSpPr>
          <p:cNvPr id="11" name="Arrow: Right 10">
            <a:extLst>
              <a:ext uri="{FF2B5EF4-FFF2-40B4-BE49-F238E27FC236}">
                <a16:creationId xmlns:a16="http://schemas.microsoft.com/office/drawing/2014/main" id="{98F46593-59A8-41E3-A332-169A38620067}"/>
              </a:ext>
            </a:extLst>
          </p:cNvPr>
          <p:cNvSpPr/>
          <p:nvPr/>
        </p:nvSpPr>
        <p:spPr>
          <a:xfrm flipH="1">
            <a:off x="7704037" y="1231275"/>
            <a:ext cx="1020864" cy="304692"/>
          </a:xfrm>
          <a:prstGeom prst="rightArrow">
            <a:avLst/>
          </a:prstGeom>
          <a:solidFill>
            <a:srgbClr val="92D050"/>
          </a:solid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000" noProof="0" dirty="0">
                <a:solidFill>
                  <a:schemeClr val="tx2">
                    <a:lumMod val="50000"/>
                  </a:schemeClr>
                </a:solidFill>
              </a:rPr>
              <a:t>Suction</a:t>
            </a:r>
          </a:p>
        </p:txBody>
      </p:sp>
      <p:pic>
        <p:nvPicPr>
          <p:cNvPr id="7" name="Picture 6">
            <a:extLst>
              <a:ext uri="{FF2B5EF4-FFF2-40B4-BE49-F238E27FC236}">
                <a16:creationId xmlns:a16="http://schemas.microsoft.com/office/drawing/2014/main" id="{D22B7609-0C91-4E79-A159-91E41A762972}"/>
              </a:ext>
            </a:extLst>
          </p:cNvPr>
          <p:cNvPicPr>
            <a:picLocks noChangeAspect="1"/>
          </p:cNvPicPr>
          <p:nvPr/>
        </p:nvPicPr>
        <p:blipFill>
          <a:blip r:embed="rId3"/>
          <a:stretch>
            <a:fillRect/>
          </a:stretch>
        </p:blipFill>
        <p:spPr>
          <a:xfrm>
            <a:off x="2119463" y="2135529"/>
            <a:ext cx="6990735" cy="3949226"/>
          </a:xfrm>
          <a:prstGeom prst="rect">
            <a:avLst/>
          </a:prstGeom>
        </p:spPr>
      </p:pic>
      <p:sp>
        <p:nvSpPr>
          <p:cNvPr id="12" name="Content Placeholder 2">
            <a:extLst>
              <a:ext uri="{FF2B5EF4-FFF2-40B4-BE49-F238E27FC236}">
                <a16:creationId xmlns:a16="http://schemas.microsoft.com/office/drawing/2014/main" id="{2F6E3F97-6B4A-4E2A-AC8F-0F73458CE8ED}"/>
              </a:ext>
            </a:extLst>
          </p:cNvPr>
          <p:cNvSpPr txBox="1">
            <a:spLocks/>
          </p:cNvSpPr>
          <p:nvPr/>
        </p:nvSpPr>
        <p:spPr>
          <a:xfrm>
            <a:off x="135806" y="1592621"/>
            <a:ext cx="2128072" cy="3974314"/>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a:t>Motive nozzle mass flow rate : </a:t>
            </a:r>
          </a:p>
          <a:p>
            <a:pPr lvl="1">
              <a:buFont typeface="Wingdings" panose="05000000000000000000" pitchFamily="2" charset="2"/>
              <a:buChar char="ü"/>
            </a:pPr>
            <a:r>
              <a:rPr lang="en-GB">
                <a:solidFill>
                  <a:srgbClr val="FF0000"/>
                </a:solidFill>
              </a:rPr>
              <a:t>MT + IT –M5</a:t>
            </a:r>
          </a:p>
          <a:p>
            <a:pPr marL="188913" lvl="1" indent="0">
              <a:buFont typeface="Verdana" panose="020B0604030504040204" pitchFamily="34" charset="0"/>
              <a:buNone/>
            </a:pPr>
            <a:endParaRPr lang="en-GB">
              <a:solidFill>
                <a:srgbClr val="FF0000"/>
              </a:solidFill>
            </a:endParaRPr>
          </a:p>
          <a:p>
            <a:pPr>
              <a:buFont typeface="Wingdings" panose="05000000000000000000" pitchFamily="2" charset="2"/>
              <a:buChar char="v"/>
            </a:pPr>
            <a:r>
              <a:rPr lang="en-GB"/>
              <a:t>Suction side mass flow rate:</a:t>
            </a:r>
          </a:p>
          <a:p>
            <a:pPr lvl="1">
              <a:buFont typeface="Wingdings" panose="05000000000000000000" pitchFamily="2" charset="2"/>
              <a:buChar char="ü"/>
            </a:pPr>
            <a:r>
              <a:rPr lang="en-GB">
                <a:solidFill>
                  <a:srgbClr val="92D050"/>
                </a:solidFill>
              </a:rPr>
              <a:t>M3 + M4 -MT</a:t>
            </a:r>
          </a:p>
          <a:p>
            <a:pPr marL="188913" lvl="1" indent="0">
              <a:buFont typeface="Verdana" panose="020B0604030504040204" pitchFamily="34" charset="0"/>
              <a:buNone/>
            </a:pPr>
            <a:endParaRPr lang="en-GB">
              <a:solidFill>
                <a:srgbClr val="92D050"/>
              </a:solidFill>
            </a:endParaRPr>
          </a:p>
          <a:p>
            <a:pPr>
              <a:buFont typeface="Wingdings" panose="05000000000000000000" pitchFamily="2" charset="2"/>
              <a:buChar char="v"/>
            </a:pPr>
            <a:r>
              <a:rPr lang="en-GB"/>
              <a:t>Discharge mass flow rate:</a:t>
            </a:r>
          </a:p>
          <a:p>
            <a:pPr lvl="1">
              <a:buFont typeface="Wingdings" panose="05000000000000000000" pitchFamily="2" charset="2"/>
              <a:buChar char="ü"/>
            </a:pPr>
            <a:r>
              <a:rPr lang="en-GB">
                <a:solidFill>
                  <a:srgbClr val="FFC000"/>
                </a:solidFill>
              </a:rPr>
              <a:t>M3 + M4 + IT - M5</a:t>
            </a:r>
          </a:p>
          <a:p>
            <a:pPr marL="188913" lvl="1" indent="0">
              <a:buFont typeface="Verdana" panose="020B0604030504040204" pitchFamily="34" charset="0"/>
              <a:buNone/>
            </a:pPr>
            <a:endParaRPr lang="en-GB"/>
          </a:p>
          <a:p>
            <a:pPr marL="188913" lvl="1" indent="0">
              <a:buFont typeface="Verdana" panose="020B0604030504040204" pitchFamily="34" charset="0"/>
              <a:buNone/>
            </a:pPr>
            <a:endParaRPr lang="en-GB" dirty="0"/>
          </a:p>
        </p:txBody>
      </p:sp>
      <p:sp>
        <p:nvSpPr>
          <p:cNvPr id="13" name="Rectangle 12">
            <a:extLst>
              <a:ext uri="{FF2B5EF4-FFF2-40B4-BE49-F238E27FC236}">
                <a16:creationId xmlns:a16="http://schemas.microsoft.com/office/drawing/2014/main" id="{487644B7-FC90-412B-AD31-76470A1BDA39}"/>
              </a:ext>
            </a:extLst>
          </p:cNvPr>
          <p:cNvSpPr/>
          <p:nvPr/>
        </p:nvSpPr>
        <p:spPr>
          <a:xfrm>
            <a:off x="64249" y="6232512"/>
            <a:ext cx="9079751" cy="215444"/>
          </a:xfrm>
          <a:prstGeom prst="rect">
            <a:avLst/>
          </a:prstGeom>
        </p:spPr>
        <p:txBody>
          <a:bodyPr wrap="square">
            <a:spAutoFit/>
          </a:bodyPr>
          <a:lstStyle/>
          <a:p>
            <a:r>
              <a:rPr lang="da-DK" sz="800" dirty="0">
                <a:highlight>
                  <a:srgbClr val="00FFFF"/>
                </a:highlight>
              </a:rPr>
              <a:t>Time refrence for datetime conversion to seconds (t0) for all graphs is  ”17:00:00  11/07/2019” (datetime format: " %H:%M:%S %d/%m/%Y”), 180 min moving average.</a:t>
            </a:r>
          </a:p>
        </p:txBody>
      </p:sp>
    </p:spTree>
    <p:extLst>
      <p:ext uri="{BB962C8B-B14F-4D97-AF65-F5344CB8AC3E}">
        <p14:creationId xmlns:p14="http://schemas.microsoft.com/office/powerpoint/2010/main" val="208832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77046AC-F591-4F75-959D-42936675E1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1380" y="775468"/>
            <a:ext cx="5722620" cy="2488182"/>
          </a:xfrm>
          <a:prstGeom prst="rect">
            <a:avLst/>
          </a:prstGeom>
        </p:spPr>
      </p:pic>
      <p:pic>
        <p:nvPicPr>
          <p:cNvPr id="12" name="Picture 11">
            <a:extLst>
              <a:ext uri="{FF2B5EF4-FFF2-40B4-BE49-F238E27FC236}">
                <a16:creationId xmlns:a16="http://schemas.microsoft.com/office/drawing/2014/main" id="{3291854D-15D8-454E-9ED8-88139066BD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1380" y="3892061"/>
            <a:ext cx="5722620" cy="2488182"/>
          </a:xfrm>
          <a:prstGeom prst="rect">
            <a:avLst/>
          </a:prstGeom>
        </p:spPr>
      </p:pic>
      <p:sp>
        <p:nvSpPr>
          <p:cNvPr id="15" name="Content Placeholder 2">
            <a:extLst>
              <a:ext uri="{FF2B5EF4-FFF2-40B4-BE49-F238E27FC236}">
                <a16:creationId xmlns:a16="http://schemas.microsoft.com/office/drawing/2014/main" id="{511FF9EA-69D1-4796-95AA-DABA16990695}"/>
              </a:ext>
            </a:extLst>
          </p:cNvPr>
          <p:cNvSpPr>
            <a:spLocks noGrp="1"/>
          </p:cNvSpPr>
          <p:nvPr>
            <p:ph idx="1"/>
          </p:nvPr>
        </p:nvSpPr>
        <p:spPr>
          <a:xfrm>
            <a:off x="242485" y="181939"/>
            <a:ext cx="7385135" cy="389561"/>
          </a:xfrm>
        </p:spPr>
        <p:txBody>
          <a:bodyPr/>
          <a:lstStyle/>
          <a:p>
            <a:pPr marL="0" indent="0">
              <a:buNone/>
            </a:pPr>
            <a:r>
              <a:rPr lang="en-GB" sz="2000" dirty="0"/>
              <a:t>Total power input of compressors Vs. Gas cooler outlet:</a:t>
            </a:r>
          </a:p>
          <a:p>
            <a:pPr marL="0" indent="0">
              <a:buNone/>
            </a:pPr>
            <a:endParaRPr lang="en-GB" sz="2000" dirty="0">
              <a:solidFill>
                <a:srgbClr val="FFC000"/>
              </a:solidFill>
            </a:endParaRPr>
          </a:p>
          <a:p>
            <a:pPr marL="188913" lvl="1" indent="0">
              <a:buNone/>
            </a:pPr>
            <a:endParaRPr lang="en-GB" sz="2000" dirty="0"/>
          </a:p>
          <a:p>
            <a:pPr marL="188913" lvl="1" indent="0">
              <a:buNone/>
            </a:pPr>
            <a:endParaRPr lang="en-GB" sz="2000" dirty="0"/>
          </a:p>
        </p:txBody>
      </p:sp>
      <p:sp>
        <p:nvSpPr>
          <p:cNvPr id="18" name="Oval 17">
            <a:extLst>
              <a:ext uri="{FF2B5EF4-FFF2-40B4-BE49-F238E27FC236}">
                <a16:creationId xmlns:a16="http://schemas.microsoft.com/office/drawing/2014/main" id="{6C4DF28A-10C5-4129-984A-95D0730B747A}"/>
              </a:ext>
            </a:extLst>
          </p:cNvPr>
          <p:cNvSpPr/>
          <p:nvPr/>
        </p:nvSpPr>
        <p:spPr>
          <a:xfrm>
            <a:off x="4107180" y="5090703"/>
            <a:ext cx="1623060" cy="627759"/>
          </a:xfrm>
          <a:prstGeom prst="ellipse">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da-DK" noProof="0" dirty="0" err="1"/>
          </a:p>
        </p:txBody>
      </p:sp>
      <p:sp>
        <p:nvSpPr>
          <p:cNvPr id="19" name="Content Placeholder 2">
            <a:extLst>
              <a:ext uri="{FF2B5EF4-FFF2-40B4-BE49-F238E27FC236}">
                <a16:creationId xmlns:a16="http://schemas.microsoft.com/office/drawing/2014/main" id="{62930612-3E78-443D-9FB9-A46178B5B399}"/>
              </a:ext>
            </a:extLst>
          </p:cNvPr>
          <p:cNvSpPr txBox="1">
            <a:spLocks/>
          </p:cNvSpPr>
          <p:nvPr/>
        </p:nvSpPr>
        <p:spPr>
          <a:xfrm>
            <a:off x="242484" y="1168586"/>
            <a:ext cx="3020449" cy="571459"/>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t>Weeks 9 to 35</a:t>
            </a:r>
            <a:endParaRPr lang="en-GB" dirty="0">
              <a:solidFill>
                <a:srgbClr val="FFC000"/>
              </a:solidFill>
            </a:endParaRPr>
          </a:p>
          <a:p>
            <a:pPr marL="188913" lvl="1" indent="0">
              <a:buFont typeface="Verdana" panose="020B0604030504040204" pitchFamily="34" charset="0"/>
              <a:buNone/>
            </a:pPr>
            <a:endParaRPr lang="en-GB" dirty="0"/>
          </a:p>
          <a:p>
            <a:pPr marL="188913" lvl="1" indent="0">
              <a:buFont typeface="Verdana" panose="020B0604030504040204" pitchFamily="34" charset="0"/>
              <a:buNone/>
            </a:pPr>
            <a:endParaRPr lang="en-GB" dirty="0"/>
          </a:p>
        </p:txBody>
      </p:sp>
      <p:sp>
        <p:nvSpPr>
          <p:cNvPr id="20" name="Content Placeholder 2">
            <a:extLst>
              <a:ext uri="{FF2B5EF4-FFF2-40B4-BE49-F238E27FC236}">
                <a16:creationId xmlns:a16="http://schemas.microsoft.com/office/drawing/2014/main" id="{F0DD02A4-63B4-4F08-B484-D6BE194E91A2}"/>
              </a:ext>
            </a:extLst>
          </p:cNvPr>
          <p:cNvSpPr txBox="1">
            <a:spLocks/>
          </p:cNvSpPr>
          <p:nvPr/>
        </p:nvSpPr>
        <p:spPr>
          <a:xfrm>
            <a:off x="242484" y="3193410"/>
            <a:ext cx="3020449" cy="571459"/>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t>Weeks 2 to 35</a:t>
            </a:r>
          </a:p>
          <a:p>
            <a:pPr>
              <a:buFont typeface="Wingdings" panose="05000000000000000000" pitchFamily="2" charset="2"/>
              <a:buChar char="§"/>
            </a:pPr>
            <a:r>
              <a:rPr lang="en-GB" dirty="0">
                <a:solidFill>
                  <a:schemeClr val="accent5">
                    <a:lumMod val="75000"/>
                  </a:schemeClr>
                </a:solidFill>
              </a:rPr>
              <a:t>Weeks 2- 9 indicate period with no ejector installed</a:t>
            </a:r>
          </a:p>
          <a:p>
            <a:pPr marL="188913" lvl="1" indent="0">
              <a:buFont typeface="Verdana" panose="020B0604030504040204" pitchFamily="34" charset="0"/>
              <a:buNone/>
            </a:pPr>
            <a:endParaRPr lang="en-GB" dirty="0"/>
          </a:p>
          <a:p>
            <a:pPr marL="188913" lvl="1" indent="0">
              <a:buFont typeface="Verdana" panose="020B0604030504040204" pitchFamily="34" charset="0"/>
              <a:buNone/>
            </a:pPr>
            <a:endParaRPr lang="en-GB" dirty="0"/>
          </a:p>
        </p:txBody>
      </p:sp>
      <p:sp>
        <p:nvSpPr>
          <p:cNvPr id="22" name="Arrow: Left-Right 21">
            <a:extLst>
              <a:ext uri="{FF2B5EF4-FFF2-40B4-BE49-F238E27FC236}">
                <a16:creationId xmlns:a16="http://schemas.microsoft.com/office/drawing/2014/main" id="{1B4CB575-EBA2-45B7-8395-4A2974050FA1}"/>
              </a:ext>
            </a:extLst>
          </p:cNvPr>
          <p:cNvSpPr/>
          <p:nvPr/>
        </p:nvSpPr>
        <p:spPr>
          <a:xfrm>
            <a:off x="5262880" y="3230281"/>
            <a:ext cx="2886710" cy="409190"/>
          </a:xfrm>
          <a:prstGeom prst="leftRightArrow">
            <a:avLst/>
          </a:prstGeom>
          <a:solidFill>
            <a:srgbClr val="FFC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400" noProof="0" dirty="0"/>
              <a:t>Summer</a:t>
            </a:r>
            <a:endParaRPr lang="da-DK" noProof="0" dirty="0"/>
          </a:p>
        </p:txBody>
      </p:sp>
      <p:sp>
        <p:nvSpPr>
          <p:cNvPr id="25" name="Arrow: Left-Right 24">
            <a:extLst>
              <a:ext uri="{FF2B5EF4-FFF2-40B4-BE49-F238E27FC236}">
                <a16:creationId xmlns:a16="http://schemas.microsoft.com/office/drawing/2014/main" id="{E5AFBD13-02F6-471A-A6EC-71135AF670B8}"/>
              </a:ext>
            </a:extLst>
          </p:cNvPr>
          <p:cNvSpPr/>
          <p:nvPr/>
        </p:nvSpPr>
        <p:spPr>
          <a:xfrm>
            <a:off x="3825240" y="3608907"/>
            <a:ext cx="2001520" cy="409190"/>
          </a:xfrm>
          <a:prstGeom prst="leftRightArrow">
            <a:avLst/>
          </a:prstGeom>
          <a:solidFill>
            <a:srgbClr val="00B0F0"/>
          </a:solid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a-DK" sz="1400" noProof="0" dirty="0"/>
              <a:t>Winter</a:t>
            </a:r>
          </a:p>
        </p:txBody>
      </p:sp>
      <p:cxnSp>
        <p:nvCxnSpPr>
          <p:cNvPr id="27" name="Straight Arrow Connector 26">
            <a:extLst>
              <a:ext uri="{FF2B5EF4-FFF2-40B4-BE49-F238E27FC236}">
                <a16:creationId xmlns:a16="http://schemas.microsoft.com/office/drawing/2014/main" id="{C4AFD730-D1C4-4535-849B-F29DFE582223}"/>
              </a:ext>
            </a:extLst>
          </p:cNvPr>
          <p:cNvCxnSpPr/>
          <p:nvPr/>
        </p:nvCxnSpPr>
        <p:spPr>
          <a:xfrm flipH="1">
            <a:off x="2796540" y="5494020"/>
            <a:ext cx="1409700" cy="281940"/>
          </a:xfrm>
          <a:prstGeom prst="straightConnector1">
            <a:avLst/>
          </a:prstGeom>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F53C770-EAB3-4453-B672-F7E743EF9A03}"/>
              </a:ext>
            </a:extLst>
          </p:cNvPr>
          <p:cNvSpPr/>
          <p:nvPr/>
        </p:nvSpPr>
        <p:spPr>
          <a:xfrm>
            <a:off x="312420" y="4724944"/>
            <a:ext cx="2484120" cy="822416"/>
          </a:xfrm>
          <a:prstGeom prst="rect">
            <a:avLst/>
          </a:prstGeom>
          <a:noFill/>
          <a:ln w="952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a-DK" sz="1400" spc="50" dirty="0">
                <a:ln w="0"/>
                <a:solidFill>
                  <a:schemeClr val="accent6">
                    <a:lumMod val="75000"/>
                  </a:schemeClr>
                </a:solidFill>
                <a:effectLst>
                  <a:innerShdw blurRad="63500" dist="50800" dir="13500000">
                    <a:srgbClr val="000000">
                      <a:alpha val="50000"/>
                    </a:srgbClr>
                  </a:innerShdw>
                </a:effectLst>
                <a:latin typeface="+mj-lt"/>
              </a:rPr>
              <a:t>High power consumption </a:t>
            </a:r>
            <a:r>
              <a:rPr lang="da-DK" sz="1400" spc="50" noProof="0" dirty="0">
                <a:ln w="0"/>
                <a:solidFill>
                  <a:schemeClr val="accent6">
                    <a:lumMod val="75000"/>
                  </a:schemeClr>
                </a:solidFill>
                <a:effectLst>
                  <a:innerShdw blurRad="63500" dist="50800" dir="13500000">
                    <a:srgbClr val="000000">
                      <a:alpha val="50000"/>
                    </a:srgbClr>
                  </a:innerShdw>
                </a:effectLst>
                <a:latin typeface="+mj-lt"/>
              </a:rPr>
              <a:t>for weeks without ejector</a:t>
            </a:r>
            <a:r>
              <a:rPr lang="en-DK" sz="1400" spc="50" noProof="0" dirty="0">
                <a:ln w="0"/>
                <a:solidFill>
                  <a:schemeClr val="accent6">
                    <a:lumMod val="75000"/>
                  </a:schemeClr>
                </a:solidFill>
                <a:effectLst>
                  <a:innerShdw blurRad="63500" dist="50800" dir="13500000">
                    <a:srgbClr val="000000">
                      <a:alpha val="50000"/>
                    </a:srgbClr>
                  </a:innerShdw>
                </a:effectLst>
                <a:latin typeface="+mj-lt"/>
              </a:rPr>
              <a:t>??? </a:t>
            </a:r>
            <a:r>
              <a:rPr lang="en-US" sz="1400" spc="50" noProof="0" dirty="0">
                <a:ln w="0"/>
                <a:solidFill>
                  <a:schemeClr val="accent6">
                    <a:lumMod val="75000"/>
                  </a:schemeClr>
                </a:solidFill>
                <a:effectLst>
                  <a:innerShdw blurRad="63500" dist="50800" dir="13500000">
                    <a:srgbClr val="000000">
                      <a:alpha val="50000"/>
                    </a:srgbClr>
                  </a:innerShdw>
                </a:effectLst>
                <a:latin typeface="+mj-lt"/>
              </a:rPr>
              <a:t>O</a:t>
            </a:r>
            <a:r>
              <a:rPr lang="en-DK" sz="1400" spc="50" noProof="0" dirty="0">
                <a:ln w="0"/>
                <a:solidFill>
                  <a:schemeClr val="accent6">
                    <a:lumMod val="75000"/>
                  </a:schemeClr>
                </a:solidFill>
                <a:effectLst>
                  <a:innerShdw blurRad="63500" dist="50800" dir="13500000">
                    <a:srgbClr val="000000">
                      <a:alpha val="50000"/>
                    </a:srgbClr>
                  </a:innerShdw>
                </a:effectLst>
                <a:latin typeface="+mj-lt"/>
              </a:rPr>
              <a:t>r other reasons? </a:t>
            </a:r>
            <a:endParaRPr lang="da-DK" sz="1400" spc="50" noProof="0" dirty="0">
              <a:ln w="0"/>
              <a:solidFill>
                <a:schemeClr val="accent6">
                  <a:lumMod val="75000"/>
                </a:schemeClr>
              </a:solidFill>
              <a:effectLst>
                <a:innerShdw blurRad="63500" dist="50800" dir="13500000">
                  <a:srgbClr val="000000">
                    <a:alpha val="50000"/>
                  </a:srgbClr>
                </a:innerShdw>
              </a:effectLst>
              <a:latin typeface="+mj-lt"/>
            </a:endParaRPr>
          </a:p>
        </p:txBody>
      </p:sp>
      <p:sp>
        <p:nvSpPr>
          <p:cNvPr id="2" name="Rectangle 1">
            <a:extLst>
              <a:ext uri="{FF2B5EF4-FFF2-40B4-BE49-F238E27FC236}">
                <a16:creationId xmlns:a16="http://schemas.microsoft.com/office/drawing/2014/main" id="{9BCD8841-59DD-7A05-3DDF-EA32AEF1A1D3}"/>
              </a:ext>
            </a:extLst>
          </p:cNvPr>
          <p:cNvSpPr/>
          <p:nvPr/>
        </p:nvSpPr>
        <p:spPr>
          <a:xfrm>
            <a:off x="312420" y="5584031"/>
            <a:ext cx="2484120" cy="822416"/>
          </a:xfrm>
          <a:prstGeom prst="rect">
            <a:avLst/>
          </a:prstGeom>
          <a:noFill/>
          <a:ln w="952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a-DK" sz="1400" spc="50" dirty="0">
                <a:ln w="0"/>
                <a:solidFill>
                  <a:schemeClr val="accent6">
                    <a:lumMod val="75000"/>
                  </a:schemeClr>
                </a:solidFill>
                <a:effectLst>
                  <a:innerShdw blurRad="63500" dist="50800" dir="13500000">
                    <a:srgbClr val="000000">
                      <a:alpha val="50000"/>
                    </a:srgbClr>
                  </a:innerShdw>
                </a:effectLst>
                <a:latin typeface="+mj-lt"/>
              </a:rPr>
              <a:t>L</a:t>
            </a:r>
            <a:r>
              <a:rPr lang="en-DK" sz="1400" spc="50" dirty="0" err="1">
                <a:ln w="0"/>
                <a:solidFill>
                  <a:schemeClr val="accent6">
                    <a:lumMod val="75000"/>
                  </a:schemeClr>
                </a:solidFill>
                <a:effectLst>
                  <a:innerShdw blurRad="63500" dist="50800" dir="13500000">
                    <a:srgbClr val="000000">
                      <a:alpha val="50000"/>
                    </a:srgbClr>
                  </a:innerShdw>
                </a:effectLst>
                <a:latin typeface="+mj-lt"/>
              </a:rPr>
              <a:t>ater</a:t>
            </a:r>
            <a:r>
              <a:rPr lang="en-DK" sz="1400" spc="50" dirty="0">
                <a:ln w="0"/>
                <a:solidFill>
                  <a:schemeClr val="accent6">
                    <a:lumMod val="75000"/>
                  </a:schemeClr>
                </a:solidFill>
                <a:effectLst>
                  <a:innerShdw blurRad="63500" dist="50800" dir="13500000">
                    <a:srgbClr val="000000">
                      <a:alpha val="50000"/>
                    </a:srgbClr>
                  </a:innerShdw>
                </a:effectLst>
                <a:latin typeface="+mj-lt"/>
              </a:rPr>
              <a:t> informed a control issue running gas cooler at full power</a:t>
            </a:r>
            <a:endParaRPr lang="da-DK" sz="1400" spc="50" noProof="0" dirty="0">
              <a:ln w="0"/>
              <a:solidFill>
                <a:schemeClr val="accent6">
                  <a:lumMod val="75000"/>
                </a:schemeClr>
              </a:solidFill>
              <a:effectLst>
                <a:innerShdw blurRad="63500" dist="50800" dir="13500000">
                  <a:srgbClr val="000000">
                    <a:alpha val="50000"/>
                  </a:srgbClr>
                </a:innerShdw>
              </a:effectLst>
              <a:latin typeface="+mj-lt"/>
            </a:endParaRPr>
          </a:p>
        </p:txBody>
      </p:sp>
    </p:spTree>
    <p:extLst>
      <p:ext uri="{BB962C8B-B14F-4D97-AF65-F5344CB8AC3E}">
        <p14:creationId xmlns:p14="http://schemas.microsoft.com/office/powerpoint/2010/main" val="302609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511FF9EA-69D1-4796-95AA-DABA16990695}"/>
              </a:ext>
            </a:extLst>
          </p:cNvPr>
          <p:cNvSpPr>
            <a:spLocks noGrp="1"/>
          </p:cNvSpPr>
          <p:nvPr>
            <p:ph idx="1"/>
          </p:nvPr>
        </p:nvSpPr>
        <p:spPr>
          <a:xfrm>
            <a:off x="242485" y="181939"/>
            <a:ext cx="7385135" cy="389561"/>
          </a:xfrm>
        </p:spPr>
        <p:txBody>
          <a:bodyPr/>
          <a:lstStyle/>
          <a:p>
            <a:pPr marL="0" indent="0">
              <a:buNone/>
            </a:pPr>
            <a:r>
              <a:rPr lang="en-GB" sz="2000" dirty="0"/>
              <a:t>Total power input of compressors Vs. Gas cooler outlet:</a:t>
            </a:r>
          </a:p>
          <a:p>
            <a:pPr marL="0" indent="0">
              <a:buNone/>
            </a:pPr>
            <a:endParaRPr lang="en-GB" sz="2000" dirty="0">
              <a:solidFill>
                <a:srgbClr val="FFC000"/>
              </a:solidFill>
            </a:endParaRPr>
          </a:p>
          <a:p>
            <a:pPr marL="188913" lvl="1" indent="0">
              <a:buNone/>
            </a:pPr>
            <a:endParaRPr lang="en-GB" sz="2000" dirty="0"/>
          </a:p>
          <a:p>
            <a:pPr marL="188913" lvl="1" indent="0">
              <a:buNone/>
            </a:pPr>
            <a:endParaRPr lang="en-GB" sz="2000" dirty="0"/>
          </a:p>
        </p:txBody>
      </p:sp>
      <p:sp>
        <p:nvSpPr>
          <p:cNvPr id="19" name="Content Placeholder 2">
            <a:extLst>
              <a:ext uri="{FF2B5EF4-FFF2-40B4-BE49-F238E27FC236}">
                <a16:creationId xmlns:a16="http://schemas.microsoft.com/office/drawing/2014/main" id="{62930612-3E78-443D-9FB9-A46178B5B399}"/>
              </a:ext>
            </a:extLst>
          </p:cNvPr>
          <p:cNvSpPr txBox="1">
            <a:spLocks/>
          </p:cNvSpPr>
          <p:nvPr/>
        </p:nvSpPr>
        <p:spPr>
          <a:xfrm>
            <a:off x="81080" y="888617"/>
            <a:ext cx="2333076" cy="1940374"/>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Wingdings" panose="05000000000000000000" pitchFamily="2" charset="2"/>
              <a:buChar char="v"/>
            </a:pPr>
            <a:r>
              <a:rPr lang="en-GB" dirty="0">
                <a:solidFill>
                  <a:srgbClr val="FFC000"/>
                </a:solidFill>
              </a:rPr>
              <a:t> Weeks 3,4,5 &amp; 6 (no ejector)</a:t>
            </a:r>
          </a:p>
          <a:p>
            <a:pPr marL="0" indent="0" algn="ctr">
              <a:buNone/>
            </a:pPr>
            <a:endParaRPr lang="en-GB" dirty="0"/>
          </a:p>
          <a:p>
            <a:pPr marL="0" indent="0" algn="ctr">
              <a:buNone/>
            </a:pPr>
            <a:r>
              <a:rPr lang="en-GB" dirty="0">
                <a:solidFill>
                  <a:schemeClr val="accent1">
                    <a:lumMod val="75000"/>
                  </a:schemeClr>
                </a:solidFill>
              </a:rPr>
              <a:t>compared with </a:t>
            </a:r>
          </a:p>
          <a:p>
            <a:pPr marL="0" indent="0" algn="ctr">
              <a:buNone/>
            </a:pPr>
            <a:endParaRPr lang="en-GB" dirty="0">
              <a:solidFill>
                <a:srgbClr val="92D050"/>
              </a:solidFill>
            </a:endParaRPr>
          </a:p>
          <a:p>
            <a:pPr algn="ctr">
              <a:buFont typeface="Wingdings" panose="05000000000000000000" pitchFamily="2" charset="2"/>
              <a:buChar char="v"/>
            </a:pPr>
            <a:r>
              <a:rPr lang="en-GB" dirty="0">
                <a:solidFill>
                  <a:srgbClr val="92D050"/>
                </a:solidFill>
              </a:rPr>
              <a:t> Weeks 10,11,12 &amp; 13(with HP, LP and Liq. ejector)</a:t>
            </a:r>
          </a:p>
          <a:p>
            <a:pPr marL="188913" lvl="1" indent="0" algn="ctr">
              <a:buFont typeface="Verdana" panose="020B0604030504040204" pitchFamily="34" charset="0"/>
              <a:buNone/>
            </a:pPr>
            <a:endParaRPr lang="en-GB" dirty="0">
              <a:solidFill>
                <a:srgbClr val="92D050"/>
              </a:solidFill>
            </a:endParaRPr>
          </a:p>
          <a:p>
            <a:pPr marL="188913" lvl="1" indent="0" algn="ctr">
              <a:buFont typeface="Verdana" panose="020B0604030504040204" pitchFamily="34" charset="0"/>
              <a:buNone/>
            </a:pPr>
            <a:endParaRPr lang="en-GB" dirty="0"/>
          </a:p>
        </p:txBody>
      </p:sp>
      <p:pic>
        <p:nvPicPr>
          <p:cNvPr id="3" name="Picture 2">
            <a:extLst>
              <a:ext uri="{FF2B5EF4-FFF2-40B4-BE49-F238E27FC236}">
                <a16:creationId xmlns:a16="http://schemas.microsoft.com/office/drawing/2014/main" id="{1AA942F4-E961-406B-B3B5-235E99FE494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325" t="8733" r="7861" b="5921"/>
          <a:stretch/>
        </p:blipFill>
        <p:spPr>
          <a:xfrm>
            <a:off x="2578300" y="678712"/>
            <a:ext cx="6484620" cy="2949391"/>
          </a:xfrm>
          <a:prstGeom prst="rect">
            <a:avLst/>
          </a:prstGeom>
        </p:spPr>
      </p:pic>
      <p:sp>
        <p:nvSpPr>
          <p:cNvPr id="14" name="Oval 13">
            <a:extLst>
              <a:ext uri="{FF2B5EF4-FFF2-40B4-BE49-F238E27FC236}">
                <a16:creationId xmlns:a16="http://schemas.microsoft.com/office/drawing/2014/main" id="{6F978F8E-8437-4F59-9E0F-8ADF51B1E246}"/>
              </a:ext>
            </a:extLst>
          </p:cNvPr>
          <p:cNvSpPr/>
          <p:nvPr/>
        </p:nvSpPr>
        <p:spPr>
          <a:xfrm rot="20357273">
            <a:off x="3202062" y="1380831"/>
            <a:ext cx="3664626" cy="1081644"/>
          </a:xfrm>
          <a:prstGeom prst="ellipse">
            <a:avLst/>
          </a:prstGeom>
          <a:noFill/>
          <a:ln>
            <a:solidFill>
              <a:srgbClr val="FFFF00"/>
            </a:solidFill>
          </a:ln>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da-DK" noProof="0" dirty="0" err="1"/>
          </a:p>
        </p:txBody>
      </p:sp>
      <p:sp>
        <p:nvSpPr>
          <p:cNvPr id="21" name="Rectangle 20">
            <a:extLst>
              <a:ext uri="{FF2B5EF4-FFF2-40B4-BE49-F238E27FC236}">
                <a16:creationId xmlns:a16="http://schemas.microsoft.com/office/drawing/2014/main" id="{FA7BA09F-5F80-4D5B-874E-ED98C8052CF7}"/>
              </a:ext>
            </a:extLst>
          </p:cNvPr>
          <p:cNvSpPr/>
          <p:nvPr/>
        </p:nvSpPr>
        <p:spPr>
          <a:xfrm>
            <a:off x="6777306" y="1584484"/>
            <a:ext cx="1986558" cy="548640"/>
          </a:xfrm>
          <a:prstGeom prst="rect">
            <a:avLst/>
          </a:prstGeom>
          <a:noFill/>
          <a:ln w="952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a-DK" sz="1100" spc="50" dirty="0">
                <a:ln w="0"/>
                <a:solidFill>
                  <a:schemeClr val="accent6">
                    <a:lumMod val="75000"/>
                  </a:schemeClr>
                </a:solidFill>
                <a:effectLst>
                  <a:innerShdw blurRad="63500" dist="50800" dir="13500000">
                    <a:srgbClr val="000000">
                      <a:alpha val="50000"/>
                    </a:srgbClr>
                  </a:innerShdw>
                </a:effectLst>
                <a:latin typeface="+mj-lt"/>
              </a:rPr>
              <a:t>High power consumption </a:t>
            </a:r>
            <a:r>
              <a:rPr lang="da-DK" sz="1100" spc="50" noProof="0" dirty="0">
                <a:ln w="0"/>
                <a:solidFill>
                  <a:schemeClr val="accent6">
                    <a:lumMod val="75000"/>
                  </a:schemeClr>
                </a:solidFill>
                <a:effectLst>
                  <a:innerShdw blurRad="63500" dist="50800" dir="13500000">
                    <a:srgbClr val="000000">
                      <a:alpha val="50000"/>
                    </a:srgbClr>
                  </a:innerShdw>
                </a:effectLst>
                <a:latin typeface="+mj-lt"/>
              </a:rPr>
              <a:t>for weeks without ejector</a:t>
            </a:r>
          </a:p>
        </p:txBody>
      </p:sp>
      <p:pic>
        <p:nvPicPr>
          <p:cNvPr id="9" name="Picture 8">
            <a:extLst>
              <a:ext uri="{FF2B5EF4-FFF2-40B4-BE49-F238E27FC236}">
                <a16:creationId xmlns:a16="http://schemas.microsoft.com/office/drawing/2014/main" id="{830649B4-A013-42DE-BDD7-E8CE9099115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11" t="6925" r="7921" b="3650"/>
          <a:stretch/>
        </p:blipFill>
        <p:spPr>
          <a:xfrm>
            <a:off x="2721077" y="3587535"/>
            <a:ext cx="6341843" cy="2573594"/>
          </a:xfrm>
          <a:prstGeom prst="rect">
            <a:avLst/>
          </a:prstGeom>
        </p:spPr>
      </p:pic>
    </p:spTree>
    <p:extLst>
      <p:ext uri="{BB962C8B-B14F-4D97-AF65-F5344CB8AC3E}">
        <p14:creationId xmlns:p14="http://schemas.microsoft.com/office/powerpoint/2010/main" val="583953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62930612-3E78-443D-9FB9-A46178B5B399}"/>
              </a:ext>
            </a:extLst>
          </p:cNvPr>
          <p:cNvSpPr txBox="1">
            <a:spLocks/>
          </p:cNvSpPr>
          <p:nvPr/>
        </p:nvSpPr>
        <p:spPr>
          <a:xfrm>
            <a:off x="310573" y="2012193"/>
            <a:ext cx="2715460" cy="1940374"/>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Wingdings" panose="05000000000000000000" pitchFamily="2" charset="2"/>
              <a:buChar char="v"/>
            </a:pPr>
            <a:r>
              <a:rPr lang="en-GB" dirty="0">
                <a:solidFill>
                  <a:schemeClr val="accent2">
                    <a:lumMod val="75000"/>
                  </a:schemeClr>
                </a:solidFill>
              </a:rPr>
              <a:t>Weeks 28 to 35 compared:</a:t>
            </a:r>
          </a:p>
          <a:p>
            <a:pPr marL="0" indent="0">
              <a:buNone/>
            </a:pPr>
            <a:endParaRPr lang="en-GB" sz="1400" dirty="0">
              <a:solidFill>
                <a:schemeClr val="accent2">
                  <a:lumMod val="75000"/>
                </a:schemeClr>
              </a:solidFill>
            </a:endParaRPr>
          </a:p>
          <a:p>
            <a:pPr marL="0" indent="0">
              <a:buNone/>
            </a:pPr>
            <a:endParaRPr lang="en-GB" sz="1400" dirty="0">
              <a:solidFill>
                <a:schemeClr val="accent2">
                  <a:lumMod val="75000"/>
                </a:schemeClr>
              </a:solidFill>
            </a:endParaRPr>
          </a:p>
          <a:p>
            <a:pPr>
              <a:buFont typeface="Wingdings" panose="05000000000000000000" pitchFamily="2" charset="2"/>
              <a:buChar char="q"/>
            </a:pPr>
            <a:r>
              <a:rPr lang="en-GB" sz="1400" dirty="0">
                <a:solidFill>
                  <a:schemeClr val="accent2">
                    <a:lumMod val="75000"/>
                  </a:schemeClr>
                </a:solidFill>
              </a:rPr>
              <a:t>0  indicating ejector off</a:t>
            </a:r>
          </a:p>
          <a:p>
            <a:pPr>
              <a:buFont typeface="Wingdings" panose="05000000000000000000" pitchFamily="2" charset="2"/>
              <a:buChar char="q"/>
            </a:pPr>
            <a:r>
              <a:rPr lang="en-GB" sz="1400" dirty="0">
                <a:solidFill>
                  <a:schemeClr val="accent2">
                    <a:lumMod val="75000"/>
                  </a:schemeClr>
                </a:solidFill>
              </a:rPr>
              <a:t>1 indicating ejector running</a:t>
            </a:r>
          </a:p>
        </p:txBody>
      </p:sp>
      <p:sp>
        <p:nvSpPr>
          <p:cNvPr id="4" name="Rectangle 2">
            <a:extLst>
              <a:ext uri="{FF2B5EF4-FFF2-40B4-BE49-F238E27FC236}">
                <a16:creationId xmlns:a16="http://schemas.microsoft.com/office/drawing/2014/main" id="{399046B7-A14E-45BC-AA45-D4C7317BBABF}"/>
              </a:ext>
            </a:extLst>
          </p:cNvPr>
          <p:cNvSpPr>
            <a:spLocks noChangeArrowheads="1"/>
          </p:cNvSpPr>
          <p:nvPr/>
        </p:nvSpPr>
        <p:spPr bwMode="auto">
          <a:xfrm>
            <a:off x="182878" y="4274983"/>
            <a:ext cx="3325060" cy="1477328"/>
          </a:xfrm>
          <a:prstGeom prst="rect">
            <a:avLst/>
          </a:prstGeom>
          <a:solidFill>
            <a:schemeClr val="tx1">
              <a:lumMod val="75000"/>
              <a:lumOff val="25000"/>
            </a:schemeClr>
          </a:solidFill>
          <a:ln>
            <a:solidFill>
              <a:schemeClr val="accent1">
                <a:lumMod val="60000"/>
                <a:lumOff val="40000"/>
              </a:schemeClr>
            </a:solidFill>
          </a:ln>
          <a:effec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da-DK" altLang="da-DK" sz="1000" b="1" i="0" u="none" strike="noStrike" cap="none" normalizeH="0" baseline="0" dirty="0">
                <a:ln>
                  <a:noFill/>
                </a:ln>
                <a:solidFill>
                  <a:srgbClr val="FFC000"/>
                </a:solidFill>
                <a:effectLst/>
                <a:latin typeface="Courier New" panose="02070309020205020404" pitchFamily="49" charset="0"/>
                <a:cs typeface="Courier New" panose="02070309020205020404" pitchFamily="49" charset="0"/>
              </a:rPr>
              <a:t>Weekly modes:</a:t>
            </a:r>
            <a:endParaRPr kumimoji="0" lang="da-DK" altLang="da-DK" sz="1000" b="1" u="none" strike="noStrike" cap="none" normalizeH="0" baseline="0" dirty="0">
              <a:ln>
                <a:noFill/>
              </a:ln>
              <a:solidFill>
                <a:srgbClr val="FFC00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1000" b="1"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HP:1 _ LE:1 </a:t>
            </a: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W28</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HP:0 _ LE:1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W29</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HP:0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W30 LP only</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HP:1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W31</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HP:0 _ LE:1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W32 LE only</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HP:0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W33</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HP:1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W34 HP only</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HP:1 _ LE:1 '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W35</a:t>
            </a:r>
            <a:endParaRPr kumimoji="0" lang="da-DK" altLang="da-DK" sz="1800" b="1"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49F08B3B-5930-413E-98D0-060704ADAA0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864" t="5917" r="7777" b="5053"/>
          <a:stretch/>
        </p:blipFill>
        <p:spPr>
          <a:xfrm>
            <a:off x="3707904" y="3355779"/>
            <a:ext cx="5436095" cy="3017982"/>
          </a:xfrm>
          <a:prstGeom prst="rect">
            <a:avLst/>
          </a:prstGeom>
        </p:spPr>
      </p:pic>
      <p:pic>
        <p:nvPicPr>
          <p:cNvPr id="8" name="Picture 7">
            <a:extLst>
              <a:ext uri="{FF2B5EF4-FFF2-40B4-BE49-F238E27FC236}">
                <a16:creationId xmlns:a16="http://schemas.microsoft.com/office/drawing/2014/main" id="{3BE0E0DD-6CED-4C95-AC0B-8AF3A4F2BA9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046" t="7838" r="8158" b="5949"/>
          <a:stretch/>
        </p:blipFill>
        <p:spPr>
          <a:xfrm>
            <a:off x="3082413" y="123425"/>
            <a:ext cx="6061587" cy="3180735"/>
          </a:xfrm>
          <a:prstGeom prst="rect">
            <a:avLst/>
          </a:prstGeom>
        </p:spPr>
      </p:pic>
      <p:sp>
        <p:nvSpPr>
          <p:cNvPr id="16" name="Content Placeholder 2">
            <a:extLst>
              <a:ext uri="{FF2B5EF4-FFF2-40B4-BE49-F238E27FC236}">
                <a16:creationId xmlns:a16="http://schemas.microsoft.com/office/drawing/2014/main" id="{31F875AC-0024-475A-B8E0-4E136DFAC1F7}"/>
              </a:ext>
            </a:extLst>
          </p:cNvPr>
          <p:cNvSpPr txBox="1">
            <a:spLocks/>
          </p:cNvSpPr>
          <p:nvPr/>
        </p:nvSpPr>
        <p:spPr>
          <a:xfrm>
            <a:off x="242486" y="181939"/>
            <a:ext cx="2626076" cy="927877"/>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anose="020B0604030504040204" pitchFamily="34" charset="0"/>
              <a:buNone/>
            </a:pPr>
            <a:r>
              <a:rPr lang="en-GB" sz="2000" dirty="0"/>
              <a:t>2</a:t>
            </a:r>
            <a:r>
              <a:rPr lang="en-GB" sz="2000" baseline="30000" dirty="0"/>
              <a:t>nd</a:t>
            </a:r>
            <a:r>
              <a:rPr lang="en-GB" sz="2000" dirty="0"/>
              <a:t> law efficiency and total power consumption Vs. Cooling load:</a:t>
            </a:r>
          </a:p>
          <a:p>
            <a:pPr marL="0" indent="0">
              <a:buFont typeface="Verdana" panose="020B0604030504040204" pitchFamily="34" charset="0"/>
              <a:buNone/>
            </a:pPr>
            <a:endParaRPr lang="en-GB" sz="2000" dirty="0">
              <a:solidFill>
                <a:srgbClr val="FFC000"/>
              </a:solidFill>
            </a:endParaRPr>
          </a:p>
          <a:p>
            <a:pPr marL="188913" lvl="1" indent="0">
              <a:buFont typeface="Verdana" panose="020B0604030504040204" pitchFamily="34" charset="0"/>
              <a:buNone/>
            </a:pPr>
            <a:endParaRPr lang="en-GB" sz="2000" dirty="0"/>
          </a:p>
        </p:txBody>
      </p:sp>
    </p:spTree>
    <p:extLst>
      <p:ext uri="{BB962C8B-B14F-4D97-AF65-F5344CB8AC3E}">
        <p14:creationId xmlns:p14="http://schemas.microsoft.com/office/powerpoint/2010/main" val="2806604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511FF9EA-69D1-4796-95AA-DABA16990695}"/>
              </a:ext>
            </a:extLst>
          </p:cNvPr>
          <p:cNvSpPr>
            <a:spLocks noGrp="1"/>
          </p:cNvSpPr>
          <p:nvPr>
            <p:ph idx="1"/>
          </p:nvPr>
        </p:nvSpPr>
        <p:spPr>
          <a:xfrm>
            <a:off x="242485" y="181939"/>
            <a:ext cx="3163655" cy="927877"/>
          </a:xfrm>
        </p:spPr>
        <p:txBody>
          <a:bodyPr/>
          <a:lstStyle/>
          <a:p>
            <a:pPr marL="0" indent="0">
              <a:buNone/>
            </a:pPr>
            <a:r>
              <a:rPr lang="en-GB" sz="2000" dirty="0"/>
              <a:t>2</a:t>
            </a:r>
            <a:r>
              <a:rPr lang="en-GB" sz="2000" baseline="30000" dirty="0"/>
              <a:t>nd</a:t>
            </a:r>
            <a:r>
              <a:rPr lang="en-GB" sz="2000" dirty="0"/>
              <a:t> law efficiency Vs. Cooling load:</a:t>
            </a:r>
          </a:p>
          <a:p>
            <a:pPr marL="0" indent="0">
              <a:buNone/>
            </a:pPr>
            <a:endParaRPr lang="en-GB" sz="2000" dirty="0">
              <a:solidFill>
                <a:srgbClr val="FFC000"/>
              </a:solidFill>
            </a:endParaRPr>
          </a:p>
          <a:p>
            <a:pPr marL="188913" lvl="1" indent="0">
              <a:buNone/>
            </a:pPr>
            <a:endParaRPr lang="en-GB" sz="2000" dirty="0"/>
          </a:p>
          <a:p>
            <a:pPr marL="188913" lvl="1" indent="0">
              <a:buNone/>
            </a:pPr>
            <a:endParaRPr lang="en-GB" sz="2000" dirty="0"/>
          </a:p>
        </p:txBody>
      </p:sp>
      <p:sp>
        <p:nvSpPr>
          <p:cNvPr id="19" name="Content Placeholder 2">
            <a:extLst>
              <a:ext uri="{FF2B5EF4-FFF2-40B4-BE49-F238E27FC236}">
                <a16:creationId xmlns:a16="http://schemas.microsoft.com/office/drawing/2014/main" id="{62930612-3E78-443D-9FB9-A46178B5B399}"/>
              </a:ext>
            </a:extLst>
          </p:cNvPr>
          <p:cNvSpPr txBox="1">
            <a:spLocks/>
          </p:cNvSpPr>
          <p:nvPr/>
        </p:nvSpPr>
        <p:spPr>
          <a:xfrm>
            <a:off x="162360" y="1782377"/>
            <a:ext cx="2715460" cy="1940374"/>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Wingdings" panose="05000000000000000000" pitchFamily="2" charset="2"/>
              <a:buChar char="v"/>
            </a:pPr>
            <a:r>
              <a:rPr lang="en-GB" dirty="0">
                <a:solidFill>
                  <a:schemeClr val="accent2">
                    <a:lumMod val="75000"/>
                  </a:schemeClr>
                </a:solidFill>
              </a:rPr>
              <a:t>Weeks 28 to 35 compared:</a:t>
            </a:r>
          </a:p>
          <a:p>
            <a:pPr marL="0" indent="0">
              <a:buNone/>
            </a:pPr>
            <a:endParaRPr lang="en-GB" sz="1400" dirty="0">
              <a:solidFill>
                <a:schemeClr val="accent2">
                  <a:lumMod val="75000"/>
                </a:schemeClr>
              </a:solidFill>
            </a:endParaRPr>
          </a:p>
          <a:p>
            <a:pPr marL="0" indent="0">
              <a:buNone/>
            </a:pPr>
            <a:endParaRPr lang="en-GB" sz="1400" dirty="0">
              <a:solidFill>
                <a:schemeClr val="accent2">
                  <a:lumMod val="75000"/>
                </a:schemeClr>
              </a:solidFill>
            </a:endParaRPr>
          </a:p>
          <a:p>
            <a:pPr>
              <a:buFont typeface="Wingdings" panose="05000000000000000000" pitchFamily="2" charset="2"/>
              <a:buChar char="q"/>
            </a:pPr>
            <a:r>
              <a:rPr lang="en-GB" sz="1400" dirty="0">
                <a:solidFill>
                  <a:schemeClr val="accent2">
                    <a:lumMod val="75000"/>
                  </a:schemeClr>
                </a:solidFill>
              </a:rPr>
              <a:t>0  indicating ejector off</a:t>
            </a:r>
          </a:p>
          <a:p>
            <a:pPr>
              <a:buFont typeface="Wingdings" panose="05000000000000000000" pitchFamily="2" charset="2"/>
              <a:buChar char="q"/>
            </a:pPr>
            <a:r>
              <a:rPr lang="en-GB" sz="1400" dirty="0">
                <a:solidFill>
                  <a:schemeClr val="accent2">
                    <a:lumMod val="75000"/>
                  </a:schemeClr>
                </a:solidFill>
              </a:rPr>
              <a:t>1 indicating ejector running</a:t>
            </a:r>
          </a:p>
        </p:txBody>
      </p:sp>
      <p:sp>
        <p:nvSpPr>
          <p:cNvPr id="4" name="Rectangle 2">
            <a:extLst>
              <a:ext uri="{FF2B5EF4-FFF2-40B4-BE49-F238E27FC236}">
                <a16:creationId xmlns:a16="http://schemas.microsoft.com/office/drawing/2014/main" id="{399046B7-A14E-45BC-AA45-D4C7317BBABF}"/>
              </a:ext>
            </a:extLst>
          </p:cNvPr>
          <p:cNvSpPr>
            <a:spLocks noChangeArrowheads="1"/>
          </p:cNvSpPr>
          <p:nvPr/>
        </p:nvSpPr>
        <p:spPr bwMode="auto">
          <a:xfrm>
            <a:off x="162360" y="4284699"/>
            <a:ext cx="3325060" cy="1477328"/>
          </a:xfrm>
          <a:prstGeom prst="rect">
            <a:avLst/>
          </a:prstGeom>
          <a:solidFill>
            <a:schemeClr val="tx1">
              <a:lumMod val="75000"/>
              <a:lumOff val="25000"/>
            </a:schemeClr>
          </a:solidFill>
          <a:ln>
            <a:solidFill>
              <a:schemeClr val="accent1">
                <a:lumMod val="60000"/>
                <a:lumOff val="40000"/>
              </a:schemeClr>
            </a:solidFill>
          </a:ln>
          <a:effec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da-DK" altLang="da-DK" sz="1000" b="1" i="0" u="none" strike="noStrike" cap="none" normalizeH="0" baseline="0" dirty="0">
                <a:ln>
                  <a:noFill/>
                </a:ln>
                <a:solidFill>
                  <a:srgbClr val="FFC000"/>
                </a:solidFill>
                <a:effectLst/>
                <a:latin typeface="Courier New" panose="02070309020205020404" pitchFamily="49" charset="0"/>
                <a:cs typeface="Courier New" panose="02070309020205020404" pitchFamily="49" charset="0"/>
              </a:rPr>
              <a:t>Weekly modes:</a:t>
            </a:r>
            <a:endParaRPr kumimoji="0" lang="da-DK" altLang="da-DK" sz="1000" b="1" u="none" strike="noStrike" cap="none" normalizeH="0" baseline="0" dirty="0">
              <a:ln>
                <a:noFill/>
              </a:ln>
              <a:solidFill>
                <a:srgbClr val="FFC00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a-DK" altLang="da-DK" sz="1000" b="1"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HP:1 _ LE:1 </a:t>
            </a: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W28</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HP:0 _ LE:1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W29</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HP:0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W30 LP only</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LP:1 _ HP:1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W31</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HP:0 _ LE:1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W32 LE only</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HP:0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W33</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HP:1 _ LE:0 '</a:t>
            </a:r>
            <a:r>
              <a:rPr kumimoji="0" lang="da-DK" altLang="da-DK" sz="1000" b="1"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W34 HP only</a:t>
            </a:r>
            <a:b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1"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'_ LP:0 _ HP:1 _ LE:1 '     </a:t>
            </a:r>
            <a:r>
              <a:rPr kumimoji="0" lang="da-DK" altLang="da-DK" sz="1000" b="1"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W35</a:t>
            </a:r>
            <a:endParaRPr kumimoji="0" lang="da-DK" altLang="da-DK" sz="1800" b="1"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070B6389-B710-4E19-A0D7-43219F5C6F0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692" t="7157" r="7326" b="5586"/>
          <a:stretch/>
        </p:blipFill>
        <p:spPr>
          <a:xfrm>
            <a:off x="2941441" y="76423"/>
            <a:ext cx="6202559" cy="3351969"/>
          </a:xfrm>
          <a:prstGeom prst="rect">
            <a:avLst/>
          </a:prstGeom>
        </p:spPr>
      </p:pic>
      <p:pic>
        <p:nvPicPr>
          <p:cNvPr id="5" name="Picture 4">
            <a:extLst>
              <a:ext uri="{FF2B5EF4-FFF2-40B4-BE49-F238E27FC236}">
                <a16:creationId xmlns:a16="http://schemas.microsoft.com/office/drawing/2014/main" id="{C44BBD40-EA53-4E8A-82DC-306819A4A06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354" t="7129" r="7952" b="5743"/>
          <a:stretch/>
        </p:blipFill>
        <p:spPr>
          <a:xfrm>
            <a:off x="3640037" y="3524863"/>
            <a:ext cx="5422847" cy="2787446"/>
          </a:xfrm>
          <a:prstGeom prst="rect">
            <a:avLst/>
          </a:prstGeom>
        </p:spPr>
      </p:pic>
    </p:spTree>
    <p:extLst>
      <p:ext uri="{BB962C8B-B14F-4D97-AF65-F5344CB8AC3E}">
        <p14:creationId xmlns:p14="http://schemas.microsoft.com/office/powerpoint/2010/main" val="3780927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511FF9EA-69D1-4796-95AA-DABA16990695}"/>
              </a:ext>
            </a:extLst>
          </p:cNvPr>
          <p:cNvSpPr>
            <a:spLocks noGrp="1"/>
          </p:cNvSpPr>
          <p:nvPr>
            <p:ph idx="1"/>
          </p:nvPr>
        </p:nvSpPr>
        <p:spPr>
          <a:xfrm>
            <a:off x="242485" y="181939"/>
            <a:ext cx="2190999" cy="1691106"/>
          </a:xfrm>
        </p:spPr>
        <p:txBody>
          <a:bodyPr/>
          <a:lstStyle/>
          <a:p>
            <a:pPr marL="0" indent="0">
              <a:buNone/>
            </a:pPr>
            <a:r>
              <a:rPr lang="en-GB" sz="2000" dirty="0"/>
              <a:t>2</a:t>
            </a:r>
            <a:r>
              <a:rPr lang="en-GB" sz="2000" baseline="30000" dirty="0"/>
              <a:t>nd</a:t>
            </a:r>
            <a:r>
              <a:rPr lang="en-GB" sz="2000" dirty="0"/>
              <a:t> law efficiency   &amp; COP Vs. Cooling load (HP ejector effect) :</a:t>
            </a:r>
          </a:p>
          <a:p>
            <a:pPr marL="0" indent="0">
              <a:buNone/>
            </a:pPr>
            <a:endParaRPr lang="en-GB" sz="2000" dirty="0">
              <a:solidFill>
                <a:srgbClr val="FFC000"/>
              </a:solidFill>
            </a:endParaRPr>
          </a:p>
          <a:p>
            <a:pPr marL="188913" lvl="1" indent="0">
              <a:buNone/>
            </a:pPr>
            <a:endParaRPr lang="en-GB" sz="2000" dirty="0"/>
          </a:p>
          <a:p>
            <a:pPr marL="188913" lvl="1" indent="0">
              <a:buNone/>
            </a:pPr>
            <a:endParaRPr lang="en-GB" sz="2000" dirty="0"/>
          </a:p>
        </p:txBody>
      </p:sp>
      <p:sp>
        <p:nvSpPr>
          <p:cNvPr id="19" name="Content Placeholder 2">
            <a:extLst>
              <a:ext uri="{FF2B5EF4-FFF2-40B4-BE49-F238E27FC236}">
                <a16:creationId xmlns:a16="http://schemas.microsoft.com/office/drawing/2014/main" id="{62930612-3E78-443D-9FB9-A46178B5B399}"/>
              </a:ext>
            </a:extLst>
          </p:cNvPr>
          <p:cNvSpPr txBox="1">
            <a:spLocks/>
          </p:cNvSpPr>
          <p:nvPr/>
        </p:nvSpPr>
        <p:spPr>
          <a:xfrm>
            <a:off x="185383" y="2150340"/>
            <a:ext cx="2715460" cy="3874375"/>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solidFill>
                  <a:schemeClr val="accent2">
                    <a:lumMod val="75000"/>
                  </a:schemeClr>
                </a:solidFill>
              </a:rPr>
              <a:t>Weeks plotted:</a:t>
            </a:r>
          </a:p>
          <a:p>
            <a:pPr marL="0" indent="0">
              <a:lnSpc>
                <a:spcPct val="150000"/>
              </a:lnSpc>
              <a:buNone/>
            </a:pPr>
            <a:r>
              <a:rPr lang="en-GB" dirty="0">
                <a:solidFill>
                  <a:schemeClr val="accent2">
                    <a:lumMod val="75000"/>
                  </a:schemeClr>
                </a:solidFill>
              </a:rPr>
              <a:t> </a:t>
            </a:r>
          </a:p>
          <a:p>
            <a:pPr>
              <a:lnSpc>
                <a:spcPct val="150000"/>
              </a:lnSpc>
              <a:buFont typeface="Wingdings" panose="05000000000000000000" pitchFamily="2" charset="2"/>
              <a:buChar char="q"/>
            </a:pPr>
            <a:r>
              <a:rPr lang="en-GB" dirty="0">
                <a:solidFill>
                  <a:schemeClr val="accent2">
                    <a:lumMod val="75000"/>
                  </a:schemeClr>
                </a:solidFill>
              </a:rPr>
              <a:t>28 All ejectors</a:t>
            </a:r>
          </a:p>
          <a:p>
            <a:pPr>
              <a:lnSpc>
                <a:spcPct val="150000"/>
              </a:lnSpc>
              <a:buFont typeface="Wingdings" panose="05000000000000000000" pitchFamily="2" charset="2"/>
              <a:buChar char="q"/>
            </a:pPr>
            <a:r>
              <a:rPr lang="en-GB" dirty="0">
                <a:solidFill>
                  <a:schemeClr val="accent2">
                    <a:lumMod val="75000"/>
                  </a:schemeClr>
                </a:solidFill>
              </a:rPr>
              <a:t>29 All except HP</a:t>
            </a:r>
          </a:p>
          <a:p>
            <a:pPr>
              <a:lnSpc>
                <a:spcPct val="150000"/>
              </a:lnSpc>
              <a:buFont typeface="Wingdings" panose="05000000000000000000" pitchFamily="2" charset="2"/>
              <a:buChar char="q"/>
            </a:pPr>
            <a:r>
              <a:rPr lang="en-GB" dirty="0">
                <a:solidFill>
                  <a:schemeClr val="accent2">
                    <a:lumMod val="75000"/>
                  </a:schemeClr>
                </a:solidFill>
              </a:rPr>
              <a:t>34 Only HP</a:t>
            </a:r>
          </a:p>
          <a:p>
            <a:pPr>
              <a:lnSpc>
                <a:spcPct val="150000"/>
              </a:lnSpc>
              <a:buFont typeface="Wingdings" panose="05000000000000000000" pitchFamily="2" charset="2"/>
              <a:buChar char="q"/>
            </a:pPr>
            <a:r>
              <a:rPr lang="en-GB" dirty="0">
                <a:solidFill>
                  <a:schemeClr val="accent2">
                    <a:lumMod val="75000"/>
                  </a:schemeClr>
                </a:solidFill>
              </a:rPr>
              <a:t>33 No ejectors</a:t>
            </a:r>
          </a:p>
          <a:p>
            <a:pPr>
              <a:lnSpc>
                <a:spcPct val="150000"/>
              </a:lnSpc>
              <a:buFont typeface="Wingdings" panose="05000000000000000000" pitchFamily="2" charset="2"/>
              <a:buChar char="q"/>
            </a:pPr>
            <a:endParaRPr lang="en-GB" dirty="0">
              <a:solidFill>
                <a:schemeClr val="accent2">
                  <a:lumMod val="75000"/>
                </a:schemeClr>
              </a:solidFill>
            </a:endParaRPr>
          </a:p>
          <a:p>
            <a:pPr>
              <a:buFont typeface="Wingdings" panose="05000000000000000000" pitchFamily="2" charset="2"/>
              <a:buChar char="v"/>
            </a:pPr>
            <a:endParaRPr lang="en-GB" dirty="0">
              <a:solidFill>
                <a:schemeClr val="accent2">
                  <a:lumMod val="75000"/>
                </a:schemeClr>
              </a:solidFill>
            </a:endParaRPr>
          </a:p>
        </p:txBody>
      </p:sp>
      <p:pic>
        <p:nvPicPr>
          <p:cNvPr id="9" name="Picture 8">
            <a:extLst>
              <a:ext uri="{FF2B5EF4-FFF2-40B4-BE49-F238E27FC236}">
                <a16:creationId xmlns:a16="http://schemas.microsoft.com/office/drawing/2014/main" id="{5F2E7268-283F-4996-8E18-D244CEBEE4C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483" t="8732" r="7598" b="6328"/>
          <a:stretch/>
        </p:blipFill>
        <p:spPr>
          <a:xfrm>
            <a:off x="2842994" y="75501"/>
            <a:ext cx="6173472" cy="3036815"/>
          </a:xfrm>
          <a:prstGeom prst="rect">
            <a:avLst/>
          </a:prstGeom>
        </p:spPr>
      </p:pic>
      <p:pic>
        <p:nvPicPr>
          <p:cNvPr id="11" name="Picture 10">
            <a:extLst>
              <a:ext uri="{FF2B5EF4-FFF2-40B4-BE49-F238E27FC236}">
                <a16:creationId xmlns:a16="http://schemas.microsoft.com/office/drawing/2014/main" id="{D83E8C57-A884-4F67-A230-1DAA3DBB87D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091" t="7172" r="7337" b="6292"/>
          <a:stretch/>
        </p:blipFill>
        <p:spPr>
          <a:xfrm>
            <a:off x="2900843" y="3023904"/>
            <a:ext cx="6057774" cy="3278106"/>
          </a:xfrm>
          <a:prstGeom prst="rect">
            <a:avLst/>
          </a:prstGeom>
        </p:spPr>
      </p:pic>
    </p:spTree>
    <p:extLst>
      <p:ext uri="{BB962C8B-B14F-4D97-AF65-F5344CB8AC3E}">
        <p14:creationId xmlns:p14="http://schemas.microsoft.com/office/powerpoint/2010/main" val="1303150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511FF9EA-69D1-4796-95AA-DABA16990695}"/>
              </a:ext>
            </a:extLst>
          </p:cNvPr>
          <p:cNvSpPr>
            <a:spLocks noGrp="1"/>
          </p:cNvSpPr>
          <p:nvPr>
            <p:ph idx="1"/>
          </p:nvPr>
        </p:nvSpPr>
        <p:spPr>
          <a:xfrm>
            <a:off x="242485" y="181939"/>
            <a:ext cx="2190999" cy="1691106"/>
          </a:xfrm>
        </p:spPr>
        <p:txBody>
          <a:bodyPr/>
          <a:lstStyle/>
          <a:p>
            <a:pPr marL="0" indent="0">
              <a:buNone/>
            </a:pPr>
            <a:r>
              <a:rPr lang="en-GB" sz="2000" dirty="0"/>
              <a:t>2</a:t>
            </a:r>
            <a:r>
              <a:rPr lang="en-GB" sz="2000" baseline="30000" dirty="0"/>
              <a:t>nd</a:t>
            </a:r>
            <a:r>
              <a:rPr lang="en-GB" sz="2000" dirty="0"/>
              <a:t> law efficiency   &amp; COP Vs. Cooling load (HP ejector effect) :</a:t>
            </a:r>
          </a:p>
          <a:p>
            <a:pPr marL="0" indent="0">
              <a:buNone/>
            </a:pPr>
            <a:endParaRPr lang="en-GB" sz="2000" dirty="0">
              <a:solidFill>
                <a:srgbClr val="FFC000"/>
              </a:solidFill>
            </a:endParaRPr>
          </a:p>
          <a:p>
            <a:pPr marL="188913" lvl="1" indent="0">
              <a:buNone/>
            </a:pPr>
            <a:endParaRPr lang="en-GB" sz="2000" dirty="0"/>
          </a:p>
          <a:p>
            <a:pPr marL="188913" lvl="1" indent="0">
              <a:buNone/>
            </a:pPr>
            <a:endParaRPr lang="en-GB" sz="2000" dirty="0"/>
          </a:p>
        </p:txBody>
      </p:sp>
      <p:sp>
        <p:nvSpPr>
          <p:cNvPr id="19" name="Content Placeholder 2">
            <a:extLst>
              <a:ext uri="{FF2B5EF4-FFF2-40B4-BE49-F238E27FC236}">
                <a16:creationId xmlns:a16="http://schemas.microsoft.com/office/drawing/2014/main" id="{62930612-3E78-443D-9FB9-A46178B5B399}"/>
              </a:ext>
            </a:extLst>
          </p:cNvPr>
          <p:cNvSpPr txBox="1">
            <a:spLocks/>
          </p:cNvSpPr>
          <p:nvPr/>
        </p:nvSpPr>
        <p:spPr>
          <a:xfrm>
            <a:off x="185383" y="2150340"/>
            <a:ext cx="2715460" cy="3874375"/>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solidFill>
                  <a:schemeClr val="accent2">
                    <a:lumMod val="75000"/>
                  </a:schemeClr>
                </a:solidFill>
              </a:rPr>
              <a:t>Weeks plotted:</a:t>
            </a:r>
          </a:p>
          <a:p>
            <a:pPr marL="0" indent="0">
              <a:lnSpc>
                <a:spcPct val="150000"/>
              </a:lnSpc>
              <a:buNone/>
            </a:pPr>
            <a:r>
              <a:rPr lang="en-GB" dirty="0">
                <a:solidFill>
                  <a:schemeClr val="accent2">
                    <a:lumMod val="75000"/>
                  </a:schemeClr>
                </a:solidFill>
              </a:rPr>
              <a:t> </a:t>
            </a:r>
          </a:p>
          <a:p>
            <a:pPr>
              <a:lnSpc>
                <a:spcPct val="150000"/>
              </a:lnSpc>
              <a:buFont typeface="Wingdings" panose="05000000000000000000" pitchFamily="2" charset="2"/>
              <a:buChar char="q"/>
            </a:pPr>
            <a:r>
              <a:rPr lang="en-GB" dirty="0">
                <a:solidFill>
                  <a:schemeClr val="accent2">
                    <a:lumMod val="75000"/>
                  </a:schemeClr>
                </a:solidFill>
              </a:rPr>
              <a:t>28 All ejectors</a:t>
            </a:r>
          </a:p>
          <a:p>
            <a:pPr>
              <a:lnSpc>
                <a:spcPct val="150000"/>
              </a:lnSpc>
              <a:buFont typeface="Wingdings" panose="05000000000000000000" pitchFamily="2" charset="2"/>
              <a:buChar char="q"/>
            </a:pPr>
            <a:r>
              <a:rPr lang="en-GB" dirty="0">
                <a:solidFill>
                  <a:schemeClr val="accent2">
                    <a:lumMod val="75000"/>
                  </a:schemeClr>
                </a:solidFill>
              </a:rPr>
              <a:t>29 All except HP</a:t>
            </a:r>
          </a:p>
          <a:p>
            <a:pPr>
              <a:lnSpc>
                <a:spcPct val="150000"/>
              </a:lnSpc>
              <a:buFont typeface="Wingdings" panose="05000000000000000000" pitchFamily="2" charset="2"/>
              <a:buChar char="q"/>
            </a:pPr>
            <a:r>
              <a:rPr lang="en-GB" dirty="0">
                <a:solidFill>
                  <a:schemeClr val="accent2">
                    <a:lumMod val="75000"/>
                  </a:schemeClr>
                </a:solidFill>
              </a:rPr>
              <a:t>34 Only HP</a:t>
            </a:r>
          </a:p>
          <a:p>
            <a:pPr>
              <a:lnSpc>
                <a:spcPct val="150000"/>
              </a:lnSpc>
              <a:buFont typeface="Wingdings" panose="05000000000000000000" pitchFamily="2" charset="2"/>
              <a:buChar char="q"/>
            </a:pPr>
            <a:r>
              <a:rPr lang="en-GB" dirty="0">
                <a:solidFill>
                  <a:schemeClr val="accent2">
                    <a:lumMod val="75000"/>
                  </a:schemeClr>
                </a:solidFill>
              </a:rPr>
              <a:t>33 No ejectors</a:t>
            </a:r>
          </a:p>
          <a:p>
            <a:pPr>
              <a:lnSpc>
                <a:spcPct val="150000"/>
              </a:lnSpc>
              <a:buFont typeface="Wingdings" panose="05000000000000000000" pitchFamily="2" charset="2"/>
              <a:buChar char="q"/>
            </a:pPr>
            <a:endParaRPr lang="en-GB" dirty="0">
              <a:solidFill>
                <a:schemeClr val="accent2">
                  <a:lumMod val="75000"/>
                </a:schemeClr>
              </a:solidFill>
            </a:endParaRPr>
          </a:p>
          <a:p>
            <a:pPr>
              <a:buFont typeface="Wingdings" panose="05000000000000000000" pitchFamily="2" charset="2"/>
              <a:buChar char="v"/>
            </a:pPr>
            <a:endParaRPr lang="en-GB" dirty="0">
              <a:solidFill>
                <a:schemeClr val="accent2">
                  <a:lumMod val="75000"/>
                </a:schemeClr>
              </a:solidFill>
            </a:endParaRPr>
          </a:p>
        </p:txBody>
      </p:sp>
      <p:pic>
        <p:nvPicPr>
          <p:cNvPr id="5" name="Picture 4">
            <a:extLst>
              <a:ext uri="{FF2B5EF4-FFF2-40B4-BE49-F238E27FC236}">
                <a16:creationId xmlns:a16="http://schemas.microsoft.com/office/drawing/2014/main" id="{B2F29CE1-B41D-41F9-8E63-C0A637D80B7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254" t="8781" r="8336" b="6583"/>
          <a:stretch/>
        </p:blipFill>
        <p:spPr>
          <a:xfrm>
            <a:off x="2720036" y="134620"/>
            <a:ext cx="6201592" cy="2800309"/>
          </a:xfrm>
          <a:prstGeom prst="rect">
            <a:avLst/>
          </a:prstGeom>
        </p:spPr>
      </p:pic>
      <p:pic>
        <p:nvPicPr>
          <p:cNvPr id="7" name="Picture 6">
            <a:extLst>
              <a:ext uri="{FF2B5EF4-FFF2-40B4-BE49-F238E27FC236}">
                <a16:creationId xmlns:a16="http://schemas.microsoft.com/office/drawing/2014/main" id="{EE69A98F-7662-4D13-9A92-18FC15F5F4B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069" t="7434" r="8066" b="5119"/>
          <a:stretch/>
        </p:blipFill>
        <p:spPr>
          <a:xfrm>
            <a:off x="2720036" y="3141406"/>
            <a:ext cx="6201592" cy="3236026"/>
          </a:xfrm>
          <a:prstGeom prst="rect">
            <a:avLst/>
          </a:prstGeom>
        </p:spPr>
      </p:pic>
      <p:sp>
        <p:nvSpPr>
          <p:cNvPr id="2" name="TextBox 1">
            <a:extLst>
              <a:ext uri="{FF2B5EF4-FFF2-40B4-BE49-F238E27FC236}">
                <a16:creationId xmlns:a16="http://schemas.microsoft.com/office/drawing/2014/main" id="{9256056C-7E77-9165-0C75-656A3836C22D}"/>
              </a:ext>
            </a:extLst>
          </p:cNvPr>
          <p:cNvSpPr txBox="1"/>
          <p:nvPr/>
        </p:nvSpPr>
        <p:spPr>
          <a:xfrm>
            <a:off x="50844" y="4846320"/>
            <a:ext cx="2984537" cy="1661993"/>
          </a:xfrm>
          <a:prstGeom prst="rect">
            <a:avLst/>
          </a:prstGeom>
          <a:noFill/>
        </p:spPr>
        <p:txBody>
          <a:bodyPr wrap="square" lIns="0" tIns="0" rIns="0" bIns="0" rtlCol="0">
            <a:spAutoFit/>
          </a:bodyPr>
          <a:lstStyle/>
          <a:p>
            <a:r>
              <a:rPr lang="en-DK" dirty="0">
                <a:highlight>
                  <a:srgbClr val="FFFF00"/>
                </a:highlight>
              </a:rPr>
              <a:t>The reason data seem on a trail following one another is a mistake of applying moving average where there should not be </a:t>
            </a:r>
          </a:p>
        </p:txBody>
      </p:sp>
    </p:spTree>
    <p:extLst>
      <p:ext uri="{BB962C8B-B14F-4D97-AF65-F5344CB8AC3E}">
        <p14:creationId xmlns:p14="http://schemas.microsoft.com/office/powerpoint/2010/main" val="196317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C016FDDD-FEEB-4756-A0A8-183102A868FE}"/>
              </a:ext>
            </a:extLst>
          </p:cNvPr>
          <p:cNvSpPr txBox="1">
            <a:spLocks/>
          </p:cNvSpPr>
          <p:nvPr/>
        </p:nvSpPr>
        <p:spPr>
          <a:xfrm>
            <a:off x="242485" y="1965985"/>
            <a:ext cx="2715460" cy="3874375"/>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solidFill>
                  <a:schemeClr val="accent2">
                    <a:lumMod val="75000"/>
                  </a:schemeClr>
                </a:solidFill>
              </a:rPr>
              <a:t>Weeks plotted:</a:t>
            </a:r>
          </a:p>
          <a:p>
            <a:pPr marL="0" indent="0">
              <a:lnSpc>
                <a:spcPct val="150000"/>
              </a:lnSpc>
              <a:buNone/>
            </a:pPr>
            <a:r>
              <a:rPr lang="en-GB" dirty="0">
                <a:solidFill>
                  <a:schemeClr val="accent2">
                    <a:lumMod val="75000"/>
                  </a:schemeClr>
                </a:solidFill>
              </a:rPr>
              <a:t> </a:t>
            </a:r>
          </a:p>
          <a:p>
            <a:pPr>
              <a:lnSpc>
                <a:spcPct val="150000"/>
              </a:lnSpc>
              <a:buFont typeface="Wingdings" panose="05000000000000000000" pitchFamily="2" charset="2"/>
              <a:buChar char="q"/>
            </a:pPr>
            <a:r>
              <a:rPr lang="en-GB" dirty="0">
                <a:solidFill>
                  <a:schemeClr val="accent2">
                    <a:lumMod val="75000"/>
                  </a:schemeClr>
                </a:solidFill>
              </a:rPr>
              <a:t>28 All ejectors</a:t>
            </a:r>
          </a:p>
          <a:p>
            <a:pPr>
              <a:lnSpc>
                <a:spcPct val="150000"/>
              </a:lnSpc>
              <a:buFont typeface="Wingdings" panose="05000000000000000000" pitchFamily="2" charset="2"/>
              <a:buChar char="q"/>
            </a:pPr>
            <a:r>
              <a:rPr lang="en-GB" dirty="0">
                <a:solidFill>
                  <a:schemeClr val="accent2">
                    <a:lumMod val="75000"/>
                  </a:schemeClr>
                </a:solidFill>
              </a:rPr>
              <a:t>35 All except LP</a:t>
            </a:r>
          </a:p>
          <a:p>
            <a:pPr>
              <a:lnSpc>
                <a:spcPct val="150000"/>
              </a:lnSpc>
              <a:buFont typeface="Wingdings" panose="05000000000000000000" pitchFamily="2" charset="2"/>
              <a:buChar char="q"/>
            </a:pPr>
            <a:r>
              <a:rPr lang="en-GB" dirty="0">
                <a:solidFill>
                  <a:schemeClr val="accent2">
                    <a:lumMod val="75000"/>
                  </a:schemeClr>
                </a:solidFill>
              </a:rPr>
              <a:t>30 LP only</a:t>
            </a:r>
          </a:p>
          <a:p>
            <a:pPr>
              <a:lnSpc>
                <a:spcPct val="150000"/>
              </a:lnSpc>
              <a:buFont typeface="Wingdings" panose="05000000000000000000" pitchFamily="2" charset="2"/>
              <a:buChar char="q"/>
            </a:pPr>
            <a:r>
              <a:rPr lang="en-GB" dirty="0">
                <a:solidFill>
                  <a:schemeClr val="accent2">
                    <a:lumMod val="75000"/>
                  </a:schemeClr>
                </a:solidFill>
              </a:rPr>
              <a:t>33 No ejectors</a:t>
            </a:r>
          </a:p>
          <a:p>
            <a:pPr>
              <a:buFont typeface="Wingdings" panose="05000000000000000000" pitchFamily="2" charset="2"/>
              <a:buChar char="v"/>
            </a:pPr>
            <a:endParaRPr lang="en-GB" dirty="0">
              <a:solidFill>
                <a:schemeClr val="accent2">
                  <a:lumMod val="75000"/>
                </a:schemeClr>
              </a:solidFill>
            </a:endParaRPr>
          </a:p>
        </p:txBody>
      </p:sp>
      <p:sp>
        <p:nvSpPr>
          <p:cNvPr id="12" name="Content Placeholder 2">
            <a:extLst>
              <a:ext uri="{FF2B5EF4-FFF2-40B4-BE49-F238E27FC236}">
                <a16:creationId xmlns:a16="http://schemas.microsoft.com/office/drawing/2014/main" id="{BB0519A4-D470-4929-A44F-161A71D05C03}"/>
              </a:ext>
            </a:extLst>
          </p:cNvPr>
          <p:cNvSpPr txBox="1">
            <a:spLocks/>
          </p:cNvSpPr>
          <p:nvPr/>
        </p:nvSpPr>
        <p:spPr>
          <a:xfrm>
            <a:off x="242485" y="181939"/>
            <a:ext cx="2190999" cy="1691106"/>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anose="020B0604030504040204" pitchFamily="34" charset="0"/>
              <a:buNone/>
            </a:pPr>
            <a:r>
              <a:rPr lang="en-GB" sz="2000" dirty="0"/>
              <a:t>2</a:t>
            </a:r>
            <a:r>
              <a:rPr lang="en-GB" sz="2000" baseline="30000" dirty="0"/>
              <a:t>nd</a:t>
            </a:r>
            <a:r>
              <a:rPr lang="en-GB" sz="2000" dirty="0"/>
              <a:t> law efficiency   &amp; COP Vs. Cooling load (LP ejector effect) :</a:t>
            </a:r>
          </a:p>
          <a:p>
            <a:pPr marL="0" indent="0">
              <a:buFont typeface="Verdana" panose="020B0604030504040204" pitchFamily="34" charset="0"/>
              <a:buNone/>
            </a:pPr>
            <a:endParaRPr lang="en-GB" sz="2000" dirty="0">
              <a:solidFill>
                <a:srgbClr val="FFC000"/>
              </a:solidFill>
            </a:endParaRPr>
          </a:p>
          <a:p>
            <a:pPr marL="188913" lvl="1" indent="0">
              <a:buFont typeface="Verdana" panose="020B0604030504040204" pitchFamily="34" charset="0"/>
              <a:buNone/>
            </a:pPr>
            <a:endParaRPr lang="en-GB" sz="2000" dirty="0"/>
          </a:p>
          <a:p>
            <a:pPr marL="188913" lvl="1" indent="0">
              <a:buFont typeface="Verdana" panose="020B0604030504040204" pitchFamily="34" charset="0"/>
              <a:buNone/>
            </a:pPr>
            <a:endParaRPr lang="en-GB" sz="2000" dirty="0"/>
          </a:p>
        </p:txBody>
      </p:sp>
      <p:pic>
        <p:nvPicPr>
          <p:cNvPr id="4" name="Picture 3">
            <a:extLst>
              <a:ext uri="{FF2B5EF4-FFF2-40B4-BE49-F238E27FC236}">
                <a16:creationId xmlns:a16="http://schemas.microsoft.com/office/drawing/2014/main" id="{37024E03-3B40-4A70-8A4C-3FD5133F87F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890" t="7786" r="8982" b="5291"/>
          <a:stretch/>
        </p:blipFill>
        <p:spPr>
          <a:xfrm>
            <a:off x="2533475" y="45254"/>
            <a:ext cx="6283354" cy="3110370"/>
          </a:xfrm>
          <a:prstGeom prst="rect">
            <a:avLst/>
          </a:prstGeom>
        </p:spPr>
      </p:pic>
      <p:pic>
        <p:nvPicPr>
          <p:cNvPr id="6" name="Picture 5">
            <a:extLst>
              <a:ext uri="{FF2B5EF4-FFF2-40B4-BE49-F238E27FC236}">
                <a16:creationId xmlns:a16="http://schemas.microsoft.com/office/drawing/2014/main" id="{BE48D1CB-FB47-41F6-A5A3-1F4810B3844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999" t="7627" r="6231" b="5450"/>
          <a:stretch/>
        </p:blipFill>
        <p:spPr>
          <a:xfrm>
            <a:off x="2642532" y="3095537"/>
            <a:ext cx="6384022" cy="3110369"/>
          </a:xfrm>
          <a:prstGeom prst="rect">
            <a:avLst/>
          </a:prstGeom>
        </p:spPr>
      </p:pic>
    </p:spTree>
    <p:extLst>
      <p:ext uri="{BB962C8B-B14F-4D97-AF65-F5344CB8AC3E}">
        <p14:creationId xmlns:p14="http://schemas.microsoft.com/office/powerpoint/2010/main" val="628955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FC23E5-F08D-4E6D-A0D5-AB1433F2376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466" t="8120" r="7907" b="5647"/>
          <a:stretch/>
        </p:blipFill>
        <p:spPr>
          <a:xfrm>
            <a:off x="2868562" y="0"/>
            <a:ext cx="6283342" cy="3259394"/>
          </a:xfrm>
          <a:prstGeom prst="rect">
            <a:avLst/>
          </a:prstGeom>
        </p:spPr>
      </p:pic>
      <p:pic>
        <p:nvPicPr>
          <p:cNvPr id="8" name="Picture 7">
            <a:extLst>
              <a:ext uri="{FF2B5EF4-FFF2-40B4-BE49-F238E27FC236}">
                <a16:creationId xmlns:a16="http://schemas.microsoft.com/office/drawing/2014/main" id="{35FE0FEE-844A-4EA2-83CF-2D5B4814175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193" t="8544" r="8064" b="6136"/>
          <a:stretch/>
        </p:blipFill>
        <p:spPr>
          <a:xfrm>
            <a:off x="2957944" y="3207774"/>
            <a:ext cx="6186055" cy="3092946"/>
          </a:xfrm>
          <a:prstGeom prst="rect">
            <a:avLst/>
          </a:prstGeom>
        </p:spPr>
      </p:pic>
      <p:sp>
        <p:nvSpPr>
          <p:cNvPr id="9" name="Content Placeholder 2">
            <a:extLst>
              <a:ext uri="{FF2B5EF4-FFF2-40B4-BE49-F238E27FC236}">
                <a16:creationId xmlns:a16="http://schemas.microsoft.com/office/drawing/2014/main" id="{C016FDDD-FEEB-4756-A0A8-183102A868FE}"/>
              </a:ext>
            </a:extLst>
          </p:cNvPr>
          <p:cNvSpPr txBox="1">
            <a:spLocks/>
          </p:cNvSpPr>
          <p:nvPr/>
        </p:nvSpPr>
        <p:spPr>
          <a:xfrm>
            <a:off x="242485" y="1965985"/>
            <a:ext cx="2715460" cy="3874375"/>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solidFill>
                  <a:schemeClr val="accent2">
                    <a:lumMod val="75000"/>
                  </a:schemeClr>
                </a:solidFill>
              </a:rPr>
              <a:t>Weeks plotted:</a:t>
            </a:r>
          </a:p>
          <a:p>
            <a:pPr marL="0" indent="0">
              <a:lnSpc>
                <a:spcPct val="150000"/>
              </a:lnSpc>
              <a:buNone/>
            </a:pPr>
            <a:r>
              <a:rPr lang="en-GB" dirty="0">
                <a:solidFill>
                  <a:schemeClr val="accent2">
                    <a:lumMod val="75000"/>
                  </a:schemeClr>
                </a:solidFill>
              </a:rPr>
              <a:t> </a:t>
            </a:r>
          </a:p>
          <a:p>
            <a:pPr>
              <a:lnSpc>
                <a:spcPct val="150000"/>
              </a:lnSpc>
              <a:buFont typeface="Wingdings" panose="05000000000000000000" pitchFamily="2" charset="2"/>
              <a:buChar char="q"/>
            </a:pPr>
            <a:r>
              <a:rPr lang="en-GB" dirty="0">
                <a:solidFill>
                  <a:schemeClr val="accent2">
                    <a:lumMod val="75000"/>
                  </a:schemeClr>
                </a:solidFill>
              </a:rPr>
              <a:t>28 All ejectors</a:t>
            </a:r>
          </a:p>
          <a:p>
            <a:pPr>
              <a:lnSpc>
                <a:spcPct val="150000"/>
              </a:lnSpc>
              <a:buFont typeface="Wingdings" panose="05000000000000000000" pitchFamily="2" charset="2"/>
              <a:buChar char="q"/>
            </a:pPr>
            <a:r>
              <a:rPr lang="en-GB" dirty="0">
                <a:solidFill>
                  <a:schemeClr val="accent2">
                    <a:lumMod val="75000"/>
                  </a:schemeClr>
                </a:solidFill>
              </a:rPr>
              <a:t>35 All except LP</a:t>
            </a:r>
          </a:p>
          <a:p>
            <a:pPr>
              <a:lnSpc>
                <a:spcPct val="150000"/>
              </a:lnSpc>
              <a:buFont typeface="Wingdings" panose="05000000000000000000" pitchFamily="2" charset="2"/>
              <a:buChar char="q"/>
            </a:pPr>
            <a:r>
              <a:rPr lang="en-GB" dirty="0">
                <a:solidFill>
                  <a:schemeClr val="accent2">
                    <a:lumMod val="75000"/>
                  </a:schemeClr>
                </a:solidFill>
              </a:rPr>
              <a:t>30 LP only</a:t>
            </a:r>
          </a:p>
          <a:p>
            <a:pPr>
              <a:lnSpc>
                <a:spcPct val="150000"/>
              </a:lnSpc>
              <a:buFont typeface="Wingdings" panose="05000000000000000000" pitchFamily="2" charset="2"/>
              <a:buChar char="q"/>
            </a:pPr>
            <a:r>
              <a:rPr lang="en-GB" dirty="0">
                <a:solidFill>
                  <a:schemeClr val="accent2">
                    <a:lumMod val="75000"/>
                  </a:schemeClr>
                </a:solidFill>
              </a:rPr>
              <a:t>33 No ejectors</a:t>
            </a:r>
          </a:p>
          <a:p>
            <a:pPr>
              <a:buFont typeface="Wingdings" panose="05000000000000000000" pitchFamily="2" charset="2"/>
              <a:buChar char="v"/>
            </a:pPr>
            <a:endParaRPr lang="en-GB" dirty="0">
              <a:solidFill>
                <a:schemeClr val="accent2">
                  <a:lumMod val="75000"/>
                </a:schemeClr>
              </a:solidFill>
            </a:endParaRPr>
          </a:p>
        </p:txBody>
      </p:sp>
      <p:sp>
        <p:nvSpPr>
          <p:cNvPr id="12" name="Content Placeholder 2">
            <a:extLst>
              <a:ext uri="{FF2B5EF4-FFF2-40B4-BE49-F238E27FC236}">
                <a16:creationId xmlns:a16="http://schemas.microsoft.com/office/drawing/2014/main" id="{BB0519A4-D470-4929-A44F-161A71D05C03}"/>
              </a:ext>
            </a:extLst>
          </p:cNvPr>
          <p:cNvSpPr txBox="1">
            <a:spLocks/>
          </p:cNvSpPr>
          <p:nvPr/>
        </p:nvSpPr>
        <p:spPr>
          <a:xfrm>
            <a:off x="242485" y="181939"/>
            <a:ext cx="2190999" cy="1691106"/>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anose="020B0604030504040204" pitchFamily="34" charset="0"/>
              <a:buNone/>
            </a:pPr>
            <a:r>
              <a:rPr lang="en-GB" sz="2000" dirty="0"/>
              <a:t>2</a:t>
            </a:r>
            <a:r>
              <a:rPr lang="en-GB" sz="2000" baseline="30000" dirty="0"/>
              <a:t>nd</a:t>
            </a:r>
            <a:r>
              <a:rPr lang="en-GB" sz="2000" dirty="0"/>
              <a:t> law efficiency   &amp; COP Vs. Cooling load (LP ejector effect) :</a:t>
            </a:r>
          </a:p>
          <a:p>
            <a:pPr marL="0" indent="0">
              <a:buFont typeface="Verdana" panose="020B0604030504040204" pitchFamily="34" charset="0"/>
              <a:buNone/>
            </a:pPr>
            <a:endParaRPr lang="en-GB" sz="2000" dirty="0">
              <a:solidFill>
                <a:srgbClr val="FFC000"/>
              </a:solidFill>
            </a:endParaRPr>
          </a:p>
          <a:p>
            <a:pPr marL="188913" lvl="1" indent="0">
              <a:buFont typeface="Verdana" panose="020B0604030504040204" pitchFamily="34" charset="0"/>
              <a:buNone/>
            </a:pPr>
            <a:endParaRPr lang="en-GB" sz="2000" dirty="0"/>
          </a:p>
          <a:p>
            <a:pPr marL="188913" lvl="1" indent="0">
              <a:buFont typeface="Verdana" panose="020B0604030504040204" pitchFamily="34" charset="0"/>
              <a:buNone/>
            </a:pPr>
            <a:endParaRPr lang="en-GB" sz="2000" dirty="0"/>
          </a:p>
        </p:txBody>
      </p:sp>
    </p:spTree>
    <p:extLst>
      <p:ext uri="{BB962C8B-B14F-4D97-AF65-F5344CB8AC3E}">
        <p14:creationId xmlns:p14="http://schemas.microsoft.com/office/powerpoint/2010/main" val="1502313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6E8E44CF-C6F9-4D81-9ACC-F6830336BE75}"/>
              </a:ext>
            </a:extLst>
          </p:cNvPr>
          <p:cNvSpPr txBox="1">
            <a:spLocks/>
          </p:cNvSpPr>
          <p:nvPr/>
        </p:nvSpPr>
        <p:spPr>
          <a:xfrm>
            <a:off x="242485" y="1965985"/>
            <a:ext cx="2715460" cy="3874375"/>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solidFill>
                  <a:schemeClr val="accent2">
                    <a:lumMod val="75000"/>
                  </a:schemeClr>
                </a:solidFill>
              </a:rPr>
              <a:t>Weeks plotted:</a:t>
            </a:r>
          </a:p>
          <a:p>
            <a:pPr marL="0" indent="0">
              <a:lnSpc>
                <a:spcPct val="150000"/>
              </a:lnSpc>
              <a:buNone/>
            </a:pPr>
            <a:r>
              <a:rPr lang="en-GB" dirty="0">
                <a:solidFill>
                  <a:schemeClr val="accent2">
                    <a:lumMod val="75000"/>
                  </a:schemeClr>
                </a:solidFill>
              </a:rPr>
              <a:t> </a:t>
            </a:r>
          </a:p>
          <a:p>
            <a:pPr>
              <a:lnSpc>
                <a:spcPct val="150000"/>
              </a:lnSpc>
              <a:buFont typeface="Wingdings" panose="05000000000000000000" pitchFamily="2" charset="2"/>
              <a:buChar char="q"/>
            </a:pPr>
            <a:r>
              <a:rPr lang="en-GB" dirty="0">
                <a:solidFill>
                  <a:schemeClr val="accent2">
                    <a:lumMod val="75000"/>
                  </a:schemeClr>
                </a:solidFill>
              </a:rPr>
              <a:t>28 All ejectors</a:t>
            </a:r>
          </a:p>
          <a:p>
            <a:pPr>
              <a:lnSpc>
                <a:spcPct val="150000"/>
              </a:lnSpc>
              <a:buFont typeface="Wingdings" panose="05000000000000000000" pitchFamily="2" charset="2"/>
              <a:buChar char="q"/>
            </a:pPr>
            <a:r>
              <a:rPr lang="en-GB" dirty="0">
                <a:solidFill>
                  <a:schemeClr val="accent2">
                    <a:lumMod val="75000"/>
                  </a:schemeClr>
                </a:solidFill>
              </a:rPr>
              <a:t>31 All except LE</a:t>
            </a:r>
          </a:p>
          <a:p>
            <a:pPr>
              <a:lnSpc>
                <a:spcPct val="150000"/>
              </a:lnSpc>
              <a:buFont typeface="Wingdings" panose="05000000000000000000" pitchFamily="2" charset="2"/>
              <a:buChar char="q"/>
            </a:pPr>
            <a:r>
              <a:rPr lang="en-GB" dirty="0">
                <a:solidFill>
                  <a:schemeClr val="accent2">
                    <a:lumMod val="75000"/>
                  </a:schemeClr>
                </a:solidFill>
              </a:rPr>
              <a:t>32 LE Only</a:t>
            </a:r>
          </a:p>
          <a:p>
            <a:pPr>
              <a:lnSpc>
                <a:spcPct val="150000"/>
              </a:lnSpc>
              <a:buFont typeface="Wingdings" panose="05000000000000000000" pitchFamily="2" charset="2"/>
              <a:buChar char="q"/>
            </a:pPr>
            <a:r>
              <a:rPr lang="en-GB" dirty="0">
                <a:solidFill>
                  <a:schemeClr val="accent2">
                    <a:lumMod val="75000"/>
                  </a:schemeClr>
                </a:solidFill>
              </a:rPr>
              <a:t>33 No ejectors</a:t>
            </a:r>
          </a:p>
          <a:p>
            <a:pPr>
              <a:buFont typeface="Wingdings" panose="05000000000000000000" pitchFamily="2" charset="2"/>
              <a:buChar char="v"/>
            </a:pPr>
            <a:endParaRPr lang="en-GB" dirty="0">
              <a:solidFill>
                <a:schemeClr val="accent2">
                  <a:lumMod val="75000"/>
                </a:schemeClr>
              </a:solidFill>
            </a:endParaRPr>
          </a:p>
        </p:txBody>
      </p:sp>
      <p:sp>
        <p:nvSpPr>
          <p:cNvPr id="16" name="Content Placeholder 2">
            <a:extLst>
              <a:ext uri="{FF2B5EF4-FFF2-40B4-BE49-F238E27FC236}">
                <a16:creationId xmlns:a16="http://schemas.microsoft.com/office/drawing/2014/main" id="{9B42B406-CB91-454F-988F-1EA206539BFB}"/>
              </a:ext>
            </a:extLst>
          </p:cNvPr>
          <p:cNvSpPr txBox="1">
            <a:spLocks/>
          </p:cNvSpPr>
          <p:nvPr/>
        </p:nvSpPr>
        <p:spPr>
          <a:xfrm>
            <a:off x="190865" y="172087"/>
            <a:ext cx="2190999" cy="1691106"/>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anose="020B0604030504040204" pitchFamily="34" charset="0"/>
              <a:buNone/>
            </a:pPr>
            <a:r>
              <a:rPr lang="en-GB" sz="2000" dirty="0"/>
              <a:t>2</a:t>
            </a:r>
            <a:r>
              <a:rPr lang="en-GB" sz="2000" baseline="30000" dirty="0"/>
              <a:t>nd</a:t>
            </a:r>
            <a:r>
              <a:rPr lang="en-GB" sz="2000" dirty="0"/>
              <a:t> law efficiency   &amp; COP Vs. Cooling load (Liq. ejector effect) :</a:t>
            </a:r>
          </a:p>
          <a:p>
            <a:pPr marL="0" indent="0">
              <a:buFont typeface="Verdana" panose="020B0604030504040204" pitchFamily="34" charset="0"/>
              <a:buNone/>
            </a:pPr>
            <a:endParaRPr lang="en-GB" sz="2000" dirty="0">
              <a:solidFill>
                <a:srgbClr val="FFC000"/>
              </a:solidFill>
            </a:endParaRPr>
          </a:p>
          <a:p>
            <a:pPr marL="188913" lvl="1" indent="0">
              <a:buFont typeface="Verdana" panose="020B0604030504040204" pitchFamily="34" charset="0"/>
              <a:buNone/>
            </a:pPr>
            <a:endParaRPr lang="en-GB" sz="2000" dirty="0"/>
          </a:p>
          <a:p>
            <a:pPr marL="188913" lvl="1" indent="0">
              <a:buFont typeface="Verdana" panose="020B0604030504040204" pitchFamily="34" charset="0"/>
              <a:buNone/>
            </a:pPr>
            <a:endParaRPr lang="en-GB" sz="2000" dirty="0"/>
          </a:p>
        </p:txBody>
      </p:sp>
      <p:pic>
        <p:nvPicPr>
          <p:cNvPr id="3" name="Picture 2">
            <a:extLst>
              <a:ext uri="{FF2B5EF4-FFF2-40B4-BE49-F238E27FC236}">
                <a16:creationId xmlns:a16="http://schemas.microsoft.com/office/drawing/2014/main" id="{B259EBC7-757B-4B79-95AB-BEDAEFEC400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707" t="7992" r="5597" b="5417"/>
          <a:stretch/>
        </p:blipFill>
        <p:spPr>
          <a:xfrm>
            <a:off x="3095538" y="81191"/>
            <a:ext cx="6065239" cy="3047902"/>
          </a:xfrm>
          <a:prstGeom prst="rect">
            <a:avLst/>
          </a:prstGeom>
        </p:spPr>
      </p:pic>
      <p:pic>
        <p:nvPicPr>
          <p:cNvPr id="5" name="Picture 4">
            <a:extLst>
              <a:ext uri="{FF2B5EF4-FFF2-40B4-BE49-F238E27FC236}">
                <a16:creationId xmlns:a16="http://schemas.microsoft.com/office/drawing/2014/main" id="{5C8AFD87-AFA1-4980-AE05-D2C94077154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106" t="7458" r="7707" b="4878"/>
          <a:stretch/>
        </p:blipFill>
        <p:spPr>
          <a:xfrm>
            <a:off x="3095538" y="3129093"/>
            <a:ext cx="5925478" cy="3162650"/>
          </a:xfrm>
          <a:prstGeom prst="rect">
            <a:avLst/>
          </a:prstGeom>
        </p:spPr>
      </p:pic>
    </p:spTree>
    <p:extLst>
      <p:ext uri="{BB962C8B-B14F-4D97-AF65-F5344CB8AC3E}">
        <p14:creationId xmlns:p14="http://schemas.microsoft.com/office/powerpoint/2010/main" val="4257096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450E6CB-0314-4B41-8913-15F34CDBA786}"/>
              </a:ext>
            </a:extLst>
          </p:cNvPr>
          <p:cNvPicPr>
            <a:picLocks noChangeAspect="1"/>
          </p:cNvPicPr>
          <p:nvPr/>
        </p:nvPicPr>
        <p:blipFill rotWithShape="1">
          <a:blip r:embed="rId2">
            <a:extLst>
              <a:ext uri="{28A0092B-C50C-407E-A947-70E740481C1C}">
                <a14:useLocalDpi xmlns:a14="http://schemas.microsoft.com/office/drawing/2010/main" val="0"/>
              </a:ext>
            </a:extLst>
          </a:blip>
          <a:srcRect l="8534" t="6822" r="8299" b="6168"/>
          <a:stretch/>
        </p:blipFill>
        <p:spPr>
          <a:xfrm>
            <a:off x="2566219" y="3144797"/>
            <a:ext cx="6495929" cy="3134434"/>
          </a:xfrm>
          <a:prstGeom prst="rect">
            <a:avLst/>
          </a:prstGeom>
        </p:spPr>
      </p:pic>
      <p:pic>
        <p:nvPicPr>
          <p:cNvPr id="11" name="Picture 10">
            <a:extLst>
              <a:ext uri="{FF2B5EF4-FFF2-40B4-BE49-F238E27FC236}">
                <a16:creationId xmlns:a16="http://schemas.microsoft.com/office/drawing/2014/main" id="{C5938660-E887-4C85-A595-831068D85E9F}"/>
              </a:ext>
            </a:extLst>
          </p:cNvPr>
          <p:cNvPicPr>
            <a:picLocks noChangeAspect="1"/>
          </p:cNvPicPr>
          <p:nvPr/>
        </p:nvPicPr>
        <p:blipFill rotWithShape="1">
          <a:blip r:embed="rId3">
            <a:extLst>
              <a:ext uri="{28A0092B-C50C-407E-A947-70E740481C1C}">
                <a14:useLocalDpi xmlns:a14="http://schemas.microsoft.com/office/drawing/2010/main" val="0"/>
              </a:ext>
            </a:extLst>
          </a:blip>
          <a:srcRect l="8226" t="8362" r="8549" b="4564"/>
          <a:stretch/>
        </p:blipFill>
        <p:spPr>
          <a:xfrm>
            <a:off x="2566219" y="67135"/>
            <a:ext cx="6495928" cy="3192260"/>
          </a:xfrm>
          <a:prstGeom prst="rect">
            <a:avLst/>
          </a:prstGeom>
        </p:spPr>
      </p:pic>
      <p:sp>
        <p:nvSpPr>
          <p:cNvPr id="14" name="Content Placeholder 2">
            <a:extLst>
              <a:ext uri="{FF2B5EF4-FFF2-40B4-BE49-F238E27FC236}">
                <a16:creationId xmlns:a16="http://schemas.microsoft.com/office/drawing/2014/main" id="{6E8E44CF-C6F9-4D81-9ACC-F6830336BE75}"/>
              </a:ext>
            </a:extLst>
          </p:cNvPr>
          <p:cNvSpPr txBox="1">
            <a:spLocks/>
          </p:cNvSpPr>
          <p:nvPr/>
        </p:nvSpPr>
        <p:spPr>
          <a:xfrm>
            <a:off x="242485" y="1965985"/>
            <a:ext cx="2715460" cy="3874375"/>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solidFill>
                  <a:schemeClr val="accent2">
                    <a:lumMod val="75000"/>
                  </a:schemeClr>
                </a:solidFill>
              </a:rPr>
              <a:t>Weeks plotted:</a:t>
            </a:r>
          </a:p>
          <a:p>
            <a:pPr marL="0" indent="0">
              <a:lnSpc>
                <a:spcPct val="150000"/>
              </a:lnSpc>
              <a:buNone/>
            </a:pPr>
            <a:r>
              <a:rPr lang="en-GB" dirty="0">
                <a:solidFill>
                  <a:schemeClr val="accent2">
                    <a:lumMod val="75000"/>
                  </a:schemeClr>
                </a:solidFill>
              </a:rPr>
              <a:t> </a:t>
            </a:r>
          </a:p>
          <a:p>
            <a:pPr>
              <a:lnSpc>
                <a:spcPct val="150000"/>
              </a:lnSpc>
              <a:buFont typeface="Wingdings" panose="05000000000000000000" pitchFamily="2" charset="2"/>
              <a:buChar char="q"/>
            </a:pPr>
            <a:r>
              <a:rPr lang="en-GB" dirty="0">
                <a:solidFill>
                  <a:schemeClr val="accent2">
                    <a:lumMod val="75000"/>
                  </a:schemeClr>
                </a:solidFill>
              </a:rPr>
              <a:t>28 All ejectors</a:t>
            </a:r>
          </a:p>
          <a:p>
            <a:pPr>
              <a:lnSpc>
                <a:spcPct val="150000"/>
              </a:lnSpc>
              <a:buFont typeface="Wingdings" panose="05000000000000000000" pitchFamily="2" charset="2"/>
              <a:buChar char="q"/>
            </a:pPr>
            <a:r>
              <a:rPr lang="en-GB" dirty="0">
                <a:solidFill>
                  <a:schemeClr val="accent2">
                    <a:lumMod val="75000"/>
                  </a:schemeClr>
                </a:solidFill>
              </a:rPr>
              <a:t>31 All except LE</a:t>
            </a:r>
          </a:p>
          <a:p>
            <a:pPr>
              <a:lnSpc>
                <a:spcPct val="150000"/>
              </a:lnSpc>
              <a:buFont typeface="Wingdings" panose="05000000000000000000" pitchFamily="2" charset="2"/>
              <a:buChar char="q"/>
            </a:pPr>
            <a:r>
              <a:rPr lang="en-GB" dirty="0">
                <a:solidFill>
                  <a:schemeClr val="accent2">
                    <a:lumMod val="75000"/>
                  </a:schemeClr>
                </a:solidFill>
              </a:rPr>
              <a:t>32 LE Only</a:t>
            </a:r>
          </a:p>
          <a:p>
            <a:pPr>
              <a:lnSpc>
                <a:spcPct val="150000"/>
              </a:lnSpc>
              <a:buFont typeface="Wingdings" panose="05000000000000000000" pitchFamily="2" charset="2"/>
              <a:buChar char="q"/>
            </a:pPr>
            <a:r>
              <a:rPr lang="en-GB" dirty="0">
                <a:solidFill>
                  <a:schemeClr val="accent2">
                    <a:lumMod val="75000"/>
                  </a:schemeClr>
                </a:solidFill>
              </a:rPr>
              <a:t>33 No ejectors</a:t>
            </a:r>
          </a:p>
          <a:p>
            <a:pPr>
              <a:buFont typeface="Wingdings" panose="05000000000000000000" pitchFamily="2" charset="2"/>
              <a:buChar char="v"/>
            </a:pPr>
            <a:endParaRPr lang="en-GB" dirty="0">
              <a:solidFill>
                <a:schemeClr val="accent2">
                  <a:lumMod val="75000"/>
                </a:schemeClr>
              </a:solidFill>
            </a:endParaRPr>
          </a:p>
        </p:txBody>
      </p:sp>
      <p:sp>
        <p:nvSpPr>
          <p:cNvPr id="16" name="Content Placeholder 2">
            <a:extLst>
              <a:ext uri="{FF2B5EF4-FFF2-40B4-BE49-F238E27FC236}">
                <a16:creationId xmlns:a16="http://schemas.microsoft.com/office/drawing/2014/main" id="{9B42B406-CB91-454F-988F-1EA206539BFB}"/>
              </a:ext>
            </a:extLst>
          </p:cNvPr>
          <p:cNvSpPr txBox="1">
            <a:spLocks/>
          </p:cNvSpPr>
          <p:nvPr/>
        </p:nvSpPr>
        <p:spPr>
          <a:xfrm>
            <a:off x="190865" y="172087"/>
            <a:ext cx="2190999" cy="1691106"/>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anose="020B0604030504040204" pitchFamily="34" charset="0"/>
              <a:buNone/>
            </a:pPr>
            <a:r>
              <a:rPr lang="en-GB" sz="2000" dirty="0"/>
              <a:t>2</a:t>
            </a:r>
            <a:r>
              <a:rPr lang="en-GB" sz="2000" baseline="30000" dirty="0"/>
              <a:t>nd</a:t>
            </a:r>
            <a:r>
              <a:rPr lang="en-GB" sz="2000" dirty="0"/>
              <a:t> law efficiency   &amp; COP Vs. Cooling load (Liq. ejector effect) :</a:t>
            </a:r>
          </a:p>
          <a:p>
            <a:pPr marL="0" indent="0">
              <a:buFont typeface="Verdana" panose="020B0604030504040204" pitchFamily="34" charset="0"/>
              <a:buNone/>
            </a:pPr>
            <a:endParaRPr lang="en-GB" sz="2000" dirty="0">
              <a:solidFill>
                <a:srgbClr val="FFC000"/>
              </a:solidFill>
            </a:endParaRPr>
          </a:p>
          <a:p>
            <a:pPr marL="188913" lvl="1" indent="0">
              <a:buFont typeface="Verdana" panose="020B0604030504040204" pitchFamily="34" charset="0"/>
              <a:buNone/>
            </a:pPr>
            <a:endParaRPr lang="en-GB" sz="2000" dirty="0"/>
          </a:p>
          <a:p>
            <a:pPr marL="188913" lvl="1" indent="0">
              <a:buFont typeface="Verdana" panose="020B0604030504040204" pitchFamily="34" charset="0"/>
              <a:buNone/>
            </a:pPr>
            <a:endParaRPr lang="en-GB" sz="2000" dirty="0"/>
          </a:p>
        </p:txBody>
      </p:sp>
    </p:spTree>
    <p:extLst>
      <p:ext uri="{BB962C8B-B14F-4D97-AF65-F5344CB8AC3E}">
        <p14:creationId xmlns:p14="http://schemas.microsoft.com/office/powerpoint/2010/main" val="4151859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6E8E44CF-C6F9-4D81-9ACC-F6830336BE75}"/>
              </a:ext>
            </a:extLst>
          </p:cNvPr>
          <p:cNvSpPr txBox="1">
            <a:spLocks/>
          </p:cNvSpPr>
          <p:nvPr/>
        </p:nvSpPr>
        <p:spPr>
          <a:xfrm>
            <a:off x="190864" y="1663981"/>
            <a:ext cx="2676884" cy="3874375"/>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GB" dirty="0">
                <a:solidFill>
                  <a:schemeClr val="accent2">
                    <a:lumMod val="75000"/>
                  </a:schemeClr>
                </a:solidFill>
              </a:rPr>
              <a:t>HP ejector performance in low and high load</a:t>
            </a:r>
          </a:p>
          <a:p>
            <a:pPr>
              <a:buFont typeface="Wingdings" panose="05000000000000000000" pitchFamily="2" charset="2"/>
              <a:buChar char="v"/>
            </a:pPr>
            <a:endParaRPr lang="en-GB" dirty="0">
              <a:solidFill>
                <a:schemeClr val="accent2">
                  <a:lumMod val="75000"/>
                </a:schemeClr>
              </a:solidFill>
            </a:endParaRPr>
          </a:p>
          <a:p>
            <a:pPr>
              <a:buFont typeface="Wingdings" panose="05000000000000000000" pitchFamily="2" charset="2"/>
              <a:buChar char="v"/>
            </a:pPr>
            <a:r>
              <a:rPr lang="en-GB" dirty="0">
                <a:solidFill>
                  <a:schemeClr val="accent2">
                    <a:lumMod val="75000"/>
                  </a:schemeClr>
                </a:solidFill>
              </a:rPr>
              <a:t>2</a:t>
            </a:r>
            <a:r>
              <a:rPr lang="en-GB" baseline="30000" dirty="0">
                <a:solidFill>
                  <a:schemeClr val="accent2">
                    <a:lumMod val="75000"/>
                  </a:schemeClr>
                </a:solidFill>
              </a:rPr>
              <a:t>nd</a:t>
            </a:r>
            <a:r>
              <a:rPr lang="en-GB" dirty="0">
                <a:solidFill>
                  <a:schemeClr val="accent2">
                    <a:lumMod val="75000"/>
                  </a:schemeClr>
                </a:solidFill>
              </a:rPr>
              <a:t> law analysis for exergy destruction in every single component</a:t>
            </a:r>
          </a:p>
          <a:p>
            <a:pPr>
              <a:buFont typeface="Wingdings" panose="05000000000000000000" pitchFamily="2" charset="2"/>
              <a:buChar char="v"/>
            </a:pPr>
            <a:endParaRPr lang="en-GB" dirty="0">
              <a:solidFill>
                <a:schemeClr val="accent2">
                  <a:lumMod val="75000"/>
                </a:schemeClr>
              </a:solidFill>
            </a:endParaRPr>
          </a:p>
          <a:p>
            <a:pPr>
              <a:buFont typeface="Wingdings" panose="05000000000000000000" pitchFamily="2" charset="2"/>
              <a:buChar char="v"/>
            </a:pPr>
            <a:r>
              <a:rPr lang="en-GB" dirty="0">
                <a:solidFill>
                  <a:schemeClr val="accent2">
                    <a:lumMod val="75000"/>
                  </a:schemeClr>
                </a:solidFill>
              </a:rPr>
              <a:t>Pressure control strategy for optimizing system performance</a:t>
            </a:r>
          </a:p>
        </p:txBody>
      </p:sp>
      <p:sp>
        <p:nvSpPr>
          <p:cNvPr id="16" name="Content Placeholder 2">
            <a:extLst>
              <a:ext uri="{FF2B5EF4-FFF2-40B4-BE49-F238E27FC236}">
                <a16:creationId xmlns:a16="http://schemas.microsoft.com/office/drawing/2014/main" id="{9B42B406-CB91-454F-988F-1EA206539BFB}"/>
              </a:ext>
            </a:extLst>
          </p:cNvPr>
          <p:cNvSpPr txBox="1">
            <a:spLocks/>
          </p:cNvSpPr>
          <p:nvPr/>
        </p:nvSpPr>
        <p:spPr>
          <a:xfrm>
            <a:off x="190864" y="172087"/>
            <a:ext cx="2208387" cy="1691106"/>
          </a:xfrm>
          <a:prstGeom prst="rect">
            <a:avLst/>
          </a:prstGeom>
        </p:spPr>
        <p:txBody>
          <a:bodyPr vert="horz" lIns="0" tIns="0" rIns="0" bIns="0" rtlCol="0" anchor="t" anchorCtr="0">
            <a:noAutofit/>
          </a:bodyPr>
          <a:lstStyle>
            <a:lvl1pPr marL="182563"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1pPr>
            <a:lvl2pPr marL="360363"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2pPr>
            <a:lvl3pPr marL="542925" indent="-182563"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tabLst/>
              <a:defRPr sz="1800" kern="1200">
                <a:solidFill>
                  <a:schemeClr val="tx1"/>
                </a:solidFill>
                <a:latin typeface="+mn-lt"/>
                <a:ea typeface="+mn-ea"/>
                <a:cs typeface="+mn-cs"/>
              </a:defRPr>
            </a:lvl3pPr>
            <a:lvl4pPr marL="714375" indent="-1714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4pPr>
            <a:lvl5pPr marL="903288" indent="-184150" algn="l" defTabSz="914400" rtl="0" eaLnBrk="1" latinLnBrk="0" hangingPunct="1">
              <a:lnSpc>
                <a:spcPct val="100000"/>
              </a:lnSpc>
              <a:spcBef>
                <a:spcPts val="0"/>
              </a:spcBef>
              <a:spcAft>
                <a:spcPts val="600"/>
              </a:spcAft>
              <a:buClr>
                <a:schemeClr val="tx1">
                  <a:lumMod val="50000"/>
                  <a:lumOff val="50000"/>
                </a:schemeClr>
              </a:buClr>
              <a:buFont typeface="Verdana" panose="020B060403050404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Verdana" panose="020B0604030504040204" pitchFamily="34" charset="0"/>
              <a:buNone/>
            </a:pPr>
            <a:r>
              <a:rPr lang="en-GB" sz="2800" dirty="0"/>
              <a:t>Future challenges:</a:t>
            </a:r>
          </a:p>
          <a:p>
            <a:pPr marL="0" indent="0">
              <a:buFont typeface="Verdana" panose="020B0604030504040204" pitchFamily="34" charset="0"/>
              <a:buNone/>
            </a:pPr>
            <a:endParaRPr lang="en-GB" sz="2000" dirty="0">
              <a:solidFill>
                <a:srgbClr val="FFC000"/>
              </a:solidFill>
            </a:endParaRPr>
          </a:p>
          <a:p>
            <a:pPr marL="188913" lvl="1" indent="0">
              <a:buFont typeface="Verdana" panose="020B0604030504040204" pitchFamily="34" charset="0"/>
              <a:buNone/>
            </a:pPr>
            <a:endParaRPr lang="en-GB" sz="2000" dirty="0"/>
          </a:p>
          <a:p>
            <a:pPr marL="188913" lvl="1" indent="0">
              <a:buFont typeface="Verdana" panose="020B0604030504040204" pitchFamily="34" charset="0"/>
              <a:buNone/>
            </a:pPr>
            <a:endParaRPr lang="en-GB" sz="2000" dirty="0"/>
          </a:p>
        </p:txBody>
      </p:sp>
      <p:pic>
        <p:nvPicPr>
          <p:cNvPr id="2" name="Picture 1">
            <a:extLst>
              <a:ext uri="{FF2B5EF4-FFF2-40B4-BE49-F238E27FC236}">
                <a16:creationId xmlns:a16="http://schemas.microsoft.com/office/drawing/2014/main" id="{7B5EA396-A2BA-438E-A295-47CDE35188D7}"/>
              </a:ext>
            </a:extLst>
          </p:cNvPr>
          <p:cNvPicPr>
            <a:picLocks noChangeAspect="1"/>
          </p:cNvPicPr>
          <p:nvPr/>
        </p:nvPicPr>
        <p:blipFill>
          <a:blip r:embed="rId2"/>
          <a:stretch>
            <a:fillRect/>
          </a:stretch>
        </p:blipFill>
        <p:spPr>
          <a:xfrm>
            <a:off x="2659310" y="0"/>
            <a:ext cx="6375633" cy="3326500"/>
          </a:xfrm>
          <a:prstGeom prst="rect">
            <a:avLst/>
          </a:prstGeom>
        </p:spPr>
      </p:pic>
      <p:pic>
        <p:nvPicPr>
          <p:cNvPr id="4" name="Picture 3">
            <a:extLst>
              <a:ext uri="{FF2B5EF4-FFF2-40B4-BE49-F238E27FC236}">
                <a16:creationId xmlns:a16="http://schemas.microsoft.com/office/drawing/2014/main" id="{269910EA-4C51-4175-BD7C-835F8E77ACAD}"/>
              </a:ext>
            </a:extLst>
          </p:cNvPr>
          <p:cNvPicPr>
            <a:picLocks noChangeAspect="1"/>
          </p:cNvPicPr>
          <p:nvPr/>
        </p:nvPicPr>
        <p:blipFill>
          <a:blip r:embed="rId3"/>
          <a:stretch>
            <a:fillRect/>
          </a:stretch>
        </p:blipFill>
        <p:spPr>
          <a:xfrm>
            <a:off x="2759978" y="3429000"/>
            <a:ext cx="6274965" cy="2929855"/>
          </a:xfrm>
          <a:prstGeom prst="rect">
            <a:avLst/>
          </a:prstGeom>
        </p:spPr>
      </p:pic>
    </p:spTree>
    <p:extLst>
      <p:ext uri="{BB962C8B-B14F-4D97-AF65-F5344CB8AC3E}">
        <p14:creationId xmlns:p14="http://schemas.microsoft.com/office/powerpoint/2010/main" val="2376773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0691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511FF9EA-69D1-4796-95AA-DABA16990695}"/>
              </a:ext>
            </a:extLst>
          </p:cNvPr>
          <p:cNvSpPr>
            <a:spLocks noGrp="1"/>
          </p:cNvSpPr>
          <p:nvPr>
            <p:ph idx="1"/>
          </p:nvPr>
        </p:nvSpPr>
        <p:spPr>
          <a:xfrm>
            <a:off x="351541" y="809801"/>
            <a:ext cx="8100597" cy="389561"/>
          </a:xfrm>
        </p:spPr>
        <p:txBody>
          <a:bodyPr/>
          <a:lstStyle/>
          <a:p>
            <a:pPr marL="0" indent="0">
              <a:buNone/>
            </a:pPr>
            <a:r>
              <a:rPr lang="en-GB" sz="2000" dirty="0"/>
              <a:t>Piece of code to in Python for datetime to seconds and back:</a:t>
            </a:r>
          </a:p>
        </p:txBody>
      </p:sp>
      <p:sp>
        <p:nvSpPr>
          <p:cNvPr id="2" name="Rectangle 1">
            <a:extLst>
              <a:ext uri="{FF2B5EF4-FFF2-40B4-BE49-F238E27FC236}">
                <a16:creationId xmlns:a16="http://schemas.microsoft.com/office/drawing/2014/main" id="{F7202D20-8A16-4D50-AE66-02732006CCE8}"/>
              </a:ext>
            </a:extLst>
          </p:cNvPr>
          <p:cNvSpPr>
            <a:spLocks noChangeArrowheads="1"/>
          </p:cNvSpPr>
          <p:nvPr/>
        </p:nvSpPr>
        <p:spPr bwMode="auto">
          <a:xfrm>
            <a:off x="289021" y="1616574"/>
            <a:ext cx="8565957" cy="329320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 Example for a Python Pandas dataframe datetime to seconds to datetime """</a:t>
            </a:r>
            <a:b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br>
            <a:endParaRPr lang="da-DK" altLang="da-DK" sz="1000" dirty="0">
              <a:solidFill>
                <a:srgbClr val="A9B7C6"/>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pPr>
            <a:r>
              <a:rPr lang="da-DK" altLang="da-DK" sz="1000" dirty="0">
                <a:solidFill>
                  <a:srgbClr val="CC7832"/>
                </a:solidFill>
                <a:latin typeface="Courier New" panose="02070309020205020404" pitchFamily="49" charset="0"/>
                <a:cs typeface="Courier New" panose="02070309020205020404" pitchFamily="49" charset="0"/>
              </a:rPr>
              <a:t>import </a:t>
            </a:r>
            <a:r>
              <a:rPr lang="da-DK" altLang="da-DK" sz="1000" dirty="0">
                <a:solidFill>
                  <a:srgbClr val="A9B7C6"/>
                </a:solidFill>
                <a:latin typeface="Courier New" panose="02070309020205020404" pitchFamily="49" charset="0"/>
                <a:cs typeface="Courier New" panose="02070309020205020404" pitchFamily="49" charset="0"/>
              </a:rPr>
              <a:t>pandas </a:t>
            </a:r>
            <a:r>
              <a:rPr lang="da-DK" altLang="da-DK" sz="1000" dirty="0">
                <a:solidFill>
                  <a:srgbClr val="CC7832"/>
                </a:solidFill>
                <a:latin typeface="Courier New" panose="02070309020205020404" pitchFamily="49" charset="0"/>
                <a:cs typeface="Courier New" panose="02070309020205020404" pitchFamily="49" charset="0"/>
              </a:rPr>
              <a:t>as </a:t>
            </a:r>
            <a:r>
              <a:rPr lang="da-DK" altLang="da-DK" sz="1000" dirty="0">
                <a:solidFill>
                  <a:srgbClr val="A9B7C6"/>
                </a:solidFill>
                <a:latin typeface="Courier New" panose="02070309020205020404" pitchFamily="49" charset="0"/>
                <a:cs typeface="Courier New" panose="02070309020205020404" pitchFamily="49" charset="0"/>
              </a:rPr>
              <a:t>pd</a:t>
            </a:r>
            <a:endParaRPr lang="da-DK" altLang="da-DK" dirty="0">
              <a:latin typeface="Arial" panose="020B0604020202020204" pitchFamily="34" charset="0"/>
            </a:endParaRPr>
          </a:p>
          <a:p>
            <a:pPr eaLnBrk="0" fontAlgn="base" hangingPunct="0">
              <a:spcBef>
                <a:spcPct val="0"/>
              </a:spcBef>
              <a:spcAft>
                <a:spcPct val="0"/>
              </a:spcAft>
            </a:pPr>
            <a:r>
              <a:rPr lang="da-DK" altLang="da-DK" sz="1000" dirty="0">
                <a:solidFill>
                  <a:srgbClr val="CC7832"/>
                </a:solidFill>
                <a:latin typeface="Courier New" panose="02070309020205020404" pitchFamily="49" charset="0"/>
                <a:cs typeface="Courier New" panose="02070309020205020404" pitchFamily="49" charset="0"/>
              </a:rPr>
              <a:t>from </a:t>
            </a:r>
            <a:r>
              <a:rPr lang="da-DK" altLang="da-DK" sz="1000" dirty="0">
                <a:solidFill>
                  <a:srgbClr val="A9B7C6"/>
                </a:solidFill>
                <a:latin typeface="Courier New" panose="02070309020205020404" pitchFamily="49" charset="0"/>
                <a:cs typeface="Courier New" panose="02070309020205020404" pitchFamily="49" charset="0"/>
              </a:rPr>
              <a:t>datetime </a:t>
            </a:r>
            <a:r>
              <a:rPr lang="da-DK" altLang="da-DK" sz="1000" dirty="0">
                <a:solidFill>
                  <a:srgbClr val="CC7832"/>
                </a:solidFill>
                <a:latin typeface="Courier New" panose="02070309020205020404" pitchFamily="49" charset="0"/>
                <a:cs typeface="Courier New" panose="02070309020205020404" pitchFamily="49" charset="0"/>
              </a:rPr>
              <a:t>import </a:t>
            </a:r>
            <a:r>
              <a:rPr lang="da-DK" altLang="da-DK" sz="1000" dirty="0">
                <a:solidFill>
                  <a:srgbClr val="A9B7C6"/>
                </a:solidFill>
                <a:latin typeface="Courier New" panose="02070309020205020404" pitchFamily="49" charset="0"/>
                <a:cs typeface="Courier New" panose="02070309020205020404" pitchFamily="49" charset="0"/>
              </a:rPr>
              <a:t>datetime</a:t>
            </a:r>
          </a:p>
          <a:p>
            <a:pPr eaLnBrk="0" fontAlgn="base" hangingPunct="0">
              <a:spcBef>
                <a:spcPct val="0"/>
              </a:spcBef>
              <a:spcAft>
                <a:spcPct val="0"/>
              </a:spcAft>
            </a:pPr>
            <a:endPar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endParaRPr>
          </a:p>
          <a:p>
            <a:pPr eaLnBrk="0" fontAlgn="base" hangingPunct="0">
              <a:spcBef>
                <a:spcPct val="0"/>
              </a:spcBef>
              <a:spcAft>
                <a:spcPct val="0"/>
              </a:spcAft>
            </a:pPr>
            <a:r>
              <a:rPr lang="da-DK" altLang="da-DK" sz="1000" dirty="0">
                <a:solidFill>
                  <a:srgbClr val="A9B7C6"/>
                </a:solidFill>
                <a:latin typeface="Courier New" panose="02070309020205020404" pitchFamily="49" charset="0"/>
                <a:cs typeface="Courier New" panose="02070309020205020404" pitchFamily="49" charset="0"/>
              </a:rPr>
              <a:t>dataframe = pd.read_csv(</a:t>
            </a:r>
            <a:r>
              <a:rPr lang="da-DK" altLang="da-DK" sz="1000" dirty="0">
                <a:solidFill>
                  <a:srgbClr val="6A8759"/>
                </a:solidFill>
                <a:latin typeface="Courier New" panose="02070309020205020404" pitchFamily="49" charset="0"/>
                <a:cs typeface="Courier New" panose="02070309020205020404" pitchFamily="49" charset="0"/>
              </a:rPr>
              <a:t>"11_07_2019_to_18_07_2019_converted.csv"</a:t>
            </a:r>
            <a:r>
              <a:rPr lang="da-DK" altLang="da-DK" sz="1000" dirty="0">
                <a:solidFill>
                  <a:srgbClr val="AA4926"/>
                </a:solidFill>
                <a:latin typeface="Courier New" panose="02070309020205020404" pitchFamily="49" charset="0"/>
                <a:cs typeface="Courier New" panose="02070309020205020404" pitchFamily="49" charset="0"/>
              </a:rPr>
              <a:t>, na_filter</a:t>
            </a:r>
            <a:r>
              <a:rPr lang="da-DK" altLang="da-DK" sz="1000" dirty="0">
                <a:solidFill>
                  <a:srgbClr val="A9B7C6"/>
                </a:solidFill>
                <a:latin typeface="Courier New" panose="02070309020205020404" pitchFamily="49" charset="0"/>
                <a:cs typeface="Courier New" panose="02070309020205020404" pitchFamily="49" charset="0"/>
              </a:rPr>
              <a:t>=</a:t>
            </a:r>
            <a:r>
              <a:rPr lang="da-DK" altLang="da-DK" sz="1000" dirty="0">
                <a:solidFill>
                  <a:srgbClr val="CC7832"/>
                </a:solidFill>
                <a:latin typeface="Courier New" panose="02070309020205020404" pitchFamily="49" charset="0"/>
                <a:cs typeface="Courier New" panose="02070309020205020404" pitchFamily="49" charset="0"/>
              </a:rPr>
              <a:t>True, </a:t>
            </a:r>
            <a:r>
              <a:rPr lang="da-DK" altLang="da-DK" sz="1000" dirty="0">
                <a:solidFill>
                  <a:srgbClr val="AA4926"/>
                </a:solidFill>
                <a:latin typeface="Courier New" panose="02070309020205020404" pitchFamily="49" charset="0"/>
                <a:cs typeface="Courier New" panose="02070309020205020404" pitchFamily="49" charset="0"/>
              </a:rPr>
              <a:t>skip_blank_lines</a:t>
            </a:r>
            <a:r>
              <a:rPr lang="da-DK" altLang="da-DK" sz="1000" dirty="0">
                <a:solidFill>
                  <a:srgbClr val="A9B7C6"/>
                </a:solidFill>
                <a:latin typeface="Courier New" panose="02070309020205020404" pitchFamily="49" charset="0"/>
                <a:cs typeface="Courier New" panose="02070309020205020404" pitchFamily="49" charset="0"/>
              </a:rPr>
              <a:t>=</a:t>
            </a:r>
            <a:r>
              <a:rPr lang="da-DK" altLang="da-DK" sz="1000" dirty="0">
                <a:solidFill>
                  <a:srgbClr val="CC7832"/>
                </a:solidFill>
                <a:latin typeface="Courier New" panose="02070309020205020404" pitchFamily="49" charset="0"/>
                <a:cs typeface="Courier New" panose="02070309020205020404" pitchFamily="49" charset="0"/>
              </a:rPr>
              <a:t>True, </a:t>
            </a:r>
            <a:r>
              <a:rPr lang="da-DK" altLang="da-DK" sz="1000" dirty="0">
                <a:solidFill>
                  <a:srgbClr val="AA4926"/>
                </a:solidFill>
                <a:latin typeface="Courier New" panose="02070309020205020404" pitchFamily="49" charset="0"/>
                <a:cs typeface="Courier New" panose="02070309020205020404" pitchFamily="49" charset="0"/>
              </a:rPr>
              <a:t>low_memory</a:t>
            </a:r>
            <a:r>
              <a:rPr lang="da-DK" altLang="da-DK" sz="1000" dirty="0">
                <a:solidFill>
                  <a:srgbClr val="A9B7C6"/>
                </a:solidFill>
                <a:latin typeface="Courier New" panose="02070309020205020404" pitchFamily="49" charset="0"/>
                <a:cs typeface="Courier New" panose="02070309020205020404" pitchFamily="49" charset="0"/>
              </a:rPr>
              <a:t>=</a:t>
            </a:r>
            <a:r>
              <a:rPr lang="da-DK" altLang="da-DK" sz="1000" dirty="0">
                <a:solidFill>
                  <a:srgbClr val="CC7832"/>
                </a:solidFill>
                <a:latin typeface="Courier New" panose="02070309020205020404" pitchFamily="49" charset="0"/>
                <a:cs typeface="Courier New" panose="02070309020205020404" pitchFamily="49" charset="0"/>
              </a:rPr>
              <a:t>False</a:t>
            </a:r>
            <a:r>
              <a:rPr lang="da-DK" altLang="da-DK" sz="1000" dirty="0">
                <a:solidFill>
                  <a:srgbClr val="A9B7C6"/>
                </a:solidFill>
                <a:latin typeface="Courier New" panose="02070309020205020404" pitchFamily="49" charset="0"/>
                <a:cs typeface="Courier New" panose="02070309020205020404" pitchFamily="49" charset="0"/>
              </a:rPr>
              <a:t>)</a:t>
            </a:r>
            <a:endParaRPr lang="da-DK" altLang="da-DK" dirty="0">
              <a:latin typeface="Arial" panose="020B0604020202020204" pitchFamily="34" charset="0"/>
            </a:endParaRPr>
          </a:p>
          <a:p>
            <a:pPr eaLnBrk="0" fontAlgn="base" hangingPunct="0">
              <a:spcBef>
                <a:spcPct val="0"/>
              </a:spcBef>
              <a:spcAft>
                <a:spcPct val="0"/>
              </a:spcAft>
            </a:pPr>
            <a:endPar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t0 = datetime.strptime(</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 17:00:00  11/07/2019"</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 %H:%M:%S %d/%m/%Y"</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Time refrence for date conversio</a:t>
            </a:r>
            <a:br>
              <a:rPr kumimoji="0" lang="da-DK" altLang="da-DK" sz="1000" b="0" i="0"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for </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i </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in </a:t>
            </a:r>
            <a:r>
              <a:rPr kumimoji="0" lang="da-DK" altLang="da-DK" sz="1000" b="0" i="0" u="none" strike="noStrike" cap="none" normalizeH="0" baseline="0" dirty="0">
                <a:ln>
                  <a:noFill/>
                </a:ln>
                <a:solidFill>
                  <a:srgbClr val="8888C6"/>
                </a:solidFill>
                <a:effectLst/>
                <a:latin typeface="Courier New" panose="02070309020205020404" pitchFamily="49" charset="0"/>
                <a:cs typeface="Courier New" panose="02070309020205020404" pitchFamily="49" charset="0"/>
              </a:rPr>
              <a:t>range</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(dataframe.shape[</a:t>
            </a:r>
            <a:r>
              <a:rPr kumimoji="0" lang="da-DK" altLang="da-DK" sz="1000"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0</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DT = datetime.strptime(dataframe.loc[i][</a:t>
            </a:r>
            <a:r>
              <a:rPr kumimoji="0" lang="da-DK" altLang="da-DK" sz="1000"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0</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"%Y-%m-%d %H:%M:%S.%f"</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dataframe.at[i</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lang="da-DK" altLang="da-DK" sz="1000" dirty="0">
                <a:solidFill>
                  <a:srgbClr val="6A8759"/>
                </a:solidFill>
                <a:latin typeface="Courier New" panose="02070309020205020404" pitchFamily="49" charset="0"/>
                <a:cs typeface="Courier New" panose="02070309020205020404" pitchFamily="49" charset="0"/>
              </a:rPr>
              <a:t>'Name</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 (DT - t0).total_seconds()</a:t>
            </a:r>
          </a:p>
          <a:p>
            <a:pPr eaLnBrk="0" fontAlgn="base" hangingPunct="0">
              <a:spcBef>
                <a:spcPct val="0"/>
              </a:spcBef>
              <a:spcAft>
                <a:spcPct val="0"/>
              </a:spcAft>
            </a:pPr>
            <a:r>
              <a:rPr lang="da-DK" altLang="da-DK" sz="1000" dirty="0">
                <a:solidFill>
                  <a:srgbClr val="A9B7C6"/>
                </a:solidFill>
                <a:latin typeface="Courier New" panose="02070309020205020404" pitchFamily="49" charset="0"/>
                <a:cs typeface="Courier New" panose="02070309020205020404" pitchFamily="49" charset="0"/>
              </a:rPr>
              <a:t>time = dataframe[</a:t>
            </a:r>
            <a:r>
              <a:rPr lang="da-DK" altLang="da-DK" sz="1000" dirty="0">
                <a:solidFill>
                  <a:srgbClr val="6A8759"/>
                </a:solidFill>
                <a:latin typeface="Courier New" panose="02070309020205020404" pitchFamily="49" charset="0"/>
                <a:cs typeface="Courier New" panose="02070309020205020404" pitchFamily="49" charset="0"/>
              </a:rPr>
              <a:t>'Name'</a:t>
            </a:r>
            <a:r>
              <a:rPr lang="da-DK" altLang="da-DK" sz="1000" dirty="0">
                <a:solidFill>
                  <a:srgbClr val="A9B7C6"/>
                </a:solidFill>
                <a:latin typeface="Courier New" panose="02070309020205020404" pitchFamily="49" charset="0"/>
                <a:cs typeface="Courier New" panose="02070309020205020404" pitchFamily="49" charset="0"/>
              </a:rPr>
              <a:t>].tolist()</a:t>
            </a:r>
            <a:endParaRPr lang="da-DK" altLang="da-DK"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tb = (t0-datetime.strptime(</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 01:00:00  01/01/1970"</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 %H:%M:%S %d/%m/%Y"</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)).total_seconds()</a:t>
            </a:r>
            <a:b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da-DK" altLang="da-DK" sz="1000" b="0" i="0" u="none" strike="noStrike" cap="none" normalizeH="0" baseline="0" dirty="0">
                <a:ln>
                  <a:noFill/>
                </a:ln>
                <a:solidFill>
                  <a:srgbClr val="8888C6"/>
                </a:solidFill>
                <a:effectLst/>
                <a:latin typeface="Courier New" panose="02070309020205020404" pitchFamily="49" charset="0"/>
                <a:cs typeface="Courier New" panose="02070309020205020404" pitchFamily="49" charset="0"/>
              </a:rPr>
              <a:t>print</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'From  '</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datetime.fromtimestamp(time[</a:t>
            </a:r>
            <a:r>
              <a:rPr kumimoji="0" lang="da-DK" altLang="da-DK" sz="1000"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0</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 tb).strftime(</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"%d, %B, %Y, %H:%M:%S"</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     In seconds:    '</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time[</a:t>
            </a:r>
            <a:r>
              <a:rPr kumimoji="0" lang="da-DK" altLang="da-DK" sz="1000"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0</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r>
              <a:rPr kumimoji="0" lang="da-DK" altLang="da-DK" sz="1000" b="0" i="0" u="none" strike="noStrike" cap="none" normalizeH="0" baseline="0" dirty="0">
                <a:ln>
                  <a:noFill/>
                </a:ln>
                <a:solidFill>
                  <a:srgbClr val="8888C6"/>
                </a:solidFill>
                <a:effectLst/>
                <a:latin typeface="Courier New" panose="02070309020205020404" pitchFamily="49" charset="0"/>
                <a:cs typeface="Courier New" panose="02070309020205020404" pitchFamily="49" charset="0"/>
              </a:rPr>
              <a:t>print</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'To    '</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datetime.fromtimestamp(time[-</a:t>
            </a:r>
            <a:r>
              <a:rPr kumimoji="0" lang="da-DK" altLang="da-DK" sz="1000"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1</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 + tb).strftime(</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"%d, %B, %Y, %H:%M:%S"</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6A8759"/>
                </a:solidFill>
                <a:effectLst/>
                <a:latin typeface="Courier New" panose="02070309020205020404" pitchFamily="49" charset="0"/>
                <a:cs typeface="Courier New" panose="02070309020205020404" pitchFamily="49" charset="0"/>
              </a:rPr>
              <a:t>'     In seconds:     '</a:t>
            </a:r>
            <a:r>
              <a:rPr kumimoji="0" lang="da-DK" altLang="da-DK" sz="1000" b="0" i="0" u="none" strike="noStrike" cap="none" normalizeH="0" baseline="0" dirty="0">
                <a:ln>
                  <a:noFill/>
                </a:ln>
                <a:solidFill>
                  <a:srgbClr val="CC7832"/>
                </a:solidFill>
                <a:effectLst/>
                <a:latin typeface="Courier New" panose="02070309020205020404" pitchFamily="49" charset="0"/>
                <a:cs typeface="Courier New" panose="02070309020205020404" pitchFamily="49" charset="0"/>
              </a:rPr>
              <a:t>, </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time[-</a:t>
            </a:r>
            <a:r>
              <a:rPr kumimoji="0" lang="da-DK" altLang="da-DK" sz="1000" b="0" i="0" u="none" strike="noStrike" cap="none" normalizeH="0" baseline="0" dirty="0">
                <a:ln>
                  <a:noFill/>
                </a:ln>
                <a:solidFill>
                  <a:srgbClr val="6897BB"/>
                </a:solidFill>
                <a:effectLst/>
                <a:latin typeface="Courier New" panose="02070309020205020404" pitchFamily="49" charset="0"/>
                <a:cs typeface="Courier New" panose="02070309020205020404" pitchFamily="49" charset="0"/>
              </a:rPr>
              <a:t>1</a:t>
            </a:r>
            <a: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t>])</a:t>
            </a:r>
            <a:br>
              <a:rPr kumimoji="0" lang="da-DK" altLang="da-DK" sz="1000" b="0" i="0" u="none" strike="noStrike" cap="none" normalizeH="0" baseline="0" dirty="0">
                <a:ln>
                  <a:noFill/>
                </a:ln>
                <a:solidFill>
                  <a:srgbClr val="A9B7C6"/>
                </a:solidFill>
                <a:effectLst/>
                <a:latin typeface="Courier New" panose="02070309020205020404" pitchFamily="49" charset="0"/>
                <a:cs typeface="Courier New" panose="02070309020205020404" pitchFamily="49" charset="0"/>
              </a:rPr>
            </a:b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60164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DNEW" val="True"/>
</p:tagLst>
</file>

<file path=ppt/theme/theme1.xml><?xml version="1.0" encoding="utf-8"?>
<a:theme xmlns:a="http://schemas.openxmlformats.org/drawingml/2006/main" name="Danfoss 4_3_template">
  <a:themeElements>
    <a:clrScheme name="Custom 1">
      <a:dk1>
        <a:srgbClr val="000000"/>
      </a:dk1>
      <a:lt1>
        <a:sysClr val="window" lastClr="FFFFFF"/>
      </a:lt1>
      <a:dk2>
        <a:srgbClr val="878786"/>
      </a:dk2>
      <a:lt2>
        <a:srgbClr val="B4BCC3"/>
      </a:lt2>
      <a:accent1>
        <a:srgbClr val="B10A11"/>
      </a:accent1>
      <a:accent2>
        <a:srgbClr val="E60A11"/>
      </a:accent2>
      <a:accent3>
        <a:srgbClr val="869199"/>
      </a:accent3>
      <a:accent4>
        <a:srgbClr val="C44A34"/>
      </a:accent4>
      <a:accent5>
        <a:srgbClr val="9DA7AF"/>
      </a:accent5>
      <a:accent6>
        <a:srgbClr val="575757"/>
      </a:accent6>
      <a:hlink>
        <a:srgbClr val="000000"/>
      </a:hlink>
      <a:folHlink>
        <a:srgbClr val="00000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0A11"/>
        </a:solidFill>
        <a:ln w="9525">
          <a:solidFill>
            <a:srgbClr val="E60A11"/>
          </a:solidFill>
        </a:ln>
      </a:spPr>
      <a:bodyPr rtlCol="0" anchor="ctr"/>
      <a:lstStyle>
        <a:defPPr algn="ctr">
          <a:defRPr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err="1" smtClean="0"/>
        </a:defPPr>
      </a:lstStyle>
    </a:txDef>
  </a:objectDefaults>
  <a:extraClrSchemeLst/>
  <a:custClrLst>
    <a:custClr name="Danfoss Red">
      <a:srgbClr val="E2000F"/>
    </a:custClr>
    <a:custClr name="Danfoss Deep Red">
      <a:srgbClr val="B6000F"/>
    </a:custClr>
    <a:custClr name="White">
      <a:srgbClr val="FFFFFF"/>
    </a:custClr>
    <a:custClr name="Black">
      <a:srgbClr val="000000"/>
    </a:custClr>
    <a:custClr name="Gray">
      <a:srgbClr val="869098"/>
    </a:custClr>
    <a:custClr name="80% Danfoss Deep Red">
      <a:srgbClr val="C44A34"/>
    </a:custClr>
    <a:custClr name="60% Danfoss Deep Red">
      <a:srgbClr val="D3785E"/>
    </a:custClr>
    <a:custClr name="40% Danfoss Deep Red">
      <a:srgbClr val="E2A690"/>
    </a:custClr>
    <a:custClr name="20% Danfoss Deep Red">
      <a:srgbClr val="F1D3C7"/>
    </a:custClr>
    <a:custClr name="10% Danfoss Deep Red">
      <a:srgbClr val="F8E9E3"/>
    </a:custClr>
    <a:custClr name="80% Black">
      <a:srgbClr val="575756"/>
    </a:custClr>
    <a:custClr name="60% Black">
      <a:srgbClr val="878786"/>
    </a:custClr>
    <a:custClr name="40% Black (Text)">
      <a:srgbClr val="B0B0B1"/>
    </a:custClr>
    <a:custClr name="20% Black">
      <a:srgbClr val="D8D8D9"/>
    </a:custClr>
    <a:custClr name="10% Black">
      <a:srgbClr val="EBEBEB"/>
    </a:custClr>
    <a:custClr name="80% Gray">
      <a:srgbClr val="869098"/>
    </a:custClr>
    <a:custClr name="60% Gray">
      <a:srgbClr val="B4BCC3"/>
    </a:custClr>
    <a:custClr name="40% Gray">
      <a:srgbClr val="CCD3D8"/>
    </a:custClr>
    <a:custClr name="20% Gray">
      <a:srgbClr val="E5E8EB"/>
    </a:custClr>
    <a:custClr name="10% Gray">
      <a:srgbClr val="F1F3F5"/>
    </a:custClr>
  </a:custClrLst>
  <a:extLst>
    <a:ext uri="{05A4C25C-085E-4340-85A3-A5531E510DB2}">
      <thm15:themeFamily xmlns:thm15="http://schemas.microsoft.com/office/thememl/2012/main" name="Danfoss 4_3_template.potx" id="{1810826D-8110-49F3-B7F1-9072626A0A54}" vid="{0A4C4FA3-639A-4464-871A-E92B5F04DD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8d6a82de-332f-43b8-a8a7-1928fd67507f}" enabled="1" method="Standard" siteId="{097464b8-069c-453e-9254-c17ec707310d}" removed="0"/>
</clbl:labelList>
</file>

<file path=docProps/app.xml><?xml version="1.0" encoding="utf-8"?>
<Properties xmlns="http://schemas.openxmlformats.org/officeDocument/2006/extended-properties" xmlns:vt="http://schemas.openxmlformats.org/officeDocument/2006/docPropsVTypes">
  <Template>Danfoss 4_3_template</Template>
  <TotalTime>0</TotalTime>
  <Words>2453</Words>
  <Application>Microsoft Office PowerPoint</Application>
  <PresentationFormat>On-screen Show (4:3)</PresentationFormat>
  <Paragraphs>287</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SimHei</vt:lpstr>
      <vt:lpstr>Arial</vt:lpstr>
      <vt:lpstr>Calibri</vt:lpstr>
      <vt:lpstr>Courier New</vt:lpstr>
      <vt:lpstr>Verdana</vt:lpstr>
      <vt:lpstr>Wingdings</vt:lpstr>
      <vt:lpstr>Danfoss 4_3_template</vt:lpstr>
      <vt:lpstr>Data analysis of ”Porto de Mos” integrated supermarket</vt:lpstr>
      <vt:lpstr>Porto de Mos supermarket PID:</vt:lpstr>
      <vt:lpstr>PowerPoint Presentation</vt:lpstr>
      <vt:lpstr>Challenges on combining CNR and Danfoss data</vt:lpstr>
      <vt:lpstr>Challenges on combining CNR and Danfoss data</vt:lpstr>
      <vt:lpstr>Mass flow rate estimation:</vt:lpstr>
      <vt:lpstr>Data-Driven modeling: (Part 1)</vt:lpstr>
      <vt:lpstr>Data-Driven modeling: (Part 2)</vt:lpstr>
      <vt:lpstr>Week 30(LP Ejector only):</vt:lpstr>
      <vt:lpstr>Week 30(LP Ejector only):</vt:lpstr>
      <vt:lpstr>Week 32(Liquid Ejector only):</vt:lpstr>
      <vt:lpstr>Week 32(Liquid Ejector only):</vt:lpstr>
      <vt:lpstr>Week 34(HP Ejector only):</vt:lpstr>
      <vt:lpstr>Week 34(HP Ejector only):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2019-11-27T08:47:40Z</dcterms:created>
  <dcterms:modified xsi:type="dcterms:W3CDTF">2025-05-03T07:39:31Z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www.skabelondesign.com</vt:lpwstr>
  </property>
  <property fmtid="{D5CDD505-2E9C-101B-9397-08002B2CF9AE}" pid="3" name="ClassificationContentMarkingFooterLocations">
    <vt:lpwstr>Danfoss 4_3_template:5</vt:lpwstr>
  </property>
  <property fmtid="{D5CDD505-2E9C-101B-9397-08002B2CF9AE}" pid="4" name="ClassificationContentMarkingFooterText">
    <vt:lpwstr>Classified as Business</vt:lpwstr>
  </property>
</Properties>
</file>